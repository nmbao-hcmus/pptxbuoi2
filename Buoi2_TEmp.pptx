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Default Extension="jpg" ContentType="image/jpeg"/>
  <Default Extension="png" ContentType="image/png"/>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p="http://schemas.openxmlformats.org/presentationml/2006/main" xmlns:r="http://schemas.openxmlformats.org/officeDocument/2006/relationships" saveSubsetFonts="1" autoCompressPictures="0">
  <p:sldMasterIdLst>
    <p:sldMasterId id="2147483648" r:id="rId1"/>
  </p:sldMasterIdLst>
  <p:notesMasterIdLst>
    <p:notesMasterId r:id="rId32"/>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Lst>
  <p:sldSz cx="12192000" cy="6858000" type="screen16x9"/>
  <p:notesSz cx="6858000" cy="9144000"/>
  <p:defaultTextStyle>
    <a:defPPr>
      <a:defRPr lang="vi-VN"/>
    </a:defPPr>
    <a:lvl1pPr marL="0" algn="l" defTabSz="457200" rtl="0" eaLnBrk="1" latinLnBrk="0" hangingPunct="1">
      <a:defRPr sz="1800" kern="1200" lang="vi-VN">
        <a:solidFill>
          <a:schemeClr val="tx1"/>
        </a:solidFill>
        <a:latin typeface="+mn-lt"/>
        <a:ea typeface="+mn-ea"/>
        <a:cs typeface="+mn-cs"/>
      </a:defRPr>
    </a:lvl1pPr>
    <a:lvl2pPr marL="457200" algn="l" defTabSz="457200" rtl="0" eaLnBrk="1" latinLnBrk="0" hangingPunct="1">
      <a:defRPr sz="1800" kern="1200" lang="vi-VN">
        <a:solidFill>
          <a:schemeClr val="tx1"/>
        </a:solidFill>
        <a:latin typeface="+mn-lt"/>
        <a:ea typeface="+mn-ea"/>
        <a:cs typeface="+mn-cs"/>
      </a:defRPr>
    </a:lvl2pPr>
    <a:lvl3pPr marL="914400" algn="l" defTabSz="457200" rtl="0" eaLnBrk="1" latinLnBrk="0" hangingPunct="1">
      <a:defRPr sz="1800" kern="1200" lang="vi-VN">
        <a:solidFill>
          <a:schemeClr val="tx1"/>
        </a:solidFill>
        <a:latin typeface="+mn-lt"/>
        <a:ea typeface="+mn-ea"/>
        <a:cs typeface="+mn-cs"/>
      </a:defRPr>
    </a:lvl3pPr>
    <a:lvl4pPr marL="1371600" algn="l" defTabSz="457200" rtl="0" eaLnBrk="1" latinLnBrk="0" hangingPunct="1">
      <a:defRPr sz="1800" kern="1200" lang="vi-VN">
        <a:solidFill>
          <a:schemeClr val="tx1"/>
        </a:solidFill>
        <a:latin typeface="+mn-lt"/>
        <a:ea typeface="+mn-ea"/>
        <a:cs typeface="+mn-cs"/>
      </a:defRPr>
    </a:lvl4pPr>
    <a:lvl5pPr marL="1828800" algn="l" defTabSz="457200" rtl="0" eaLnBrk="1" latinLnBrk="0" hangingPunct="1">
      <a:defRPr sz="1800" kern="1200" lang="vi-VN">
        <a:solidFill>
          <a:schemeClr val="tx1"/>
        </a:solidFill>
        <a:latin typeface="+mn-lt"/>
        <a:ea typeface="+mn-ea"/>
        <a:cs typeface="+mn-cs"/>
      </a:defRPr>
    </a:lvl5pPr>
    <a:lvl6pPr marL="2286000" algn="l" defTabSz="457200" rtl="0" eaLnBrk="1" latinLnBrk="0" hangingPunct="1">
      <a:defRPr sz="1800" kern="1200" lang="vi-VN">
        <a:solidFill>
          <a:schemeClr val="tx1"/>
        </a:solidFill>
        <a:latin typeface="+mn-lt"/>
        <a:ea typeface="+mn-ea"/>
        <a:cs typeface="+mn-cs"/>
      </a:defRPr>
    </a:lvl6pPr>
    <a:lvl7pPr marL="2743200" algn="l" defTabSz="457200" rtl="0" eaLnBrk="1" latinLnBrk="0" hangingPunct="1">
      <a:defRPr sz="1800" kern="1200" lang="vi-VN">
        <a:solidFill>
          <a:schemeClr val="tx1"/>
        </a:solidFill>
        <a:latin typeface="+mn-lt"/>
        <a:ea typeface="+mn-ea"/>
        <a:cs typeface="+mn-cs"/>
      </a:defRPr>
    </a:lvl7pPr>
    <a:lvl8pPr marL="3200400" algn="l" defTabSz="457200" rtl="0" eaLnBrk="1" latinLnBrk="0" hangingPunct="1">
      <a:defRPr sz="1800" kern="1200" lang="vi-VN">
        <a:solidFill>
          <a:schemeClr val="tx1"/>
        </a:solidFill>
        <a:latin typeface="+mn-lt"/>
        <a:ea typeface="+mn-ea"/>
        <a:cs typeface="+mn-cs"/>
      </a:defRPr>
    </a:lvl8pPr>
    <a:lvl9pPr marL="3657600" algn="l" defTabSz="457200" rtl="0" eaLnBrk="1" latinLnBrk="0" hangingPunct="1">
      <a:defRPr sz="1800" kern="1200" lang="vi-VN">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  <Relationship Id="rId32" Type="http://schemas.openxmlformats.org/officeDocument/2006/relationships/notesMaster" Target="notesMasters/notesMaster1.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pPr/>
            <a:endParaRPr lang="vi-VN"/>
          </a:p>
        </p:txBody>
      </p:sp>
      <p:sp>
        <p:nvSpPr>
          <p:cNvPr id="3" name="Date Placeholder 2"/>
          <p:cNvSpPr>
            <a:spLocks noGrp="1"/>
          </p:cNvSpPr>
          <p:nvPr>
            <p:ph type="dt" sz="half" idx="1"/>
          </p:nvPr>
        </p:nvSpPr>
        <p:spPr>
          <a:xfrm>
            <a:off x="3884613" y="0"/>
            <a:ext cx="2971800" cy="457200"/>
          </a:xfrm>
          <a:prstGeom prst="rect">
            <a:avLst/>
          </a:prstGeom>
        </p:spPr>
        <p:txBody>
          <a:bodyPr/>
          <a:lstStyle/>
          <a:p>
            <a:pPr/>
            <a:endParaRPr lang="vi-VN"/>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pPr/>
            <a:endParaRPr lang="vi-VN"/>
          </a:p>
        </p:txBody>
      </p:sp>
      <p:sp>
        <p:nvSpPr>
          <p:cNvPr id="6" name="Footer Placeholder 5"/>
          <p:cNvSpPr>
            <a:spLocks noGrp="1"/>
          </p:cNvSpPr>
          <p:nvPr>
            <p:ph type="ftr" sz="quarter" idx="4"/>
          </p:nvPr>
        </p:nvSpPr>
        <p:spPr>
          <a:xfrm>
            <a:off x="0" y="8685213"/>
            <a:ext cx="2971800" cy="457200"/>
          </a:xfrm>
          <a:prstGeom prst="rect">
            <a:avLst/>
          </a:prstGeom>
        </p:spPr>
        <p:txBody>
          <a:bodyPr/>
          <a:lstStyle/>
          <a:p>
            <a:pPr/>
            <a:endParaRPr lang="vi-VN"/>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pPr/>
            <a:endParaRPr lang="vi-VN"/>
          </a:p>
        </p:txBody>
      </p:sp>
    </p:spTree>
  </p:cSld>
  <p:clrMap bg1="lt1" tx1="dk1" bg2="lt2" tx2="dk2" accent1="accent1" accent2="accent2" accent3="accent3" accent4="accent4" accent5="accent5" accent6="accent6" hlink="hlink" folHlink="folHlink"/>
  <p:hf/>
  <p:notesStyle>
    <a:lvl1pPr marL="0" algn="l">
      <a:defRPr sz="1200" lang="vi-VN"/>
    </a:lvl1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vi-VN" dirty="0"/>
              <a:t>Mở đầu bằng mục tiêu của buổi học: sử dụng Python và pyserial để giao tiếp nối tiếp, xử lý phản hồi, ghi dữ liệu và trực quan hóa kết quả. Nêu vai trò của từng công cụ: Visual Studio Code là môi trường viết và chạy mã; Hercules được dùng để xác minh thủ công cổng COM và cấu hình truyền thông trước khi tự động hóa. Arduino đã được chuẩn bị sẵn; buổi học không bao gồm nạp hoặc chỉnh sửa firmware. Ảnh Keithley là ảnh chính thức của Tektronix/Keithley và được ghi nguồn trên slide; không tuyên bố ảnh có giấy phép mở. Câu hỏi gợi mở: “Để nhận biết xu hướng của phép đo theo thời gian, ngoài việc lưu các giá trị cần thực hiện thêm thao tác nào?” Chốt mục tiêu cuối buổi là xây dựng một quy trình đo, lưu và biểu diễn có thể tái lập.</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vi-VN" dirty="0"/>
              <a:t>Trình bày các kết quả học tập dưới dạng tiêu chí có thể kiểm chứng: xác định đúng cổng COM; thiết lập 9600 baud, 8N1, Flow NONE và CR; phân biệt lệnh cấu hình với truy vấn; sử dụng hàm, vòng lặp, timeout và xử lý lỗi; lưu CSV có dấu thời gian; tạo đồ thị tĩnh và cập nhật biểu đồ trực tiếp. Sản phẩm tối thiểu gồm mã nguồn chạy trong VS Code, nhật ký giao tiếp và tệp CSV có cột value, đơn vị cùng nhãn trục phù hợp. Nhấn mạnh thứ tự ưu tiên: xác minh tính đúng đắn của dữ liệu và đơn vị trước khi tối ưu hình thức biểu đồ.</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vi-VN" dirty="0"/>
              <a:t>Diễn giải sơ đồ theo ba lớp. Lớp truyền thông gồm thiết bị, cổng COM và các thông số serial; lớp lệnh gồm SCPI và cặp truy vấn–phản hồi; lớp ứng dụng gồm Python, CSV và Matplotlib. Hercules xác minh đường truyền trước khi dùng pyserial. Khi chưa thu được dữ liệu, cần kiểm tra từng lớp theo trình tự thay vì thay đổi đồng thời nhiều tham số. Arduino trong học phần chỉ hỗ trợ một tập lệnh thực hành, không mô phỏng đầy đủ Keithley Model 2000. Lưu ý an toàn: cổng DB9 RS-232 của thiết bị Keithley cần cáp hoặc bộ chuyển phù hợp; không nối trực tiếp tín hiệu RS-232 với chân RX/TX mức TTL của Arduino Uno. Không có thao tác nạp firmware trong buổi này.</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vi-VN" dirty="0"/>
              <a:t>Hướng dẫn cài Python 3, Visual Studio Code và các extension Python, Pylance của Microsoft. Thực hiện File → Open Folder để mở toàn bộ thư mục Buoi2_VSCode; không chỉ mở riêng một tệp nếu cần dùng đúng đường dẫn và cấu hình của dự án. Xác định vị trí Explorer, vùng soạn thảo và Integrated Terminal. Mockup trên slide mô phỏng bố cục, không phải ảnh chụp giao diện thật. Yêu cầu người học xác định tệp sẽ chạy và khu vực hiển thị kết quả. Chuyển tiếp sang cấu trúc thư mục và vai trò các mô-đun.</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vi-VN" dirty="0"/>
              <a:t>Giới thiệu cấu trúc dự án theo trình tự thực hành. Tệp 01_list_ports.py liệt kê cổng; 02_serial_client.py gửi lệnh tương tác; 03_test_commands.py kiểm tra cấu hình và lệnh SCPI; 04_log_csv.py ghi kết quả; 06_settings_and_measurement.py minh họa cấu hình và truy vấn; 07_timed_logger.py thực hiện phép đo theo thời gian; 08_error_queue_lab.py khảo sát hàng đợi lỗi. Cuối buổi, người học tạo ve_do_thi.py để biểu diễn dữ liệu. Tệp requirements.txt ghi thư viện cần cài và .vscode/launch.json lưu cấu hình chạy. Việc chia mô-đun giúp tái lập từng bước và xác định phạm vi lỗi. Không mở hoặc hướng dẫn nạp firmware.</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vi-VN" dirty="0"/>
              <a:t>Giải thích trình tự lệnh trong Integrated Terminal. Lệnh py --version xác minh trình khởi chạy Python; py -m venv .venv tạo môi trường ảo riêng cho dự án; Activate.ps1 kích hoạt môi trường trong PowerShell; các lệnh pip cài pyserial và matplotlib vào trình thông dịch đang hoạt động. Nếu PowerShell không cho phép kích hoạt, chọn trực tiếp interpreter .venv trong VS Code hoặc gọi .venv\Scripts\python.exe để cài gói; không cần thay đổi chính sách hệ thống để hoàn thành bài. Tên gói cài đặt pyserial khác tên mô-đun import là serial; Matplotlib được nạp qua matplotlib.pyplot. Xác minh đúng trình thông dịch trước khi mở COM.</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vi-VN" dirty="0"/>
              <a:t>Giải thích mã theo thứ tự: import sys nạp mô-đun chuẩn; print xác nhận tệp đã chạy; sys.executable trả về đường dẫn của trình thông dịch thực thi. Chạy Run Python File và kiểm tra đường dẫn có chứa .venv hay không. Đường dẫn trên slide là ví dụ, mỗi máy có thể khác. Nếu trình thông dịch chưa trỏ vào môi trường dự án, dùng Python: Select Interpreter để chọn .venv rồi chạy lại. Nếu thiếu mô-đun, cài gói vào đúng trình thông dịch thay vì thay đổi mã serial.</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vi-VN" dirty="0"/>
              <a:t>Giải thích from serial.tools import list_ports là thao tác nạp công cụ liệt kê cổng; list_ports.comports() trả về các cổng khả dụng; vòng lặp for duyệt từng đối tượng cổng; port.device chứa tên như COM4, còn port.description giúp nhận diện thiết bị. Chạy chương trình và đối chiếu kết quả với Device Manager → Ports (COM &amp; LPT). Nếu không thấy cổng, kiểm tra cáp USB có dây dữ liệu, trình điều khiển và trạng thái thiết bị. Không cố định COM3 hoặc COM4 trong mã nguồn vì tên cổng phụ thuộc từng máy. Trên mockup Hercules, COM4 chỉ là giá trị minh họa; sau kiểm tra cần ngắt kết nối Hercules trước khi Python mở cổng.</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vi-VN" dirty="0"/>
              <a:t>Phân biệt khả năng của thiết bị với lựa chọn của học phần. Manual của Keithley Model 2000 liệt kê 300, 600, 1200, 2400, 4800, 9600 và 19.2k baud; giá trị mặc định nhà máy là 4800, còn buổi học thống nhất 9600 ở thiết bị, Hercules và Python. 8N1 nghĩa là 8 bit dữ liệu, parity None và 1 bit dừng. Manual cho phép Flow NONE hoặc XON/XOFF; học phần chọn NONE. RTS/CTS không được hỗ trợ. TX TERM quy định ký tự kết thúc dữ liệu thiết bị gửi về; lớp chọn CR và Python cũng kết thúc lệnh bằng CR, đồng thời đọc đến CR. Thiết bị thật cần cáp DB9 thẳng phù hợp, không dùng null modem. Đối chiếu từng tham số trong bảng với các đối số pyserial và manual trước khi kết nối thiết bị thật.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vi-VN" dirty="0"/>
              <a:t>Giải thích cấu trúc mã theo thứ tự thực thi: import serial và time; try bao thao tác có thể phát sinh lỗi; with serial.Serial(...) mở cổng và tự đóng tài nguyên khi thoát khỏi khối. Các đối số port, baudrate, bytesize, parity và stopbits xác định cổng và 8N1; timeout=1 giới hạn thời gian chờ đọc; xonxoff, rtscts và dsrdtr tắt các cơ chế điều khiển luồng. Sau khi mở cổng USB, Arduino Uno có thể khởi động lại; time.sleep(2) chờ thiết bị ổn định rồi reset_input_buffer() loại bỏ byte cũ. Khối except serial.SerialException xử lý lỗi cổng sai hoặc đang được ứng dụng khác sử dụng. Khi minh họa, ngắt kết nối Hercules trước khi chạy Python; một cổng COM không được mở đồng thời bởi hai ứng dụng.</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vi-VN" dirty="0"/>
              <a:t>Giải thích từng dòng: command lưu lệnh SCPI dạng chuỗi; nối ký tự CR bằng \r để xác định điểm kết thúc; encode("ascii") chuyển chuỗi thành bytes; device.write(message) gửi byte qua cổng; flush() đẩy dữ liệu đang đệm ra ngoài. PySerial truyền dữ liệu dạng byte, do đó cần mã hóa chuỗi trước khi gọi write. Dấu hỏi cho biết lệnh là truy vấn và thường cần phản hồi; lệnh cấu hình cũng phải kết thúc bằng CR nhưng theo quy ước ví dụ không đọc phản hồi. Gửi lệnh và đọc phản hồi là hai thao tác riêng biệt.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vi-VN" dirty="0"/>
              <a:t>device.read_until(b"\r") chờ đến byte CR hoặc hết thời gian timeout. Kết quả raw vẫn ở dạng bytes; decode("ascii", errors="replace") chuyển dữ liệu sang văn bản và thay thế byte không giải mã được; strip() loại CR cùng khoảng trắng ở hai đầu. Cấu trúc if/else phân biệt phản hồi có nội dung với chuỗi rỗng. Chuỗi rỗng không phải giá trị đo và không được chuyển trực tiếp thành float. Cần bảo đảm ký tự mà Python chờ trùng với TX TERM trên thiết bị. Nếu không nhận được phản hồi, kiểm tra cổng COM, baud, dấu truy vấn và ký tự kết thúc.</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vi-VN" dirty="0"/>
              <a:t>Đọc hàm send_command(device, command) từ phần định nghĩa xuống dưới. device là cổng đã mở, còn command là lệnh SCPI. Hàm nối CR, mã hóa ASCII, ghi byte và flush. Điều kiện kiểm tra dấu hỏi là quy ước đơn giản của bộ lệnh học phần: lệnh cấu hình như CONF:VOLT:DC trả None và không chờ phản hồi; truy vấn như *IDN? đọc đến CR rồi giải mã, strip và trả chuỗi. Timeout có thể tạo chuỗi rỗng, vì vậy cần xác minh kết quả trước khi chuyển kiểu. Đây là hàm trợ giúp cho ví dụ nhập môn, không phải bộ phân tích SCPI tổng quát. Yêu cầu người học dự đoán kiểu giá trị trả về cho từng nhánh.</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vi-VN" dirty="0"/>
              <a:t>Dùng bảng để phân loại lệnh, không yêu cầu ghi nhớ toàn bộ manual. Common gồm các lệnh chung như *IDN?, *RST và *CLS; Configure chọn chức năng hoặc đặt cấu hình; Sense đọc hoặc đặt tham số cảm biến; Measure yêu cầu dữ liệu đo; Error truy vấn hàng đợi lỗi. Trong ví dụ, dấu hỏi biểu thị truy vấn và quyết định có chờ phản hồi hay không. Biểu thức điều kiện trong mã đặt kind thành QUERY hoặc SETTING. SYST:ERR? lấy lỗi cũ nhất theo FIFO, còn *CLS xóa hàng đợi. Bộ lệnh Arduino của học phần chỉ hỗ trợ một phần; mọi lệnh dùng với Model 2000 thật cần được đối chiếu manual.</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vi-VN" dirty="0"/>
              <a:t>Các lệnh trên slide được thực thi bên trong khối with đã mở cổng; không mở lại COM cho từng lệnh. *IDN? nhận dạng thiết bị và in phản hồi; CONF:VOLT:DC là lệnh cấu hình nên không cần in giá trị trả về; CONF? truy vấn lại để xác minh. SENS:VOLT:DC:RANG 1 đặt thang, truy vấn RANG? đọc lại cấu hình; READ? yêu cầu phép đo mới; cuối lượt SYST:ERR? kiểm tra hàng đợi lỗi. Mỗi truy vấn được đọc trước khi gửi truy vấn kế tiếp để tránh nhầm phản hồi. Giá trị cụ thể phụ thuộc thiết bị hoặc chương trình mô phỏng; không giả định chuỗi nhận dạng hay số đo cố định.</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vi-VN" dirty="0"/>
              <a:t>Giải thích FIFO: lỗi mới được thêm vào cuối hàng đợi; mỗi lần gọi SYST:ERR? lấy lỗi cũ nhất; khi hàng đợi rỗng, thiết bị trả “No error”; *CLS xóa hàng đợi. Trong mã, chỉ sử dụng lệnh gây lỗi nếu chương trình thực hành chủ động từ chối giá trị đó; phản hồi lỗi là văn bản, không phải số đo. Lưu ý thang 5 V có thể hợp lệ trên Keithley Model 2000 tùy chức năng và chế độ. Vì vậy không kết luận lệnh này luôn gây lỗi trên thiết bị thật; cần đọc phản hồi và đối chiếu manual.</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vi-VN" dirty="0"/>
              <a:t>SO_LAN_DO=10 xác định số vòng đo; time.monotonic() ghi mốc thời gian trôi qua; range(SO_LAN_DO) tạo chỉ số từ 0 đến 9; mỗi vòng gọi READ? và nhận phản hồi; elapsed tính khoảng thời gian kể từ mốc; index+1 hiển thị số thứ tự bắt đầu từ 1; time.sleep(1) tạo khoảng nghỉ trước vòng tiếp theo. Chu kỳ thực tế có thể vượt quá một giây do thời gian đáp ứng và timeout. monotonic() phù hợp để đo khoảng thời gian, không phải thời gian lịch. Có thể yêu cầu người học dự đoán thời gian hoàn thành khi thay đổi số mẫu hoặc khoảng nghỉ.</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vi-VN" dirty="0"/>
              <a:t>Giải thích mã theo thứ tự: import csv và datetime; open tạo tệp với newline="" và encoding="utf-8-sig" để csv.writer quản lý dòng và tương thích khi mở trong Excel trên Windows; writerow ghi header timestamp, function, value một lần. Vòng lặp gọi READ?, tạo timestamp theo định dạng ISO 8601, rồi chỉ ghi bản ghi khi phản hồi có nội dung. Mỗi hàng gồm timestamp, function và phản hồi gốc; file.flush() đẩy bản ghi hợp lệ ra tệp. Chế độ w sẽ ghi đè tệp cùng tên ở lần chạy tiếp theo; cần đổi tên nếu phải giữ nhiều lượt đo. Không xem bản ghi minh họa trên slide là dữ liệu thực nghiệm.</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vi-VN" dirty="0"/>
              <a:t>Pyplot đã được cài ở bước thiết lập môi trường. Hai danh sách time_s và voltage phải có cùng số phần tử và giữ đúng thứ tự cặp x-y. plt.subplots() tạo figure và axes; ax.plot() biểu diễn các cặp giá trị, marker="o" làm rõ vị trí mẫu, còn label đặt tên chuỗi dữ liệu. ax.set() xác định nhãn trục, đơn vị và tiêu đề; grid, legend và show bổ sung lưới, chú giải và cửa sổ hiển thị. Bốn giá trị 0.20, 0.35, 0.31 và 0.52 V là dữ liệu minh họa của bài, không phải số đo thực của Keithley. Câu hỏi gợi mở: “Hai danh sách x và y có quan hệ gì nếu số phần tử không bằng nhau?”</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vi-VN" dirty="0"/>
              <a:t>csv.DictReader sử dụng header làm khóa; các giá trị đọc từ CSV ban đầu là chuỗi. float(row["value"]) chuyển cột value sang số; KeyError xử lý trường hợp thiếu header, còn ValueError xử lý nội dung không phải số. continue bỏ qua hàng không hợp lệ. Chỉ sau khi chuyển đổi thành công mới thêm value vào voltage; range(len(voltage)) tạo chỉ số mẫu, bảo đảm số phần tử hai trục tương ứng. Biểu đồ tái sử dụng cùng bộ bốn giá trị minh họa của slide trước. Đối chiếu header timestamp, function, value của tệp CSV với khóa value trong mã và kiểm tra số phần tử trước khi vẽ.</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vi-VN" dirty="0"/>
              <a:t>Đây là cửa sổ đồ thị Matplotlib được khởi tạo từ chương trình Python, không phải một GUI framework. plt.ion() bật chế độ tương tác; times và values bắt đầu rỗng; subplots() tạo figure và axes một lần; line, = ax.plot(...) tạo đối tượng Line2D rỗng. Dấu phẩy giải nén đối tượng duy nhất do plot() trả về. Nhãn, tiêu đề, lưới và chú giải được thiết lập trước vòng lặp để không phải tạo lại cho từng mẫu. plt.show(block=False) mở cửa sổ nhưng trả quyền điều khiển cho mã tiếp tục chạy. Backend có thể mở cửa sổ ngoài VS Code tùy cấu hình máy.</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vi-VN" dirty="0"/>
              <a:t>Cấu trúc try/finally bảo đảm phần dọn dẹp được gọi khi vòng lặp kết thúc. Vòng for thực hiện tối đa 20 truy vấn READ?; float(reply) chuyển phản hồi sang số; TypeError hoặc ValueError loại mẫu không hợp lệ bằng continue. Với mẫu hợp lệ, append thêm chỉ số và giá trị vào hai danh sách; line.set_data cập nhật cùng Line2D; relim tính lại giới hạn dữ liệu; autoscale_view điều chỉnh trục; pause cho backend thời gian vẽ lại. Cuối cùng, plt.ioff() tắt chế độ tương tác và plt.show() giữ cửa sổ kết quả hiển thị. Biểu đồ là kịch bản minh họa; nếu phản hồi chứa đơn vị hoặc ký tự chữ, cần chuẩn hóa trước khi chuyển sang float.</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vi-VN" dirty="0"/>
              <a:t>Dùng bảng theo thứ tự chẩn đoán: khi COM bận, ngắt Hercules hoặc ứng dụng khác; khi không có phản hồi, xác minh COM, 9600/8N1, Flow NONE, truy vấn và CR; khi CSV chưa có dữ liệu, kiểm tra thư mục làm việc, vòng lặp và nội dung phản hồi; khi biểu đồ trống, kiểm tra header value và số phần tử hợp lệ; với ValueError, kiểm tra phản hồi gốc và chuẩn hóa trước khi chuyển sang float; nếu biểu đồ trực tiếp không đổi, kiểm tra ion(), show(block=False), pause() và backend. Mã minh họa duyệt responses, bỏ qua None, thử chuyển float và bắt ValueError; continue chỉ dùng trong vòng lặp. Yêu cầu người học chọn một triệu chứng và nêu phép kiểm tra phù hợp.</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vi-VN" dirty="0"/>
              <a:t>Tổ chức bài tập theo ba mức. Ở mức cơ bản, xác định COM, kiểm tra *IDN? bằng Hercules với 9600/8N1/CR, dùng hàm SCPI và phân biệt lệnh cấu hình với truy vấn; kiểm tra timeout và hàng đợi FIFO. Ở mức thực hành, thu 20 mẫu, loại phản hồi không hợp lệ, ghi timestamp/function/value, đọc CSV và vẽ đồ thị tĩnh. Ở mức mở rộng, cập nhật 10–20 mẫu trên biểu đồ trực tiếp, xác định điều kiện dừng và kiểm tra cách xử lý mẫu lỗi. Đánh giá tính đúng đắn của dữ liệu, đơn vị và khả năng giải thích mã trước yếu tố thẩm mỹ. Không yêu cầu nạp firmware.</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vi-VN" dirty="0"/>
              <a:t>Tổng kết quy trình: kết nối, nhận dạng, cấu hình và xác minh, đo, lưu CSV rồi trực quan hóa. Tệp bàn giao gồm mã nguồn, hướng dẫn chạy trong VS Code, CSV có header timestamp/function/value và đồ thị tĩnh; biểu đồ trực tiếp là phần mở rộng. Các vai trò tham khảo gồm giao tiếp serial/SCPI, xử lý CSV, Matplotlib và kiểm thử/báo cáo. Khi trình bày, cần giải thích cấu hình COM, quan hệ truy vấn–phản hồi, đơn vị, cách phát hiện mẫu không hợp lệ và giới hạn của chương trình mô phỏng so với Keithley thật. Dữ liệu minh họa không được trình bày như số đo thiết bị. Arduino được chuẩn bị trước; không nạp firmware trong buổi này.</a:t>
            </a:r>
          </a:p>
        </p:txBody>
      </p:sp>
    </p:spTree>
  </p:cSld>
  <p:clrMapOvr>
    <a:masterClrMapping/>
  </p:clrMapOvr>
</p:note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buoi-2-pyserial-keithley2000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vi-VN" smtClean="0"/>
              <a:t>1/27/13</a:t>
            </a:fld>
            <a:endParaRPr lang="vi-VN"/>
          </a:p>
        </p:txBody>
      </p:sp>
      <p:sp>
        <p:nvSpPr>
          <p:cNvPr id="3" name="Footer Placeholder 2"/>
          <p:cNvSpPr>
            <a:spLocks noGrp="1"/>
          </p:cNvSpPr>
          <p:nvPr>
            <p:ph type="ftr" sz="quarter" idx="11"/>
          </p:nvPr>
        </p:nvSpPr>
        <p:spPr/>
        <p:txBody>
          <a:bodyPr/>
          <a:lstStyle/>
          <a:p>
            <a:endParaRPr lang="vi-VN"/>
          </a:p>
        </p:txBody>
      </p:sp>
      <p:sp>
        <p:nvSpPr>
          <p:cNvPr id="4" name="Slide Number Placeholder 3"/>
          <p:cNvSpPr>
            <a:spLocks noGrp="1"/>
          </p:cNvSpPr>
          <p:nvPr>
            <p:ph type="sldNum" sz="quarter" idx="12"/>
          </p:nvPr>
        </p:nvSpPr>
        <p:spPr/>
        <p:txBody>
          <a:bodyPr/>
          <a:lstStyle/>
          <a:p>
            <a:fld id="{C1FF6DA9-008F-8B48-92A6-B652298478BF}" type="slidenum">
              <a:rPr lang="vi-VN" smtClean="0"/>
              <a:t>‹#›</a:t>
            </a:fld>
            <a:endParaRPr lang="vi-VN"/>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buoi-2-pyserial-keithley2000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lang="vi-VN">
                <a:solidFill>
                  <a:schemeClr val="tx1">
                    <a:tint val="75000"/>
                  </a:schemeClr>
                </a:solidFill>
              </a:defRPr>
            </a:lvl1pPr>
          </a:lstStyle>
          <a:p>
            <a:fld id="{5BCAD085-E8A6-8845-BD4E-CB4CCA059FC4}" type="datetimeFigureOut">
              <a:rPr lang="vi-VN" smtClean="0"/>
              <a:t>1/27/13</a:t>
            </a:fld>
            <a:endParaRPr lang="vi-V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lang="vi-VN">
                <a:solidFill>
                  <a:schemeClr val="tx1">
                    <a:tint val="75000"/>
                  </a:schemeClr>
                </a:solidFill>
              </a:defRPr>
            </a:lvl1pPr>
          </a:lstStyle>
          <a:p>
            <a:endParaRPr lang="vi-V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lang="vi-VN">
                <a:solidFill>
                  <a:schemeClr val="tx1">
                    <a:tint val="75000"/>
                  </a:schemeClr>
                </a:solidFill>
              </a:defRPr>
            </a:lvl1pPr>
          </a:lstStyle>
          <a:p>
            <a:fld id="{C1FF6DA9-008F-8B48-92A6-B652298478BF}" type="slidenum">
              <a:rPr lang="vi-VN" smtClean="0"/>
              <a:t>‹#›</a:t>
            </a:fld>
            <a:endParaRPr lang="vi-VN"/>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3150" kern="1200" lang="vi-VN">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1800" kern="1200" lang="vi-VN">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1700" kern="1200" lang="vi-VN">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600" kern="1200" lang="vi-VN">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450" kern="1200" lang="vi-VN">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350" kern="1200" lang="vi-VN">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1250" kern="1200" lang="vi-VN">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100" kern="1200" lang="vi-VN">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000" kern="1200" lang="vi-VN">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900" kern="1200" lang="vi-VN">
          <a:solidFill>
            <a:schemeClr val="tx1"/>
          </a:solidFill>
          <a:latin typeface="+mn-lt"/>
          <a:ea typeface="+mn-ea"/>
          <a:cs typeface="+mn-cs"/>
        </a:defRPr>
      </a:lvl9pPr>
    </p:bodyStyle>
    <p:otherStyle>
      <a:defPPr>
        <a:defRPr lang="vi-VN"/>
      </a:defPPr>
      <a:lvl1pPr marL="0" algn="l" defTabSz="457200" rtl="0" eaLnBrk="1" latinLnBrk="0" hangingPunct="1">
        <a:defRPr sz="1800" kern="1200" lang="vi-VN">
          <a:solidFill>
            <a:schemeClr val="tx1"/>
          </a:solidFill>
          <a:latin typeface="+mn-lt"/>
          <a:ea typeface="+mn-ea"/>
          <a:cs typeface="+mn-cs"/>
        </a:defRPr>
      </a:lvl1pPr>
      <a:lvl2pPr marL="457200" algn="l" defTabSz="457200" rtl="0" eaLnBrk="1" latinLnBrk="0" hangingPunct="1">
        <a:defRPr sz="1700" kern="1200" lang="vi-VN">
          <a:solidFill>
            <a:schemeClr val="tx1"/>
          </a:solidFill>
          <a:latin typeface="+mn-lt"/>
          <a:ea typeface="+mn-ea"/>
          <a:cs typeface="+mn-cs"/>
        </a:defRPr>
      </a:lvl2pPr>
      <a:lvl3pPr marL="914400" algn="l" defTabSz="457200" rtl="0" eaLnBrk="1" latinLnBrk="0" hangingPunct="1">
        <a:defRPr sz="1600" kern="1200" lang="vi-VN">
          <a:solidFill>
            <a:schemeClr val="tx1"/>
          </a:solidFill>
          <a:latin typeface="+mn-lt"/>
          <a:ea typeface="+mn-ea"/>
          <a:cs typeface="+mn-cs"/>
        </a:defRPr>
      </a:lvl3pPr>
      <a:lvl4pPr marL="1371600" algn="l" defTabSz="457200" rtl="0" eaLnBrk="1" latinLnBrk="0" hangingPunct="1">
        <a:defRPr sz="1450" kern="1200" lang="vi-VN">
          <a:solidFill>
            <a:schemeClr val="tx1"/>
          </a:solidFill>
          <a:latin typeface="+mn-lt"/>
          <a:ea typeface="+mn-ea"/>
          <a:cs typeface="+mn-cs"/>
        </a:defRPr>
      </a:lvl4pPr>
      <a:lvl5pPr marL="1828800" algn="l" defTabSz="457200" rtl="0" eaLnBrk="1" latinLnBrk="0" hangingPunct="1">
        <a:defRPr sz="1350" kern="1200" lang="vi-VN">
          <a:solidFill>
            <a:schemeClr val="tx1"/>
          </a:solidFill>
          <a:latin typeface="+mn-lt"/>
          <a:ea typeface="+mn-ea"/>
          <a:cs typeface="+mn-cs"/>
        </a:defRPr>
      </a:lvl5pPr>
      <a:lvl6pPr marL="2286000" algn="l" defTabSz="457200" rtl="0" eaLnBrk="1" latinLnBrk="0" hangingPunct="1">
        <a:defRPr sz="1250" kern="1200" lang="vi-VN">
          <a:solidFill>
            <a:schemeClr val="tx1"/>
          </a:solidFill>
          <a:latin typeface="+mn-lt"/>
          <a:ea typeface="+mn-ea"/>
          <a:cs typeface="+mn-cs"/>
        </a:defRPr>
      </a:lvl6pPr>
      <a:lvl7pPr marL="2743200" algn="l" defTabSz="457200" rtl="0" eaLnBrk="1" latinLnBrk="0" hangingPunct="1">
        <a:defRPr sz="1100" kern="1200" lang="vi-VN">
          <a:solidFill>
            <a:schemeClr val="tx1"/>
          </a:solidFill>
          <a:latin typeface="+mn-lt"/>
          <a:ea typeface="+mn-ea"/>
          <a:cs typeface="+mn-cs"/>
        </a:defRPr>
      </a:lvl7pPr>
      <a:lvl8pPr marL="3200400" algn="l" defTabSz="457200" rtl="0" eaLnBrk="1" latinLnBrk="0" hangingPunct="1">
        <a:defRPr sz="1000" kern="1200" lang="vi-VN">
          <a:solidFill>
            <a:schemeClr val="tx1"/>
          </a:solidFill>
          <a:latin typeface="+mn-lt"/>
          <a:ea typeface="+mn-ea"/>
          <a:cs typeface="+mn-cs"/>
        </a:defRPr>
      </a:lvl8pPr>
      <a:lvl9pPr marL="3657600" algn="l" defTabSz="457200" rtl="0" eaLnBrk="1" latinLnBrk="0" hangingPunct="1">
        <a:defRPr sz="900" kern="1200" lang="vi-VN">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07d8566abaca1955.png"/>
  <Relationship Id="rId3" Type="http://schemas.openxmlformats.org/officeDocument/2006/relationships/image" Target="../media/image_08d88182e06ff68c.jpg"/>
  <Relationship Id="rId4"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2.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3.xml"/>
</Relationships>
</file>

<file path=ppt/slides/_rels/slide1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4.xml"/>
</Relationships>
</file>

<file path=ppt/slides/_rels/slide1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5.xml"/>
</Relationships>
</file>

<file path=ppt/slides/_rels/slide1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6.xml"/>
</Relationships>
</file>

<file path=ppt/slides/_rels/slide1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7.xml"/>
</Relationships>
</file>

<file path=ppt/slides/_rels/slide1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8.xml"/>
</Relationships>
</file>

<file path=ppt/slides/_rels/slide1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9.xml"/>
</Relationships>
</file>

<file path=ppt/slides/_rels/slide2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0.xml"/>
</Relationships>
</file>

<file path=ppt/slides/_rels/slide2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1.xml"/>
</Relationships>
</file>

<file path=ppt/slides/_rels/slide2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2.xml"/>
</Relationships>
</file>

<file path=ppt/slides/_rels/slide2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3.xml"/>
</Relationships>
</file>

<file path=ppt/slides/_rels/slide2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4.xml"/>
</Relationships>
</file>

<file path=ppt/slides/_rels/slide2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5.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Line 2"/>
          <p:cNvSpPr/>
          <p:nvPr/>
        </p:nvSpPr>
        <p:spPr>
          <a:xfrm>
            <a:off x="685800" y="704850"/>
            <a:ext cx="9525" cy="5410200"/>
          </a:xfrm>
          <a:custGeom>
            <a:avLst/>
            <a:gdLst/>
            <a:ahLst/>
            <a:cxnLst/>
            <a:rect l="l" t="t" r="r" b="b"/>
            <a:pathLst>
              <a:path w="9525" h="5410200">
                <a:moveTo>
                  <a:pt x="0" y="0"/>
                </a:moveTo>
                <a:lnTo>
                  <a:pt x="0" y="5410200"/>
                </a:lnTo>
              </a:path>
            </a:pathLst>
          </a:custGeom>
          <a:noFill/>
          <a:ln w="28575">
            <a:solidFill>
              <a:schemeClr val="accent2"/>
            </a:solidFill>
          </a:ln>
        </p:spPr>
      </p:sp>
      <p:grpSp>
        <p:nvGrpSpPr>
          <p:cNvPr id="12" name="cover-title"/>
          <p:cNvGrpSpPr/>
          <p:nvPr/>
        </p:nvGrpSpPr>
        <p:grpSpPr>
          <a:xfrm>
            <a:off x="898398" y="615950"/>
            <a:ext cx="5072634" cy="5274183"/>
            <a:chOff x="898398" y="615950"/>
            <a:chExt cx="5072634" cy="5274183"/>
          </a:xfrm>
        </p:grpSpPr>
        <p:sp>
          <p:nvSpPr>
            <p:cNvPr id="3" name="TextBox 3"/>
            <p:cNvSpPr txBox="1"/>
            <p:nvPr/>
          </p:nvSpPr>
          <p:spPr>
            <a:xfrm>
              <a:off x="907542" y="615950"/>
              <a:ext cx="2886875" cy="264033"/>
            </a:xfrm>
            <a:prstGeom prst="rect">
              <a:avLst/>
            </a:prstGeom>
            <a:noFill/>
            <a:ln>
              <a:noFill/>
            </a:ln>
          </p:spPr>
          <p:txBody>
            <a:bodyPr wrap="none" lIns="0" tIns="0" rIns="0" bIns="0" anchor="t" anchorCtr="0">
              <a:spAutoFit/>
            </a:bodyPr>
            <a:lstStyle/>
            <a:p>
              <a:pPr algn="l"/>
              <a:r>
                <a:rPr lang="vi-VN" sz="1350" b="1" dirty="0">
                  <a:solidFill>
                    <a:schemeClr val="accent3"/>
                  </a:solidFill>
                  <a:latin typeface="+mn-lt"/>
                  <a:ea typeface="+mn-ea"/>
                  <a:cs typeface="+mn-cs"/>
                </a:rPr>
                <a:t>BUỔI 02 · CẨM NANG PHÒNG LAB</a:t>
              </a:r>
            </a:p>
          </p:txBody>
        </p:sp>
        <p:sp>
          <p:nvSpPr>
            <p:cNvPr id="4" name="TextBox 4"/>
            <p:cNvSpPr txBox="1"/>
            <p:nvPr/>
          </p:nvSpPr>
          <p:spPr>
            <a:xfrm>
              <a:off x="898398" y="1041400"/>
              <a:ext cx="5072634" cy="1587627"/>
            </a:xfrm>
            <a:prstGeom prst="rect">
              <a:avLst/>
            </a:prstGeom>
            <a:noFill/>
            <a:ln>
              <a:noFill/>
            </a:ln>
          </p:spPr>
          <p:txBody>
            <a:bodyPr wrap="none" lIns="0" tIns="0" rIns="0" bIns="0" anchor="t" anchorCtr="0">
              <a:spAutoFit/>
            </a:bodyPr>
            <a:lstStyle/>
            <a:p>
              <a:pPr algn="l">
                <a:lnSpc>
                  <a:spcPts val="3825"/>
                </a:lnSpc>
              </a:pPr>
              <a:r>
                <a:rPr lang="vi-VN" sz="3150" b="1" dirty="0">
                  <a:solidFill>
                    <a:schemeClr val="accent1"/>
                  </a:solidFill>
                  <a:latin typeface="+mn-lt"/>
                  <a:ea typeface="+mn-ea"/>
                  <a:cs typeface="+mn-cs"/>
                </a:rPr>
                <a:t>Buổi 2 — Python, PySerial</a:t>
              </a:r>
              <a:br>
                <a:rPr lang="vi-VN" sz="3150" b="1" dirty="0">
                  <a:solidFill>
                    <a:schemeClr val="accent1"/>
                  </a:solidFill>
                  <a:latin typeface="+mn-lt"/>
                  <a:ea typeface="+mn-ea"/>
                  <a:cs typeface="+mn-cs"/>
                </a:rPr>
              </a:br>
              <a:r>
                <a:rPr lang="vi-VN" sz="3150" b="1" dirty="0">
                  <a:solidFill>
                    <a:schemeClr val="accent1"/>
                  </a:solidFill>
                  <a:latin typeface="+mn-lt"/>
                  <a:ea typeface="+mn-ea"/>
                  <a:cs typeface="+mn-cs"/>
                </a:rPr>
                <a:t>và vẽ đồ thị dữ liệu</a:t>
              </a:r>
              <a:br>
                <a:rPr lang="vi-VN" sz="3150" b="1" dirty="0">
                  <a:solidFill>
                    <a:schemeClr val="accent1"/>
                  </a:solidFill>
                  <a:latin typeface="+mn-lt"/>
                  <a:ea typeface="+mn-ea"/>
                  <a:cs typeface="+mn-cs"/>
                </a:rPr>
              </a:br>
              <a:r>
                <a:rPr lang="vi-VN" sz="3150" b="1" dirty="0">
                  <a:solidFill>
                    <a:schemeClr val="accent1"/>
                  </a:solidFill>
                  <a:latin typeface="+mn-lt"/>
                  <a:ea typeface="+mn-ea"/>
                  <a:cs typeface="+mn-cs"/>
                </a:rPr>
                <a:t>thiết bị đo</a:t>
              </a:r>
            </a:p>
          </p:txBody>
        </p:sp>
        <p:sp>
          <p:nvSpPr>
            <p:cNvPr id="5" name="TextBox 5"/>
            <p:cNvSpPr txBox="1"/>
            <p:nvPr/>
          </p:nvSpPr>
          <p:spPr>
            <a:xfrm>
              <a:off x="903732" y="2743200"/>
              <a:ext cx="4501896" cy="763143"/>
            </a:xfrm>
            <a:prstGeom prst="rect">
              <a:avLst/>
            </a:prstGeom>
            <a:noFill/>
            <a:ln>
              <a:noFill/>
            </a:ln>
          </p:spPr>
          <p:txBody>
            <a:bodyPr wrap="none" lIns="0" tIns="0" rIns="0" bIns="0" anchor="t" anchorCtr="0">
              <a:spAutoFit/>
            </a:bodyPr>
            <a:lstStyle/>
            <a:p>
              <a:pPr algn="l">
                <a:lnSpc>
                  <a:spcPts val="2775"/>
                </a:lnSpc>
              </a:pPr>
              <a:r>
                <a:rPr lang="vi-VN" sz="2100" dirty="0">
                  <a:solidFill>
                    <a:schemeClr val="dk1"/>
                  </a:solidFill>
                  <a:latin typeface="+mn-lt"/>
                  <a:ea typeface="+mn-ea"/>
                  <a:cs typeface="+mn-cs"/>
                </a:rPr>
                <a:t>Từ giao tiếp serial đến số đo có thể</a:t>
              </a:r>
              <a:br>
                <a:rPr lang="vi-VN" sz="2100" dirty="0">
                  <a:solidFill>
                    <a:schemeClr val="dk1"/>
                  </a:solidFill>
                  <a:latin typeface="+mn-lt"/>
                  <a:ea typeface="+mn-ea"/>
                  <a:cs typeface="+mn-cs"/>
                </a:rPr>
              </a:br>
              <a:r>
                <a:rPr lang="vi-VN" sz="2100" dirty="0">
                  <a:solidFill>
                    <a:schemeClr val="dk1"/>
                  </a:solidFill>
                  <a:latin typeface="+mn-lt"/>
                  <a:ea typeface="+mn-ea"/>
                  <a:cs typeface="+mn-cs"/>
                </a:rPr>
                <a:t>kiểm tra, lưu và trực quan hóa.</a:t>
              </a:r>
            </a:p>
          </p:txBody>
        </p:sp>
        <p:sp>
          <p:nvSpPr>
            <p:cNvPr id="6" name="Line 6"/>
            <p:cNvSpPr/>
            <p:nvPr/>
          </p:nvSpPr>
          <p:spPr>
            <a:xfrm>
              <a:off x="914400" y="3467100"/>
              <a:ext cx="4972050" cy="9525"/>
            </a:xfrm>
            <a:custGeom>
              <a:avLst/>
              <a:gdLst/>
              <a:ahLst/>
              <a:cxnLst/>
              <a:rect l="l" t="t" r="r" b="b"/>
              <a:pathLst>
                <a:path w="4972050" h="9525">
                  <a:moveTo>
                    <a:pt x="0" y="0"/>
                  </a:moveTo>
                  <a:lnTo>
                    <a:pt x="4972050" y="0"/>
                  </a:lnTo>
                </a:path>
              </a:pathLst>
            </a:custGeom>
            <a:noFill/>
            <a:ln w="14288">
              <a:solidFill>
                <a:schemeClr val="accent6"/>
              </a:solidFill>
            </a:ln>
          </p:spPr>
        </p:sp>
        <p:sp>
          <p:nvSpPr>
            <p:cNvPr id="7" name="TextBox 7"/>
            <p:cNvSpPr txBox="1"/>
            <p:nvPr/>
          </p:nvSpPr>
          <p:spPr>
            <a:xfrm>
              <a:off x="905256" y="3603625"/>
              <a:ext cx="4526852" cy="352044"/>
            </a:xfrm>
            <a:prstGeom prst="rect">
              <a:avLst/>
            </a:prstGeom>
            <a:noFill/>
            <a:ln>
              <a:noFill/>
            </a:ln>
          </p:spPr>
          <p:txBody>
            <a:bodyPr wrap="none" lIns="0" tIns="0" rIns="0" bIns="0" anchor="t" anchorCtr="0">
              <a:spAutoFit/>
            </a:bodyPr>
            <a:lstStyle/>
            <a:p>
              <a:pPr algn="l"/>
              <a:r>
                <a:rPr lang="vi-VN" sz="1800" b="1" dirty="0">
                  <a:solidFill>
                    <a:schemeClr val="accent1"/>
                  </a:solidFill>
                  <a:latin typeface="+mn-lt"/>
                  <a:ea typeface="+mn-ea"/>
                  <a:cs typeface="+mn-cs"/>
                </a:rPr>
                <a:t>Hercules → Python → CSV → Matplotlib</a:t>
              </a:r>
            </a:p>
          </p:txBody>
        </p:sp>
        <p:sp>
          <p:nvSpPr>
            <p:cNvPr id="8" name="TextBox 8"/>
            <p:cNvSpPr txBox="1"/>
            <p:nvPr/>
          </p:nvSpPr>
          <p:spPr>
            <a:xfrm>
              <a:off x="906018" y="4102100"/>
              <a:ext cx="3838637" cy="322707"/>
            </a:xfrm>
            <a:prstGeom prst="rect">
              <a:avLst/>
            </a:prstGeom>
            <a:noFill/>
            <a:ln>
              <a:noFill/>
            </a:ln>
          </p:spPr>
          <p:txBody>
            <a:bodyPr wrap="none" lIns="0" tIns="0" rIns="0" bIns="0" anchor="t" anchorCtr="0">
              <a:spAutoFit/>
            </a:bodyPr>
            <a:lstStyle/>
            <a:p>
              <a:pPr algn="l"/>
              <a:r>
                <a:rPr lang="vi-VN" sz="1650" dirty="0">
                  <a:solidFill>
                    <a:schemeClr val="dk1"/>
                  </a:solidFill>
                  <a:latin typeface="+mn-lt"/>
                  <a:ea typeface="+mn-ea"/>
                  <a:cs typeface="+mn-cs"/>
                </a:rPr>
                <a:t>Windows · VS Code · pyserial / SCPI</a:t>
              </a:r>
            </a:p>
          </p:txBody>
        </p:sp>
        <p:sp>
          <p:nvSpPr>
            <p:cNvPr id="9" name="TextBox 9"/>
            <p:cNvSpPr txBox="1"/>
            <p:nvPr/>
          </p:nvSpPr>
          <p:spPr>
            <a:xfrm>
              <a:off x="906018" y="4521200"/>
              <a:ext cx="3840353" cy="322707"/>
            </a:xfrm>
            <a:prstGeom prst="rect">
              <a:avLst/>
            </a:prstGeom>
            <a:noFill/>
            <a:ln>
              <a:noFill/>
            </a:ln>
          </p:spPr>
          <p:txBody>
            <a:bodyPr wrap="none" lIns="0" tIns="0" rIns="0" bIns="0" anchor="t" anchorCtr="0">
              <a:spAutoFit/>
            </a:bodyPr>
            <a:lstStyle/>
            <a:p>
              <a:pPr algn="l"/>
              <a:r>
                <a:rPr lang="vi-VN" sz="1650" dirty="0">
                  <a:solidFill>
                    <a:schemeClr val="dk1"/>
                  </a:solidFill>
                  <a:latin typeface="+mn-lt"/>
                  <a:ea typeface="+mn-ea"/>
                  <a:cs typeface="+mn-cs"/>
                </a:rPr>
                <a:t>Thực hành lớp: 9600 baud · 8N1 · CR</a:t>
              </a:r>
            </a:p>
          </p:txBody>
        </p:sp>
        <p:sp>
          <p:nvSpPr>
            <p:cNvPr id="10" name="TextBox 10"/>
            <p:cNvSpPr txBox="1"/>
            <p:nvPr/>
          </p:nvSpPr>
          <p:spPr>
            <a:xfrm>
              <a:off x="906018" y="4940300"/>
              <a:ext cx="4878001" cy="322707"/>
            </a:xfrm>
            <a:prstGeom prst="rect">
              <a:avLst/>
            </a:prstGeom>
            <a:noFill/>
            <a:ln>
              <a:noFill/>
            </a:ln>
          </p:spPr>
          <p:txBody>
            <a:bodyPr wrap="none" lIns="0" tIns="0" rIns="0" bIns="0" anchor="t" anchorCtr="0">
              <a:spAutoFit/>
            </a:bodyPr>
            <a:lstStyle/>
            <a:p>
              <a:pPr algn="l"/>
              <a:r>
                <a:rPr lang="vi-VN" sz="1650" dirty="0">
                  <a:solidFill>
                    <a:schemeClr val="dk1"/>
                  </a:solidFill>
                  <a:latin typeface="+mn-lt"/>
                  <a:ea typeface="+mn-ea"/>
                  <a:cs typeface="+mn-cs"/>
                </a:rPr>
                <a:t>Arduino đã chuẩn bị sẵn — không nạp firmware</a:t>
              </a:r>
            </a:p>
          </p:txBody>
        </p:sp>
        <p:sp>
          <p:nvSpPr>
            <p:cNvPr id="11" name="TextBox 11"/>
            <p:cNvSpPr txBox="1"/>
            <p:nvPr/>
          </p:nvSpPr>
          <p:spPr>
            <a:xfrm>
              <a:off x="907542" y="5626100"/>
              <a:ext cx="3964173" cy="264033"/>
            </a:xfrm>
            <a:prstGeom prst="rect">
              <a:avLst/>
            </a:prstGeom>
            <a:noFill/>
            <a:ln>
              <a:noFill/>
            </a:ln>
          </p:spPr>
          <p:txBody>
            <a:bodyPr wrap="none" lIns="0" tIns="0" rIns="0" bIns="0" anchor="t" anchorCtr="0">
              <a:spAutoFit/>
            </a:bodyPr>
            <a:lstStyle/>
            <a:p>
              <a:pPr algn="l"/>
              <a:r>
                <a:rPr lang="vi-VN" sz="1350" dirty="0">
                  <a:solidFill>
                    <a:schemeClr val="accent5"/>
                  </a:solidFill>
                  <a:latin typeface="+mn-lt"/>
                  <a:ea typeface="+mn-ea"/>
                  <a:cs typeface="+mn-cs"/>
                </a:rPr>
                <a:t>Mục tiêu: đo được, lưu được, giải thích được.</a:t>
              </a:r>
            </a:p>
          </p:txBody>
        </p:sp>
      </p:grpSp>
      <p:grpSp>
        <p:nvGrpSpPr>
          <p:cNvPr id="18" name="cover-images"/>
          <p:cNvGrpSpPr/>
          <p:nvPr/>
        </p:nvGrpSpPr>
        <p:grpSpPr>
          <a:xfrm>
            <a:off x="7518654" y="838200"/>
            <a:ext cx="3892296" cy="5549646"/>
            <a:chOff x="7518654" y="838200"/>
            <a:chExt cx="3892296" cy="5549646"/>
          </a:xfrm>
        </p:grpSpPr>
        <p:sp>
          <p:nvSpPr>
            <p:cNvPr id="13" name="Rectangle 13"/>
            <p:cNvSpPr/>
            <p:nvPr/>
          </p:nvSpPr>
          <p:spPr>
            <a:xfrm>
              <a:off x="7524750" y="838200"/>
              <a:ext cx="3886200" cy="2590800"/>
            </a:xfrm>
            <a:prstGeom prst="roundRect">
              <a:avLst>
                <a:gd name="adj" fmla="val 2206"/>
              </a:avLst>
            </a:prstGeom>
            <a:solidFill>
              <a:srgbClr val="FFFDF7"/>
            </a:solidFill>
            <a:ln w="14288">
              <a:solidFill>
                <a:schemeClr val="accent6"/>
              </a:solidFill>
            </a:ln>
          </p:spPr>
        </p:sp>
        <p:pic>
          <p:nvPicPr>
            <p:cNvPr id="14" name="Image 14"/>
            <p:cNvPicPr>
              <a:picLocks noChangeAspect="1"/>
            </p:cNvPicPr>
            <p:nvPr/>
          </p:nvPicPr>
          <p:blipFill>
            <a:blip r:embed="rId2"/>
            <a:stretch>
              <a:fillRect/>
            </a:stretch>
          </p:blipFill>
          <p:spPr>
            <a:xfrm>
              <a:off x="7610475" y="895350"/>
              <a:ext cx="3714750" cy="2476500"/>
            </a:xfrm>
            <a:prstGeom prst="rect">
              <a:avLst/>
            </a:prstGeom>
          </p:spPr>
        </p:pic>
        <p:sp>
          <p:nvSpPr>
            <p:cNvPr id="15" name="Rectangle 15"/>
            <p:cNvSpPr/>
            <p:nvPr/>
          </p:nvSpPr>
          <p:spPr>
            <a:xfrm>
              <a:off x="7524750" y="3562350"/>
              <a:ext cx="3886200" cy="2590800"/>
            </a:xfrm>
            <a:prstGeom prst="roundRect">
              <a:avLst>
                <a:gd name="adj" fmla="val 2206"/>
              </a:avLst>
            </a:prstGeom>
            <a:solidFill>
              <a:srgbClr val="FFFDF7"/>
            </a:solidFill>
            <a:ln w="14288">
              <a:solidFill>
                <a:schemeClr val="accent6"/>
              </a:solidFill>
            </a:ln>
          </p:spPr>
        </p:sp>
        <p:pic>
          <p:nvPicPr>
            <p:cNvPr id="16" name="Image 16"/>
            <p:cNvPicPr>
              <a:picLocks noChangeAspect="1"/>
            </p:cNvPicPr>
            <p:nvPr/>
          </p:nvPicPr>
          <p:blipFill>
            <a:blip r:embed="rId3"/>
            <a:stretch>
              <a:fillRect/>
            </a:stretch>
          </p:blipFill>
          <p:spPr>
            <a:xfrm>
              <a:off x="7610475" y="3619500"/>
              <a:ext cx="3714750" cy="2476500"/>
            </a:xfrm>
            <a:prstGeom prst="rect">
              <a:avLst/>
            </a:prstGeom>
          </p:spPr>
        </p:pic>
        <p:sp>
          <p:nvSpPr>
            <p:cNvPr id="17" name="TextBox 17"/>
            <p:cNvSpPr txBox="1"/>
            <p:nvPr/>
          </p:nvSpPr>
          <p:spPr>
            <a:xfrm>
              <a:off x="7518654" y="6153150"/>
              <a:ext cx="3341985" cy="234696"/>
            </a:xfrm>
            <a:prstGeom prst="rect">
              <a:avLst/>
            </a:prstGeom>
            <a:noFill/>
            <a:ln>
              <a:noFill/>
            </a:ln>
          </p:spPr>
          <p:txBody>
            <a:bodyPr wrap="none" lIns="0" tIns="0" rIns="0" bIns="0" anchor="t" anchorCtr="0">
              <a:spAutoFit/>
            </a:bodyPr>
            <a:lstStyle/>
            <a:p>
              <a:pPr algn="l"/>
              <a:r>
                <a:rPr lang="vi-VN" sz="1200" dirty="0">
                  <a:solidFill>
                    <a:schemeClr val="accent5"/>
                  </a:solidFill>
                  <a:latin typeface="+mn-lt"/>
                  <a:ea typeface="+mn-ea"/>
                  <a:cs typeface="+mn-cs"/>
                </a:rPr>
                <a:t>Nguồn ảnh: Tektronix / Keithley · tek.com</a:t>
              </a:r>
            </a:p>
          </p:txBody>
        </p:sp>
      </p:grpSp>
      <p:grpSp>
        <p:nvGrpSpPr>
          <p:cNvPr id="21" name="cover-footer"/>
          <p:cNvGrpSpPr/>
          <p:nvPr/>
        </p:nvGrpSpPr>
        <p:grpSpPr>
          <a:xfrm>
            <a:off x="679704" y="6429375"/>
            <a:ext cx="10832592" cy="234696"/>
            <a:chOff x="679704" y="6429375"/>
            <a:chExt cx="10832592" cy="234696"/>
          </a:xfrm>
        </p:grpSpPr>
        <p:sp>
          <p:nvSpPr>
            <p:cNvPr id="19" name="TextBox 19"/>
            <p:cNvSpPr txBox="1"/>
            <p:nvPr/>
          </p:nvSpPr>
          <p:spPr>
            <a:xfrm>
              <a:off x="679704" y="6429375"/>
              <a:ext cx="3306470" cy="234696"/>
            </a:xfrm>
            <a:prstGeom prst="rect">
              <a:avLst/>
            </a:prstGeom>
            <a:noFill/>
            <a:ln>
              <a:noFill/>
            </a:ln>
          </p:spPr>
          <p:txBody>
            <a:bodyPr wrap="none" lIns="0" tIns="0" rIns="0" bIns="0" anchor="t" anchorCtr="0">
              <a:spAutoFit/>
            </a:bodyPr>
            <a:lstStyle/>
            <a:p>
              <a:pPr algn="l"/>
              <a:r>
                <a:rPr lang="vi-VN" sz="1200" dirty="0">
                  <a:solidFill>
                    <a:schemeClr val="accent5"/>
                  </a:solidFill>
                  <a:latin typeface="+mn-lt"/>
                  <a:ea typeface="+mn-ea"/>
                  <a:cs typeface="+mn-cs"/>
                </a:rPr>
                <a:t>TỰ ĐỘNG HÓA · PYTHON / SERIAL / DỮ LIỆU</a:t>
              </a:r>
            </a:p>
          </p:txBody>
        </p:sp>
        <p:sp>
          <p:nvSpPr>
            <p:cNvPr id="20" name="TextBox 20"/>
            <p:cNvSpPr txBox="1"/>
            <p:nvPr/>
          </p:nvSpPr>
          <p:spPr>
            <a:xfrm>
              <a:off x="10958932" y="6429375"/>
              <a:ext cx="553364" cy="234696"/>
            </a:xfrm>
            <a:prstGeom prst="rect">
              <a:avLst/>
            </a:prstGeom>
            <a:noFill/>
            <a:ln>
              <a:noFill/>
            </a:ln>
          </p:spPr>
          <p:txBody>
            <a:bodyPr wrap="none" lIns="0" tIns="0" rIns="0" bIns="0" anchor="t" anchorCtr="0">
              <a:spAutoFit/>
            </a:bodyPr>
            <a:lstStyle/>
            <a:p>
              <a:pPr algn="r"/>
              <a:r>
                <a:rPr lang="vi-VN" sz="1200" dirty="0">
                  <a:solidFill>
                    <a:schemeClr val="accent5"/>
                  </a:solidFill>
                  <a:latin typeface="+mn-lt"/>
                  <a:ea typeface="+mn-ea"/>
                  <a:cs typeface="+mn-cs"/>
                </a:rPr>
                <a:t>01 / 25</a:t>
              </a:r>
            </a:p>
          </p:txBody>
        </p:sp>
      </p:gr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page-title"/>
          <p:cNvGrpSpPr/>
          <p:nvPr/>
        </p:nvGrpSpPr>
        <p:grpSpPr>
          <a:xfrm>
            <a:off x="669798" y="520700"/>
            <a:ext cx="10836402" cy="955675"/>
            <a:chOff x="669798" y="520700"/>
            <a:chExt cx="10836402" cy="955675"/>
          </a:xfrm>
        </p:grpSpPr>
        <p:sp>
          <p:nvSpPr>
            <p:cNvPr id="2" name="TextBox 2"/>
            <p:cNvSpPr txBox="1"/>
            <p:nvPr/>
          </p:nvSpPr>
          <p:spPr>
            <a:xfrm>
              <a:off x="678942" y="520700"/>
              <a:ext cx="1515824" cy="264033"/>
            </a:xfrm>
            <a:prstGeom prst="rect">
              <a:avLst/>
            </a:prstGeom>
            <a:noFill/>
            <a:ln>
              <a:noFill/>
            </a:ln>
          </p:spPr>
          <p:txBody>
            <a:bodyPr wrap="none" lIns="0" tIns="0" rIns="0" bIns="0" anchor="t" anchorCtr="0">
              <a:spAutoFit/>
            </a:bodyPr>
            <a:lstStyle/>
            <a:p>
              <a:pPr algn="l"/>
              <a:r>
                <a:rPr lang="vi-VN" sz="1350" b="1" dirty="0">
                  <a:solidFill>
                    <a:schemeClr val="accent3"/>
                  </a:solidFill>
                  <a:latin typeface="+mn-lt"/>
                  <a:ea typeface="+mn-ea"/>
                  <a:cs typeface="+mn-cs"/>
                </a:rPr>
                <a:t>01 · ĐỊNH HƯỚNG</a:t>
              </a:r>
            </a:p>
          </p:txBody>
        </p:sp>
        <p:sp>
          <p:nvSpPr>
            <p:cNvPr id="3" name="TextBox 3"/>
            <p:cNvSpPr txBox="1"/>
            <p:nvPr/>
          </p:nvSpPr>
          <p:spPr>
            <a:xfrm>
              <a:off x="669798" y="838200"/>
              <a:ext cx="8307080" cy="616077"/>
            </a:xfrm>
            <a:prstGeom prst="rect">
              <a:avLst/>
            </a:prstGeom>
            <a:noFill/>
            <a:ln>
              <a:noFill/>
            </a:ln>
          </p:spPr>
          <p:txBody>
            <a:bodyPr wrap="none" lIns="0" tIns="0" rIns="0" bIns="0" anchor="t" anchorCtr="0">
              <a:spAutoFit/>
            </a:bodyPr>
            <a:lstStyle/>
            <a:p>
              <a:pPr algn="l"/>
              <a:r>
                <a:rPr lang="vi-VN" sz="3150" b="1" dirty="0">
                  <a:solidFill>
                    <a:schemeClr val="accent1"/>
                  </a:solidFill>
                  <a:latin typeface="+mn-lt"/>
                  <a:ea typeface="+mn-ea"/>
                  <a:cs typeface="+mn-cs"/>
                </a:rPr>
                <a:t>Mục tiêu học tập và sản phẩm cuối buổi</a:t>
              </a:r>
            </a:p>
          </p:txBody>
        </p:sp>
        <p:sp>
          <p:nvSpPr>
            <p:cNvPr id="4" name="Line 4"/>
            <p:cNvSpPr/>
            <p:nvPr/>
          </p:nvSpPr>
          <p:spPr>
            <a:xfrm>
              <a:off x="685800" y="1466850"/>
              <a:ext cx="10820400" cy="9525"/>
            </a:xfrm>
            <a:custGeom>
              <a:avLst/>
              <a:gdLst/>
              <a:ahLst/>
              <a:cxnLst/>
              <a:rect l="l" t="t" r="r" b="b"/>
              <a:pathLst>
                <a:path w="10820400" h="9525">
                  <a:moveTo>
                    <a:pt x="0" y="0"/>
                  </a:moveTo>
                  <a:lnTo>
                    <a:pt x="10820400" y="0"/>
                  </a:lnTo>
                </a:path>
              </a:pathLst>
            </a:custGeom>
            <a:noFill/>
            <a:ln w="14288">
              <a:solidFill>
                <a:schemeClr val="accent6"/>
              </a:solidFill>
            </a:ln>
          </p:spPr>
        </p:sp>
      </p:grpSp>
      <p:grpSp>
        <p:nvGrpSpPr>
          <p:cNvPr id="22" name="learning-goals"/>
          <p:cNvGrpSpPr/>
          <p:nvPr/>
        </p:nvGrpSpPr>
        <p:grpSpPr>
          <a:xfrm>
            <a:off x="678942" y="1911350"/>
            <a:ext cx="5804542" cy="3615944"/>
            <a:chOff x="678942" y="1911350"/>
            <a:chExt cx="5804542" cy="3615944"/>
          </a:xfrm>
        </p:grpSpPr>
        <p:sp>
          <p:nvSpPr>
            <p:cNvPr id="6" name="TextBox 6"/>
            <p:cNvSpPr txBox="1"/>
            <p:nvPr/>
          </p:nvSpPr>
          <p:spPr>
            <a:xfrm>
              <a:off x="678942" y="1911350"/>
              <a:ext cx="1606555" cy="264033"/>
            </a:xfrm>
            <a:prstGeom prst="rect">
              <a:avLst/>
            </a:prstGeom>
            <a:noFill/>
            <a:ln>
              <a:noFill/>
            </a:ln>
          </p:spPr>
          <p:txBody>
            <a:bodyPr wrap="none" lIns="0" tIns="0" rIns="0" bIns="0" anchor="t" anchorCtr="0">
              <a:spAutoFit/>
            </a:bodyPr>
            <a:lstStyle/>
            <a:p>
              <a:pPr algn="l"/>
              <a:r>
                <a:rPr lang="vi-VN" sz="1350" b="1" dirty="0">
                  <a:solidFill>
                    <a:schemeClr val="accent5"/>
                  </a:solidFill>
                  <a:latin typeface="+mn-lt"/>
                  <a:ea typeface="+mn-ea"/>
                  <a:cs typeface="+mn-cs"/>
                </a:rPr>
                <a:t>KẾT QUẢ HỌC TẬP</a:t>
              </a:r>
            </a:p>
          </p:txBody>
        </p:sp>
        <p:sp>
          <p:nvSpPr>
            <p:cNvPr id="7" name="Ellipse 7"/>
            <p:cNvSpPr/>
            <p:nvPr/>
          </p:nvSpPr>
          <p:spPr>
            <a:xfrm>
              <a:off x="742950" y="2400300"/>
              <a:ext cx="342900" cy="342900"/>
            </a:xfrm>
            <a:prstGeom prst="ellipse">
              <a:avLst/>
            </a:prstGeom>
            <a:solidFill>
              <a:schemeClr val="accent1"/>
            </a:solidFill>
            <a:ln>
              <a:noFill/>
            </a:ln>
          </p:spPr>
        </p:sp>
        <p:sp>
          <p:nvSpPr>
            <p:cNvPr id="8" name="TextBox 8"/>
            <p:cNvSpPr txBox="1"/>
            <p:nvPr/>
          </p:nvSpPr>
          <p:spPr>
            <a:xfrm>
              <a:off x="815012" y="2476500"/>
              <a:ext cx="198775" cy="234696"/>
            </a:xfrm>
            <a:prstGeom prst="rect">
              <a:avLst/>
            </a:prstGeom>
            <a:noFill/>
            <a:ln>
              <a:noFill/>
            </a:ln>
          </p:spPr>
          <p:txBody>
            <a:bodyPr wrap="none" lIns="0" tIns="0" rIns="0" bIns="0" anchor="t" anchorCtr="0">
              <a:spAutoFit/>
            </a:bodyPr>
            <a:lstStyle/>
            <a:p>
              <a:pPr algn="ctr"/>
              <a:r>
                <a:rPr lang="vi-VN" sz="1200" b="1" dirty="0">
                  <a:solidFill>
                    <a:srgbClr val="FFFDF7"/>
                  </a:solidFill>
                  <a:latin typeface="+mn-lt"/>
                  <a:ea typeface="+mn-ea"/>
                  <a:cs typeface="+mn-cs"/>
                </a:rPr>
                <a:t>01</a:t>
              </a:r>
            </a:p>
          </p:txBody>
        </p:sp>
        <p:sp>
          <p:nvSpPr>
            <p:cNvPr id="9" name="TextBox 9"/>
            <p:cNvSpPr txBox="1"/>
            <p:nvPr/>
          </p:nvSpPr>
          <p:spPr>
            <a:xfrm>
              <a:off x="1210056" y="2432050"/>
              <a:ext cx="5001228" cy="352044"/>
            </a:xfrm>
            <a:prstGeom prst="rect">
              <a:avLst/>
            </a:prstGeom>
            <a:noFill/>
            <a:ln>
              <a:noFill/>
            </a:ln>
          </p:spPr>
          <p:txBody>
            <a:bodyPr wrap="none" lIns="0" tIns="0" rIns="0" bIns="0" anchor="t" anchorCtr="0">
              <a:spAutoFit/>
            </a:bodyPr>
            <a:lstStyle/>
            <a:p>
              <a:pPr algn="l"/>
              <a:r>
                <a:rPr lang="vi-VN" sz="1800" dirty="0">
                  <a:solidFill>
                    <a:schemeClr val="dk1"/>
                  </a:solidFill>
                  <a:latin typeface="+mn-lt"/>
                  <a:ea typeface="+mn-ea"/>
                  <a:cs typeface="+mn-cs"/>
                </a:rPr>
                <a:t>Chọn đúng COM; thiết lập 9600 / 8N1 / CR.</a:t>
              </a:r>
            </a:p>
          </p:txBody>
        </p:sp>
        <p:sp>
          <p:nvSpPr>
            <p:cNvPr id="10" name="Ellipse 10"/>
            <p:cNvSpPr/>
            <p:nvPr/>
          </p:nvSpPr>
          <p:spPr>
            <a:xfrm>
              <a:off x="742950" y="3086100"/>
              <a:ext cx="342900" cy="342900"/>
            </a:xfrm>
            <a:prstGeom prst="ellipse">
              <a:avLst/>
            </a:prstGeom>
            <a:solidFill>
              <a:schemeClr val="accent1"/>
            </a:solidFill>
            <a:ln>
              <a:noFill/>
            </a:ln>
          </p:spPr>
        </p:sp>
        <p:sp>
          <p:nvSpPr>
            <p:cNvPr id="11" name="TextBox 11"/>
            <p:cNvSpPr txBox="1"/>
            <p:nvPr/>
          </p:nvSpPr>
          <p:spPr>
            <a:xfrm>
              <a:off x="815012" y="3162300"/>
              <a:ext cx="198775" cy="234696"/>
            </a:xfrm>
            <a:prstGeom prst="rect">
              <a:avLst/>
            </a:prstGeom>
            <a:noFill/>
            <a:ln>
              <a:noFill/>
            </a:ln>
          </p:spPr>
          <p:txBody>
            <a:bodyPr wrap="none" lIns="0" tIns="0" rIns="0" bIns="0" anchor="t" anchorCtr="0">
              <a:spAutoFit/>
            </a:bodyPr>
            <a:lstStyle/>
            <a:p>
              <a:pPr algn="ctr"/>
              <a:r>
                <a:rPr lang="vi-VN" sz="1200" b="1" dirty="0">
                  <a:solidFill>
                    <a:srgbClr val="FFFDF7"/>
                  </a:solidFill>
                  <a:latin typeface="+mn-lt"/>
                  <a:ea typeface="+mn-ea"/>
                  <a:cs typeface="+mn-cs"/>
                </a:rPr>
                <a:t>02</a:t>
              </a:r>
            </a:p>
          </p:txBody>
        </p:sp>
        <p:sp>
          <p:nvSpPr>
            <p:cNvPr id="12" name="TextBox 12"/>
            <p:cNvSpPr txBox="1"/>
            <p:nvPr/>
          </p:nvSpPr>
          <p:spPr>
            <a:xfrm>
              <a:off x="1210056" y="3117850"/>
              <a:ext cx="4218829" cy="352044"/>
            </a:xfrm>
            <a:prstGeom prst="rect">
              <a:avLst/>
            </a:prstGeom>
            <a:noFill/>
            <a:ln>
              <a:noFill/>
            </a:ln>
          </p:spPr>
          <p:txBody>
            <a:bodyPr wrap="none" lIns="0" tIns="0" rIns="0" bIns="0" anchor="t" anchorCtr="0">
              <a:spAutoFit/>
            </a:bodyPr>
            <a:lstStyle/>
            <a:p>
              <a:pPr algn="l"/>
              <a:r>
                <a:rPr lang="vi-VN" sz="1800" dirty="0">
                  <a:solidFill>
                    <a:schemeClr val="dk1"/>
                  </a:solidFill>
                  <a:latin typeface="+mn-lt"/>
                  <a:ea typeface="+mn-ea"/>
                  <a:cs typeface="+mn-cs"/>
                </a:rPr>
                <a:t>Phân biệt lệnh cấu hình và truy vấn.</a:t>
              </a:r>
            </a:p>
          </p:txBody>
        </p:sp>
        <p:sp>
          <p:nvSpPr>
            <p:cNvPr id="13" name="Ellipse 13"/>
            <p:cNvSpPr/>
            <p:nvPr/>
          </p:nvSpPr>
          <p:spPr>
            <a:xfrm>
              <a:off x="742950" y="3771900"/>
              <a:ext cx="342900" cy="342900"/>
            </a:xfrm>
            <a:prstGeom prst="ellipse">
              <a:avLst/>
            </a:prstGeom>
            <a:solidFill>
              <a:schemeClr val="accent1"/>
            </a:solidFill>
            <a:ln>
              <a:noFill/>
            </a:ln>
          </p:spPr>
        </p:sp>
        <p:sp>
          <p:nvSpPr>
            <p:cNvPr id="14" name="TextBox 14"/>
            <p:cNvSpPr txBox="1"/>
            <p:nvPr/>
          </p:nvSpPr>
          <p:spPr>
            <a:xfrm>
              <a:off x="815012" y="3848100"/>
              <a:ext cx="198775" cy="234696"/>
            </a:xfrm>
            <a:prstGeom prst="rect">
              <a:avLst/>
            </a:prstGeom>
            <a:noFill/>
            <a:ln>
              <a:noFill/>
            </a:ln>
          </p:spPr>
          <p:txBody>
            <a:bodyPr wrap="none" lIns="0" tIns="0" rIns="0" bIns="0" anchor="t" anchorCtr="0">
              <a:spAutoFit/>
            </a:bodyPr>
            <a:lstStyle/>
            <a:p>
              <a:pPr algn="ctr"/>
              <a:r>
                <a:rPr lang="vi-VN" sz="1200" b="1" dirty="0">
                  <a:solidFill>
                    <a:srgbClr val="FFFDF7"/>
                  </a:solidFill>
                  <a:latin typeface="+mn-lt"/>
                  <a:ea typeface="+mn-ea"/>
                  <a:cs typeface="+mn-cs"/>
                </a:rPr>
                <a:t>03</a:t>
              </a:r>
            </a:p>
          </p:txBody>
        </p:sp>
        <p:sp>
          <p:nvSpPr>
            <p:cNvPr id="15" name="TextBox 15"/>
            <p:cNvSpPr txBox="1"/>
            <p:nvPr/>
          </p:nvSpPr>
          <p:spPr>
            <a:xfrm>
              <a:off x="1210056" y="3803650"/>
              <a:ext cx="5273428" cy="352044"/>
            </a:xfrm>
            <a:prstGeom prst="rect">
              <a:avLst/>
            </a:prstGeom>
            <a:noFill/>
            <a:ln>
              <a:noFill/>
            </a:ln>
          </p:spPr>
          <p:txBody>
            <a:bodyPr wrap="none" lIns="0" tIns="0" rIns="0" bIns="0" anchor="t" anchorCtr="0">
              <a:spAutoFit/>
            </a:bodyPr>
            <a:lstStyle/>
            <a:p>
              <a:pPr algn="l"/>
              <a:r>
                <a:rPr lang="vi-VN" sz="1800" dirty="0">
                  <a:solidFill>
                    <a:schemeClr val="dk1"/>
                  </a:solidFill>
                  <a:latin typeface="+mn-lt"/>
                  <a:ea typeface="+mn-ea"/>
                  <a:cs typeface="+mn-cs"/>
                </a:rPr>
                <a:t>Vận dụng hàm, vòng lặp, timeout và xử lý lỗi.</a:t>
              </a:r>
            </a:p>
          </p:txBody>
        </p:sp>
        <p:sp>
          <p:nvSpPr>
            <p:cNvPr id="16" name="Ellipse 16"/>
            <p:cNvSpPr/>
            <p:nvPr/>
          </p:nvSpPr>
          <p:spPr>
            <a:xfrm>
              <a:off x="742950" y="4457700"/>
              <a:ext cx="342900" cy="342900"/>
            </a:xfrm>
            <a:prstGeom prst="ellipse">
              <a:avLst/>
            </a:prstGeom>
            <a:solidFill>
              <a:schemeClr val="accent1"/>
            </a:solidFill>
            <a:ln>
              <a:noFill/>
            </a:ln>
          </p:spPr>
        </p:sp>
        <p:sp>
          <p:nvSpPr>
            <p:cNvPr id="17" name="TextBox 17"/>
            <p:cNvSpPr txBox="1"/>
            <p:nvPr/>
          </p:nvSpPr>
          <p:spPr>
            <a:xfrm>
              <a:off x="815012" y="4533900"/>
              <a:ext cx="198775" cy="234696"/>
            </a:xfrm>
            <a:prstGeom prst="rect">
              <a:avLst/>
            </a:prstGeom>
            <a:noFill/>
            <a:ln>
              <a:noFill/>
            </a:ln>
          </p:spPr>
          <p:txBody>
            <a:bodyPr wrap="none" lIns="0" tIns="0" rIns="0" bIns="0" anchor="t" anchorCtr="0">
              <a:spAutoFit/>
            </a:bodyPr>
            <a:lstStyle/>
            <a:p>
              <a:pPr algn="ctr"/>
              <a:r>
                <a:rPr lang="vi-VN" sz="1200" b="1" dirty="0">
                  <a:solidFill>
                    <a:srgbClr val="FFFDF7"/>
                  </a:solidFill>
                  <a:latin typeface="+mn-lt"/>
                  <a:ea typeface="+mn-ea"/>
                  <a:cs typeface="+mn-cs"/>
                </a:rPr>
                <a:t>04</a:t>
              </a:r>
            </a:p>
          </p:txBody>
        </p:sp>
        <p:sp>
          <p:nvSpPr>
            <p:cNvPr id="18" name="TextBox 18"/>
            <p:cNvSpPr txBox="1"/>
            <p:nvPr/>
          </p:nvSpPr>
          <p:spPr>
            <a:xfrm>
              <a:off x="1210056" y="4489450"/>
              <a:ext cx="4172204" cy="352044"/>
            </a:xfrm>
            <a:prstGeom prst="rect">
              <a:avLst/>
            </a:prstGeom>
            <a:noFill/>
            <a:ln>
              <a:noFill/>
            </a:ln>
          </p:spPr>
          <p:txBody>
            <a:bodyPr wrap="none" lIns="0" tIns="0" rIns="0" bIns="0" anchor="t" anchorCtr="0">
              <a:spAutoFit/>
            </a:bodyPr>
            <a:lstStyle/>
            <a:p>
              <a:pPr algn="l"/>
              <a:r>
                <a:rPr lang="vi-VN" sz="1800" dirty="0">
                  <a:solidFill>
                    <a:schemeClr val="dk1"/>
                  </a:solidFill>
                  <a:latin typeface="+mn-lt"/>
                  <a:ea typeface="+mn-ea"/>
                  <a:cs typeface="+mn-cs"/>
                </a:rPr>
                <a:t>Đo lặp và lưu CSV kèm dấu thời gian.</a:t>
              </a:r>
            </a:p>
          </p:txBody>
        </p:sp>
        <p:sp>
          <p:nvSpPr>
            <p:cNvPr id="19" name="Ellipse 19"/>
            <p:cNvSpPr/>
            <p:nvPr/>
          </p:nvSpPr>
          <p:spPr>
            <a:xfrm>
              <a:off x="742950" y="5143500"/>
              <a:ext cx="342900" cy="342900"/>
            </a:xfrm>
            <a:prstGeom prst="ellipse">
              <a:avLst/>
            </a:prstGeom>
            <a:solidFill>
              <a:schemeClr val="accent2"/>
            </a:solidFill>
            <a:ln>
              <a:noFill/>
            </a:ln>
          </p:spPr>
        </p:sp>
        <p:sp>
          <p:nvSpPr>
            <p:cNvPr id="20" name="TextBox 20"/>
            <p:cNvSpPr txBox="1"/>
            <p:nvPr/>
          </p:nvSpPr>
          <p:spPr>
            <a:xfrm>
              <a:off x="815012" y="5219700"/>
              <a:ext cx="198775" cy="234696"/>
            </a:xfrm>
            <a:prstGeom prst="rect">
              <a:avLst/>
            </a:prstGeom>
            <a:noFill/>
            <a:ln>
              <a:noFill/>
            </a:ln>
          </p:spPr>
          <p:txBody>
            <a:bodyPr wrap="none" lIns="0" tIns="0" rIns="0" bIns="0" anchor="t" anchorCtr="0">
              <a:spAutoFit/>
            </a:bodyPr>
            <a:lstStyle/>
            <a:p>
              <a:pPr algn="ctr"/>
              <a:r>
                <a:rPr lang="vi-VN" sz="1200" b="1" dirty="0">
                  <a:solidFill>
                    <a:srgbClr val="FFFDF7"/>
                  </a:solidFill>
                  <a:latin typeface="+mn-lt"/>
                  <a:ea typeface="+mn-ea"/>
                  <a:cs typeface="+mn-cs"/>
                </a:rPr>
                <a:t>05</a:t>
              </a:r>
            </a:p>
          </p:txBody>
        </p:sp>
        <p:sp>
          <p:nvSpPr>
            <p:cNvPr id="21" name="TextBox 21"/>
            <p:cNvSpPr txBox="1"/>
            <p:nvPr/>
          </p:nvSpPr>
          <p:spPr>
            <a:xfrm>
              <a:off x="1210056" y="5175250"/>
              <a:ext cx="4424908" cy="352044"/>
            </a:xfrm>
            <a:prstGeom prst="rect">
              <a:avLst/>
            </a:prstGeom>
            <a:noFill/>
            <a:ln>
              <a:noFill/>
            </a:ln>
          </p:spPr>
          <p:txBody>
            <a:bodyPr wrap="none" lIns="0" tIns="0" rIns="0" bIns="0" anchor="t" anchorCtr="0">
              <a:spAutoFit/>
            </a:bodyPr>
            <a:lstStyle/>
            <a:p>
              <a:pPr algn="l"/>
              <a:r>
                <a:rPr lang="vi-VN" sz="1800" dirty="0">
                  <a:solidFill>
                    <a:schemeClr val="dk1"/>
                  </a:solidFill>
                  <a:latin typeface="+mn-lt"/>
                  <a:ea typeface="+mn-ea"/>
                  <a:cs typeface="+mn-cs"/>
                </a:rPr>
                <a:t>Tạo đồ thị tĩnh và cập nhật trực tiếp.</a:t>
              </a:r>
            </a:p>
          </p:txBody>
        </p:sp>
      </p:grpSp>
      <p:grpSp>
        <p:nvGrpSpPr>
          <p:cNvPr id="35" name="deliverables"/>
          <p:cNvGrpSpPr/>
          <p:nvPr/>
        </p:nvGrpSpPr>
        <p:grpSpPr>
          <a:xfrm>
            <a:off x="7600950" y="1809750"/>
            <a:ext cx="3905250" cy="4114800"/>
            <a:chOff x="7600950" y="1809750"/>
            <a:chExt cx="3905250" cy="4114800"/>
          </a:xfrm>
        </p:grpSpPr>
        <p:sp>
          <p:nvSpPr>
            <p:cNvPr id="23" name="Rectangle 23"/>
            <p:cNvSpPr/>
            <p:nvPr/>
          </p:nvSpPr>
          <p:spPr>
            <a:xfrm>
              <a:off x="7600950" y="1809750"/>
              <a:ext cx="3905250" cy="4114800"/>
            </a:xfrm>
            <a:prstGeom prst="roundRect">
              <a:avLst>
                <a:gd name="adj" fmla="val 1463"/>
              </a:avLst>
            </a:prstGeom>
            <a:solidFill>
              <a:schemeClr val="lt2"/>
            </a:solidFill>
            <a:ln>
              <a:noFill/>
            </a:ln>
          </p:spPr>
        </p:sp>
        <p:sp>
          <p:nvSpPr>
            <p:cNvPr id="24" name="TextBox 24"/>
            <p:cNvSpPr txBox="1"/>
            <p:nvPr/>
          </p:nvSpPr>
          <p:spPr>
            <a:xfrm>
              <a:off x="7879842" y="2006600"/>
              <a:ext cx="1777937" cy="264033"/>
            </a:xfrm>
            <a:prstGeom prst="rect">
              <a:avLst/>
            </a:prstGeom>
            <a:noFill/>
            <a:ln>
              <a:noFill/>
            </a:ln>
          </p:spPr>
          <p:txBody>
            <a:bodyPr wrap="none" lIns="0" tIns="0" rIns="0" bIns="0" anchor="t" anchorCtr="0">
              <a:spAutoFit/>
            </a:bodyPr>
            <a:lstStyle/>
            <a:p>
              <a:pPr algn="l"/>
              <a:r>
                <a:rPr lang="vi-VN" sz="1350" b="1" dirty="0">
                  <a:solidFill>
                    <a:schemeClr val="accent1"/>
                  </a:solidFill>
                  <a:latin typeface="+mn-lt"/>
                  <a:ea typeface="+mn-ea"/>
                  <a:cs typeface="+mn-cs"/>
                </a:rPr>
                <a:t>SẢN PHẨM BÀN GIAO</a:t>
              </a:r>
            </a:p>
          </p:txBody>
        </p:sp>
        <p:sp>
          <p:nvSpPr>
            <p:cNvPr id="25" name="Line 25"/>
            <p:cNvSpPr/>
            <p:nvPr/>
          </p:nvSpPr>
          <p:spPr>
            <a:xfrm>
              <a:off x="7886700" y="2324100"/>
              <a:ext cx="3333750" cy="9525"/>
            </a:xfrm>
            <a:custGeom>
              <a:avLst/>
              <a:gdLst/>
              <a:ahLst/>
              <a:cxnLst/>
              <a:rect l="l" t="t" r="r" b="b"/>
              <a:pathLst>
                <a:path w="3333750" h="9525">
                  <a:moveTo>
                    <a:pt x="0" y="0"/>
                  </a:moveTo>
                  <a:lnTo>
                    <a:pt x="3333750" y="0"/>
                  </a:lnTo>
                </a:path>
              </a:pathLst>
            </a:custGeom>
            <a:noFill/>
            <a:ln w="14288">
              <a:solidFill>
                <a:schemeClr val="accent6"/>
              </a:solidFill>
            </a:ln>
          </p:spPr>
        </p:sp>
        <p:sp>
          <p:nvSpPr>
            <p:cNvPr id="26" name="TextBox 26"/>
            <p:cNvSpPr txBox="1"/>
            <p:nvPr/>
          </p:nvSpPr>
          <p:spPr>
            <a:xfrm>
              <a:off x="7878318" y="2559050"/>
              <a:ext cx="2732431" cy="322707"/>
            </a:xfrm>
            <a:prstGeom prst="rect">
              <a:avLst/>
            </a:prstGeom>
            <a:noFill/>
            <a:ln>
              <a:noFill/>
            </a:ln>
          </p:spPr>
          <p:txBody>
            <a:bodyPr wrap="none" lIns="0" tIns="0" rIns="0" bIns="0" anchor="t" anchorCtr="0">
              <a:spAutoFit/>
            </a:bodyPr>
            <a:lstStyle/>
            <a:p>
              <a:pPr algn="l"/>
              <a:r>
                <a:rPr lang="vi-VN" sz="1650" b="1" dirty="0">
                  <a:solidFill>
                    <a:schemeClr val="dk1"/>
                  </a:solidFill>
                  <a:latin typeface="+mn-lt"/>
                  <a:ea typeface="+mn-ea"/>
                  <a:cs typeface="+mn-cs"/>
                </a:rPr>
                <a:t>01 · Mã nguồn thực hành</a:t>
              </a:r>
            </a:p>
          </p:txBody>
        </p:sp>
        <p:sp>
          <p:nvSpPr>
            <p:cNvPr id="27" name="TextBox 27"/>
            <p:cNvSpPr txBox="1"/>
            <p:nvPr/>
          </p:nvSpPr>
          <p:spPr>
            <a:xfrm>
              <a:off x="7879842" y="2882900"/>
              <a:ext cx="2779618" cy="264033"/>
            </a:xfrm>
            <a:prstGeom prst="rect">
              <a:avLst/>
            </a:prstGeom>
            <a:noFill/>
            <a:ln>
              <a:noFill/>
            </a:ln>
          </p:spPr>
          <p:txBody>
            <a:bodyPr wrap="none" lIns="0" tIns="0" rIns="0" bIns="0" anchor="t" anchorCtr="0">
              <a:spAutoFit/>
            </a:bodyPr>
            <a:lstStyle/>
            <a:p>
              <a:pPr algn="l"/>
              <a:r>
                <a:rPr lang="vi-VN" sz="1350" dirty="0">
                  <a:solidFill>
                    <a:schemeClr val="accent5"/>
                  </a:solidFill>
                  <a:latin typeface="+mn-lt"/>
                  <a:ea typeface="+mn-ea"/>
                  <a:cs typeface="+mn-cs"/>
                </a:rPr>
                <a:t>COM, SCPI, đo và xử lý phản hồi</a:t>
              </a:r>
            </a:p>
          </p:txBody>
        </p:sp>
        <p:sp>
          <p:nvSpPr>
            <p:cNvPr id="28" name="Line 28"/>
            <p:cNvSpPr/>
            <p:nvPr/>
          </p:nvSpPr>
          <p:spPr>
            <a:xfrm>
              <a:off x="7886700" y="3276600"/>
              <a:ext cx="3333750" cy="9525"/>
            </a:xfrm>
            <a:custGeom>
              <a:avLst/>
              <a:gdLst/>
              <a:ahLst/>
              <a:cxnLst/>
              <a:rect l="l" t="t" r="r" b="b"/>
              <a:pathLst>
                <a:path w="3333750" h="9525">
                  <a:moveTo>
                    <a:pt x="0" y="0"/>
                  </a:moveTo>
                  <a:lnTo>
                    <a:pt x="3333750" y="0"/>
                  </a:lnTo>
                </a:path>
              </a:pathLst>
            </a:custGeom>
            <a:noFill/>
            <a:ln w="9525">
              <a:solidFill>
                <a:schemeClr val="accent6"/>
              </a:solidFill>
            </a:ln>
          </p:spPr>
        </p:sp>
        <p:sp>
          <p:nvSpPr>
            <p:cNvPr id="29" name="TextBox 29"/>
            <p:cNvSpPr txBox="1"/>
            <p:nvPr/>
          </p:nvSpPr>
          <p:spPr>
            <a:xfrm>
              <a:off x="7877556" y="3498850"/>
              <a:ext cx="2662304" cy="352044"/>
            </a:xfrm>
            <a:prstGeom prst="rect">
              <a:avLst/>
            </a:prstGeom>
            <a:noFill/>
            <a:ln>
              <a:noFill/>
            </a:ln>
          </p:spPr>
          <p:txBody>
            <a:bodyPr wrap="none" lIns="0" tIns="0" rIns="0" bIns="0" anchor="t" anchorCtr="0">
              <a:spAutoFit/>
            </a:bodyPr>
            <a:lstStyle/>
            <a:p>
              <a:pPr algn="l"/>
              <a:r>
                <a:rPr lang="vi-VN" sz="1800" b="1" dirty="0">
                  <a:solidFill>
                    <a:schemeClr val="dk1"/>
                  </a:solidFill>
                  <a:latin typeface="+mn-lt"/>
                  <a:ea typeface="+mn-ea"/>
                  <a:cs typeface="+mn-cs"/>
                </a:rPr>
                <a:t>02 · Nhật ký giao tiếp</a:t>
              </a:r>
            </a:p>
          </p:txBody>
        </p:sp>
        <p:sp>
          <p:nvSpPr>
            <p:cNvPr id="30" name="TextBox 30"/>
            <p:cNvSpPr txBox="1"/>
            <p:nvPr/>
          </p:nvSpPr>
          <p:spPr>
            <a:xfrm>
              <a:off x="7879842" y="3835400"/>
              <a:ext cx="3600472" cy="264033"/>
            </a:xfrm>
            <a:prstGeom prst="rect">
              <a:avLst/>
            </a:prstGeom>
            <a:noFill/>
            <a:ln>
              <a:noFill/>
            </a:ln>
          </p:spPr>
          <p:txBody>
            <a:bodyPr wrap="none" lIns="0" tIns="0" rIns="0" bIns="0" anchor="t" anchorCtr="0">
              <a:spAutoFit/>
            </a:bodyPr>
            <a:lstStyle/>
            <a:p>
              <a:pPr algn="l"/>
              <a:r>
                <a:rPr lang="vi-VN" sz="1350" dirty="0">
                  <a:solidFill>
                    <a:schemeClr val="accent5"/>
                  </a:solidFill>
                  <a:latin typeface="+mn-lt"/>
                  <a:ea typeface="+mn-ea"/>
                  <a:cs typeface="+mn-cs"/>
                </a:rPr>
                <a:t>Truy vấn, phản hồi và mã lỗi cần kiểm tra</a:t>
              </a:r>
            </a:p>
          </p:txBody>
        </p:sp>
        <p:sp>
          <p:nvSpPr>
            <p:cNvPr id="31" name="Line 31"/>
            <p:cNvSpPr/>
            <p:nvPr/>
          </p:nvSpPr>
          <p:spPr>
            <a:xfrm>
              <a:off x="7886700" y="4229100"/>
              <a:ext cx="3333750" cy="9525"/>
            </a:xfrm>
            <a:custGeom>
              <a:avLst/>
              <a:gdLst/>
              <a:ahLst/>
              <a:cxnLst/>
              <a:rect l="l" t="t" r="r" b="b"/>
              <a:pathLst>
                <a:path w="3333750" h="9525">
                  <a:moveTo>
                    <a:pt x="0" y="0"/>
                  </a:moveTo>
                  <a:lnTo>
                    <a:pt x="3333750" y="0"/>
                  </a:lnTo>
                </a:path>
              </a:pathLst>
            </a:custGeom>
            <a:noFill/>
            <a:ln w="9525">
              <a:solidFill>
                <a:schemeClr val="accent6"/>
              </a:solidFill>
            </a:ln>
          </p:spPr>
        </p:sp>
        <p:sp>
          <p:nvSpPr>
            <p:cNvPr id="32" name="TextBox 32"/>
            <p:cNvSpPr txBox="1"/>
            <p:nvPr/>
          </p:nvSpPr>
          <p:spPr>
            <a:xfrm>
              <a:off x="7877556" y="4451350"/>
              <a:ext cx="2195840" cy="352044"/>
            </a:xfrm>
            <a:prstGeom prst="rect">
              <a:avLst/>
            </a:prstGeom>
            <a:noFill/>
            <a:ln>
              <a:noFill/>
            </a:ln>
          </p:spPr>
          <p:txBody>
            <a:bodyPr wrap="none" lIns="0" tIns="0" rIns="0" bIns="0" anchor="t" anchorCtr="0">
              <a:spAutoFit/>
            </a:bodyPr>
            <a:lstStyle/>
            <a:p>
              <a:pPr algn="l"/>
              <a:r>
                <a:rPr lang="vi-VN" sz="1800" b="1" dirty="0">
                  <a:solidFill>
                    <a:schemeClr val="dk1"/>
                  </a:solidFill>
                  <a:latin typeface="+mn-lt"/>
                  <a:ea typeface="+mn-ea"/>
                  <a:cs typeface="+mn-cs"/>
                </a:rPr>
                <a:t>03 · CSV + biểu đồ</a:t>
              </a:r>
            </a:p>
          </p:txBody>
        </p:sp>
        <p:sp>
          <p:nvSpPr>
            <p:cNvPr id="33" name="TextBox 33"/>
            <p:cNvSpPr txBox="1"/>
            <p:nvPr/>
          </p:nvSpPr>
          <p:spPr>
            <a:xfrm>
              <a:off x="7879842" y="4787900"/>
              <a:ext cx="3046225" cy="264033"/>
            </a:xfrm>
            <a:prstGeom prst="rect">
              <a:avLst/>
            </a:prstGeom>
            <a:noFill/>
            <a:ln>
              <a:noFill/>
            </a:ln>
          </p:spPr>
          <p:txBody>
            <a:bodyPr wrap="none" lIns="0" tIns="0" rIns="0" bIns="0" anchor="t" anchorCtr="0">
              <a:spAutoFit/>
            </a:bodyPr>
            <a:lstStyle/>
            <a:p>
              <a:pPr algn="l"/>
              <a:r>
                <a:rPr lang="vi-VN" sz="1350" dirty="0">
                  <a:solidFill>
                    <a:schemeClr val="accent5"/>
                  </a:solidFill>
                  <a:latin typeface="+mn-lt"/>
                  <a:ea typeface="+mn-ea"/>
                  <a:cs typeface="+mn-cs"/>
                </a:rPr>
                <a:t>Gồm cột value, đơn vị và nhãn trục</a:t>
              </a:r>
            </a:p>
          </p:txBody>
        </p:sp>
        <p:sp>
          <p:nvSpPr>
            <p:cNvPr id="34" name="TextBox 34"/>
            <p:cNvSpPr txBox="1"/>
            <p:nvPr/>
          </p:nvSpPr>
          <p:spPr>
            <a:xfrm>
              <a:off x="7879842" y="5340350"/>
              <a:ext cx="2586900" cy="264033"/>
            </a:xfrm>
            <a:prstGeom prst="rect">
              <a:avLst/>
            </a:prstGeom>
            <a:noFill/>
            <a:ln>
              <a:noFill/>
            </a:ln>
          </p:spPr>
          <p:txBody>
            <a:bodyPr wrap="none" lIns="0" tIns="0" rIns="0" bIns="0" anchor="t" anchorCtr="0">
              <a:spAutoFit/>
            </a:bodyPr>
            <a:lstStyle/>
            <a:p>
              <a:pPr algn="l"/>
              <a:r>
                <a:rPr lang="vi-VN" sz="1350" b="1" dirty="0">
                  <a:solidFill>
                    <a:schemeClr val="accent3"/>
                  </a:solidFill>
                  <a:latin typeface="+mn-lt"/>
                  <a:ea typeface="+mn-ea"/>
                  <a:cs typeface="+mn-cs"/>
                </a:rPr>
                <a:t>Ưu tiên độ chính xác dữ liệu.</a:t>
              </a:r>
            </a:p>
          </p:txBody>
        </p:sp>
      </p:grpSp>
      <p:grpSp>
        <p:nvGrpSpPr>
          <p:cNvPr id="38" name="page-footer"/>
          <p:cNvGrpSpPr/>
          <p:nvPr/>
        </p:nvGrpSpPr>
        <p:grpSpPr>
          <a:xfrm>
            <a:off x="679704" y="6429375"/>
            <a:ext cx="10832592" cy="234696"/>
            <a:chOff x="679704" y="6429375"/>
            <a:chExt cx="10832592" cy="234696"/>
          </a:xfrm>
        </p:grpSpPr>
        <p:sp>
          <p:nvSpPr>
            <p:cNvPr id="36" name="TextBox 36"/>
            <p:cNvSpPr txBox="1"/>
            <p:nvPr/>
          </p:nvSpPr>
          <p:spPr>
            <a:xfrm>
              <a:off x="679704" y="6429375"/>
              <a:ext cx="2700528" cy="234696"/>
            </a:xfrm>
            <a:prstGeom prst="rect">
              <a:avLst/>
            </a:prstGeom>
            <a:noFill/>
            <a:ln>
              <a:noFill/>
            </a:ln>
          </p:spPr>
          <p:txBody>
            <a:bodyPr wrap="none" lIns="0" tIns="0" rIns="0" bIns="0" anchor="t" anchorCtr="0">
              <a:spAutoFit/>
            </a:bodyPr>
            <a:lstStyle/>
            <a:p>
              <a:pPr algn="l"/>
              <a:r>
                <a:rPr lang="vi-VN" sz="1200" dirty="0">
                  <a:solidFill>
                    <a:schemeClr val="accent5"/>
                  </a:solidFill>
                  <a:latin typeface="+mn-lt"/>
                  <a:ea typeface="+mn-ea"/>
                  <a:cs typeface="+mn-cs"/>
                </a:rPr>
                <a:t>ĐỊNH HƯỚNG · TIÊU CHÍ HOÀN THÀNH</a:t>
              </a:r>
            </a:p>
          </p:txBody>
        </p:sp>
        <p:sp>
          <p:nvSpPr>
            <p:cNvPr id="37" name="TextBox 37"/>
            <p:cNvSpPr txBox="1"/>
            <p:nvPr/>
          </p:nvSpPr>
          <p:spPr>
            <a:xfrm>
              <a:off x="10958932" y="6429375"/>
              <a:ext cx="553364" cy="234696"/>
            </a:xfrm>
            <a:prstGeom prst="rect">
              <a:avLst/>
            </a:prstGeom>
            <a:noFill/>
            <a:ln>
              <a:noFill/>
            </a:ln>
          </p:spPr>
          <p:txBody>
            <a:bodyPr wrap="none" lIns="0" tIns="0" rIns="0" bIns="0" anchor="t" anchorCtr="0">
              <a:spAutoFit/>
            </a:bodyPr>
            <a:lstStyle/>
            <a:p>
              <a:pPr algn="r"/>
              <a:r>
                <a:rPr lang="vi-VN" sz="1200" dirty="0">
                  <a:solidFill>
                    <a:schemeClr val="accent5"/>
                  </a:solidFill>
                  <a:latin typeface="+mn-lt"/>
                  <a:ea typeface="+mn-ea"/>
                  <a:cs typeface="+mn-cs"/>
                </a:rPr>
                <a:t>02 / 25</a:t>
              </a:r>
            </a:p>
          </p:txBody>
        </p:sp>
      </p:gr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page-title"/>
          <p:cNvGrpSpPr/>
          <p:nvPr/>
        </p:nvGrpSpPr>
        <p:grpSpPr>
          <a:xfrm>
            <a:off x="669798" y="520700"/>
            <a:ext cx="10836402" cy="955675"/>
            <a:chOff x="669798" y="520700"/>
            <a:chExt cx="10836402" cy="955675"/>
          </a:xfrm>
        </p:grpSpPr>
        <p:sp>
          <p:nvSpPr>
            <p:cNvPr id="2" name="TextBox 2"/>
            <p:cNvSpPr txBox="1"/>
            <p:nvPr/>
          </p:nvSpPr>
          <p:spPr>
            <a:xfrm>
              <a:off x="678942" y="520700"/>
              <a:ext cx="2161024" cy="264033"/>
            </a:xfrm>
            <a:prstGeom prst="rect">
              <a:avLst/>
            </a:prstGeom>
            <a:noFill/>
            <a:ln>
              <a:noFill/>
            </a:ln>
          </p:spPr>
          <p:txBody>
            <a:bodyPr wrap="none" lIns="0" tIns="0" rIns="0" bIns="0" anchor="t" anchorCtr="0">
              <a:spAutoFit/>
            </a:bodyPr>
            <a:lstStyle/>
            <a:p>
              <a:pPr algn="l"/>
              <a:r>
                <a:rPr lang="vi-VN" sz="1350" b="1" dirty="0">
                  <a:solidFill>
                    <a:schemeClr val="accent3"/>
                  </a:solidFill>
                  <a:latin typeface="+mn-lt"/>
                  <a:ea typeface="+mn-ea"/>
                  <a:cs typeface="+mn-cs"/>
                </a:rPr>
                <a:t>01 · MÔ HÌNH HỆ THỐNG</a:t>
              </a:r>
            </a:p>
          </p:txBody>
        </p:sp>
        <p:sp>
          <p:nvSpPr>
            <p:cNvPr id="3" name="TextBox 3"/>
            <p:cNvSpPr txBox="1"/>
            <p:nvPr/>
          </p:nvSpPr>
          <p:spPr>
            <a:xfrm>
              <a:off x="669798" y="838200"/>
              <a:ext cx="8690294" cy="616077"/>
            </a:xfrm>
            <a:prstGeom prst="rect">
              <a:avLst/>
            </a:prstGeom>
            <a:noFill/>
            <a:ln>
              <a:noFill/>
            </a:ln>
          </p:spPr>
          <p:txBody>
            <a:bodyPr wrap="none" lIns="0" tIns="0" rIns="0" bIns="0" anchor="t" anchorCtr="0">
              <a:spAutoFit/>
            </a:bodyPr>
            <a:lstStyle/>
            <a:p>
              <a:pPr algn="l"/>
              <a:r>
                <a:rPr lang="vi-VN" sz="3150" b="1" dirty="0">
                  <a:solidFill>
                    <a:schemeClr val="accent1"/>
                  </a:solidFill>
                  <a:latin typeface="+mn-lt"/>
                  <a:ea typeface="+mn-ea"/>
                  <a:cs typeface="+mn-cs"/>
                </a:rPr>
                <a:t>Kiểm chứng từng lớp, từ COM đến biểu đồ</a:t>
              </a:r>
            </a:p>
          </p:txBody>
        </p:sp>
        <p:sp>
          <p:nvSpPr>
            <p:cNvPr id="4" name="Line 4"/>
            <p:cNvSpPr/>
            <p:nvPr/>
          </p:nvSpPr>
          <p:spPr>
            <a:xfrm>
              <a:off x="685800" y="1466850"/>
              <a:ext cx="10820400" cy="9525"/>
            </a:xfrm>
            <a:custGeom>
              <a:avLst/>
              <a:gdLst/>
              <a:ahLst/>
              <a:cxnLst/>
              <a:rect l="l" t="t" r="r" b="b"/>
              <a:pathLst>
                <a:path w="10820400" h="9525">
                  <a:moveTo>
                    <a:pt x="0" y="0"/>
                  </a:moveTo>
                  <a:lnTo>
                    <a:pt x="10820400" y="0"/>
                  </a:lnTo>
                </a:path>
              </a:pathLst>
            </a:custGeom>
            <a:noFill/>
            <a:ln w="14288">
              <a:solidFill>
                <a:schemeClr val="accent6"/>
              </a:solidFill>
            </a:ln>
          </p:spPr>
        </p:sp>
      </p:grpSp>
      <p:grpSp>
        <p:nvGrpSpPr>
          <p:cNvPr id="37" name="pipeline"/>
          <p:cNvGrpSpPr/>
          <p:nvPr/>
        </p:nvGrpSpPr>
        <p:grpSpPr>
          <a:xfrm>
            <a:off x="678942" y="1911350"/>
            <a:ext cx="10712958" cy="2626233"/>
            <a:chOff x="678942" y="1911350"/>
            <a:chExt cx="10712958" cy="2626233"/>
          </a:xfrm>
        </p:grpSpPr>
        <p:sp>
          <p:nvSpPr>
            <p:cNvPr id="6" name="TextBox 6"/>
            <p:cNvSpPr txBox="1"/>
            <p:nvPr/>
          </p:nvSpPr>
          <p:spPr>
            <a:xfrm>
              <a:off x="678942" y="1911350"/>
              <a:ext cx="1667043" cy="264033"/>
            </a:xfrm>
            <a:prstGeom prst="rect">
              <a:avLst/>
            </a:prstGeom>
            <a:noFill/>
            <a:ln>
              <a:noFill/>
            </a:ln>
          </p:spPr>
          <p:txBody>
            <a:bodyPr wrap="none" lIns="0" tIns="0" rIns="0" bIns="0" anchor="t" anchorCtr="0">
              <a:spAutoFit/>
            </a:bodyPr>
            <a:lstStyle/>
            <a:p>
              <a:pPr algn="l"/>
              <a:r>
                <a:rPr lang="vi-VN" sz="1350" b="1" dirty="0">
                  <a:solidFill>
                    <a:schemeClr val="accent5"/>
                  </a:solidFill>
                  <a:latin typeface="+mn-lt"/>
                  <a:ea typeface="+mn-ea"/>
                  <a:cs typeface="+mn-cs"/>
                </a:rPr>
                <a:t>LUỒNG DỮ LIỆU ĐO</a:t>
              </a:r>
            </a:p>
          </p:txBody>
        </p:sp>
        <p:sp>
          <p:nvSpPr>
            <p:cNvPr id="7" name="Line 7"/>
            <p:cNvSpPr/>
            <p:nvPr/>
          </p:nvSpPr>
          <p:spPr>
            <a:xfrm>
              <a:off x="1428750" y="3371850"/>
              <a:ext cx="9382125" cy="9525"/>
            </a:xfrm>
            <a:custGeom>
              <a:avLst/>
              <a:gdLst/>
              <a:ahLst/>
              <a:cxnLst/>
              <a:rect l="l" t="t" r="r" b="b"/>
              <a:pathLst>
                <a:path w="9382125" h="9525">
                  <a:moveTo>
                    <a:pt x="0" y="0"/>
                  </a:moveTo>
                  <a:lnTo>
                    <a:pt x="9382125" y="0"/>
                  </a:lnTo>
                </a:path>
              </a:pathLst>
            </a:custGeom>
            <a:noFill/>
            <a:ln w="19050">
              <a:solidFill>
                <a:schemeClr val="accent6"/>
              </a:solidFill>
            </a:ln>
          </p:spPr>
        </p:sp>
        <p:sp>
          <p:nvSpPr>
            <p:cNvPr id="8" name="Rectangle 8"/>
            <p:cNvSpPr/>
            <p:nvPr/>
          </p:nvSpPr>
          <p:spPr>
            <a:xfrm>
              <a:off x="781050" y="2762250"/>
              <a:ext cx="1524000" cy="1219200"/>
            </a:xfrm>
            <a:prstGeom prst="roundRect">
              <a:avLst>
                <a:gd name="adj" fmla="val 4688"/>
              </a:avLst>
            </a:prstGeom>
            <a:solidFill>
              <a:srgbClr val="FFFDF7"/>
            </a:solidFill>
            <a:ln w="14288">
              <a:solidFill>
                <a:schemeClr val="accent6"/>
              </a:solidFill>
            </a:ln>
          </p:spPr>
        </p:sp>
        <p:sp>
          <p:nvSpPr>
            <p:cNvPr id="9" name="TextBox 9"/>
            <p:cNvSpPr txBox="1"/>
            <p:nvPr/>
          </p:nvSpPr>
          <p:spPr>
            <a:xfrm>
              <a:off x="1105583" y="2978150"/>
              <a:ext cx="874934" cy="322707"/>
            </a:xfrm>
            <a:prstGeom prst="rect">
              <a:avLst/>
            </a:prstGeom>
            <a:noFill/>
            <a:ln>
              <a:noFill/>
            </a:ln>
          </p:spPr>
          <p:txBody>
            <a:bodyPr wrap="none" lIns="0" tIns="0" rIns="0" bIns="0" anchor="t" anchorCtr="0">
              <a:spAutoFit/>
            </a:bodyPr>
            <a:lstStyle/>
            <a:p>
              <a:pPr algn="ctr"/>
              <a:r>
                <a:rPr lang="vi-VN" sz="1650" b="1" dirty="0">
                  <a:solidFill>
                    <a:schemeClr val="accent1"/>
                  </a:solidFill>
                  <a:latin typeface="+mn-lt"/>
                  <a:ea typeface="+mn-ea"/>
                  <a:cs typeface="+mn-cs"/>
                </a:rPr>
                <a:t>Thiết bị</a:t>
              </a:r>
            </a:p>
          </p:txBody>
        </p:sp>
        <p:sp>
          <p:nvSpPr>
            <p:cNvPr id="10" name="TextBox 10"/>
            <p:cNvSpPr txBox="1"/>
            <p:nvPr/>
          </p:nvSpPr>
          <p:spPr>
            <a:xfrm>
              <a:off x="904296" y="3321050"/>
              <a:ext cx="1277508" cy="264033"/>
            </a:xfrm>
            <a:prstGeom prst="rect">
              <a:avLst/>
            </a:prstGeom>
            <a:noFill/>
            <a:ln>
              <a:noFill/>
            </a:ln>
          </p:spPr>
          <p:txBody>
            <a:bodyPr wrap="none" lIns="0" tIns="0" rIns="0" bIns="0" anchor="t" anchorCtr="0">
              <a:spAutoFit/>
            </a:bodyPr>
            <a:lstStyle/>
            <a:p>
              <a:pPr algn="ctr"/>
              <a:r>
                <a:rPr lang="vi-VN" sz="1350" dirty="0">
                  <a:solidFill>
                    <a:schemeClr val="dk1"/>
                  </a:solidFill>
                  <a:latin typeface="+mn-lt"/>
                  <a:ea typeface="+mn-ea"/>
                  <a:cs typeface="+mn-cs"/>
                </a:rPr>
                <a:t>Arduino / DMM</a:t>
              </a:r>
            </a:p>
          </p:txBody>
        </p:sp>
        <p:sp>
          <p:nvSpPr>
            <p:cNvPr id="11" name="TextBox 11"/>
            <p:cNvSpPr txBox="1"/>
            <p:nvPr/>
          </p:nvSpPr>
          <p:spPr>
            <a:xfrm>
              <a:off x="1108862" y="3600450"/>
              <a:ext cx="868375" cy="234696"/>
            </a:xfrm>
            <a:prstGeom prst="rect">
              <a:avLst/>
            </a:prstGeom>
            <a:noFill/>
            <a:ln>
              <a:noFill/>
            </a:ln>
          </p:spPr>
          <p:txBody>
            <a:bodyPr wrap="none" lIns="0" tIns="0" rIns="0" bIns="0" anchor="t" anchorCtr="0">
              <a:spAutoFit/>
            </a:bodyPr>
            <a:lstStyle/>
            <a:p>
              <a:pPr algn="ctr"/>
              <a:r>
                <a:rPr lang="vi-VN" sz="1200" dirty="0">
                  <a:solidFill>
                    <a:schemeClr val="accent5"/>
                  </a:solidFill>
                  <a:latin typeface="+mn-lt"/>
                  <a:ea typeface="+mn-ea"/>
                  <a:cs typeface="+mn-cs"/>
                </a:rPr>
                <a:t>đã chuẩn bị</a:t>
              </a:r>
            </a:p>
          </p:txBody>
        </p:sp>
        <p:sp>
          <p:nvSpPr>
            <p:cNvPr id="12" name="TextBox 12"/>
            <p:cNvSpPr txBox="1"/>
            <p:nvPr/>
          </p:nvSpPr>
          <p:spPr>
            <a:xfrm>
              <a:off x="2369039" y="3194050"/>
              <a:ext cx="176822" cy="410718"/>
            </a:xfrm>
            <a:prstGeom prst="rect">
              <a:avLst/>
            </a:prstGeom>
            <a:noFill/>
            <a:ln>
              <a:noFill/>
            </a:ln>
          </p:spPr>
          <p:txBody>
            <a:bodyPr wrap="none" lIns="0" tIns="0" rIns="0" bIns="0" anchor="t" anchorCtr="0">
              <a:spAutoFit/>
            </a:bodyPr>
            <a:lstStyle/>
            <a:p>
              <a:pPr algn="ctr"/>
              <a:r>
                <a:rPr lang="vi-VN" sz="2100" dirty="0">
                  <a:solidFill>
                    <a:schemeClr val="accent2"/>
                  </a:solidFill>
                  <a:latin typeface="+mn-lt"/>
                  <a:ea typeface="+mn-ea"/>
                  <a:cs typeface="+mn-cs"/>
                </a:rPr>
                <a:t>→</a:t>
              </a:r>
            </a:p>
          </p:txBody>
        </p:sp>
        <p:sp>
          <p:nvSpPr>
            <p:cNvPr id="13" name="Rectangle 13"/>
            <p:cNvSpPr/>
            <p:nvPr/>
          </p:nvSpPr>
          <p:spPr>
            <a:xfrm>
              <a:off x="2628900" y="2762250"/>
              <a:ext cx="1428750" cy="1219200"/>
            </a:xfrm>
            <a:prstGeom prst="roundRect">
              <a:avLst>
                <a:gd name="adj" fmla="val 4688"/>
              </a:avLst>
            </a:prstGeom>
            <a:solidFill>
              <a:srgbClr val="FFFDF7"/>
            </a:solidFill>
            <a:ln w="14288">
              <a:solidFill>
                <a:schemeClr val="accent6"/>
              </a:solidFill>
            </a:ln>
          </p:spPr>
        </p:sp>
        <p:sp>
          <p:nvSpPr>
            <p:cNvPr id="14" name="TextBox 14"/>
            <p:cNvSpPr txBox="1"/>
            <p:nvPr/>
          </p:nvSpPr>
          <p:spPr>
            <a:xfrm>
              <a:off x="3082301" y="2978150"/>
              <a:ext cx="521947" cy="322707"/>
            </a:xfrm>
            <a:prstGeom prst="rect">
              <a:avLst/>
            </a:prstGeom>
            <a:noFill/>
            <a:ln>
              <a:noFill/>
            </a:ln>
          </p:spPr>
          <p:txBody>
            <a:bodyPr wrap="none" lIns="0" tIns="0" rIns="0" bIns="0" anchor="t" anchorCtr="0">
              <a:spAutoFit/>
            </a:bodyPr>
            <a:lstStyle/>
            <a:p>
              <a:pPr algn="ctr"/>
              <a:r>
                <a:rPr lang="vi-VN" sz="1650" b="1" dirty="0">
                  <a:solidFill>
                    <a:schemeClr val="accent1"/>
                  </a:solidFill>
                  <a:latin typeface="+mn-lt"/>
                  <a:ea typeface="+mn-ea"/>
                  <a:cs typeface="+mn-cs"/>
                </a:rPr>
                <a:t>COM</a:t>
              </a:r>
            </a:p>
          </p:txBody>
        </p:sp>
        <p:sp>
          <p:nvSpPr>
            <p:cNvPr id="15" name="TextBox 15"/>
            <p:cNvSpPr txBox="1"/>
            <p:nvPr/>
          </p:nvSpPr>
          <p:spPr>
            <a:xfrm>
              <a:off x="2970004" y="3321050"/>
              <a:ext cx="746542" cy="264033"/>
            </a:xfrm>
            <a:prstGeom prst="rect">
              <a:avLst/>
            </a:prstGeom>
            <a:noFill/>
            <a:ln>
              <a:noFill/>
            </a:ln>
          </p:spPr>
          <p:txBody>
            <a:bodyPr wrap="none" lIns="0" tIns="0" rIns="0" bIns="0" anchor="t" anchorCtr="0">
              <a:spAutoFit/>
            </a:bodyPr>
            <a:lstStyle/>
            <a:p>
              <a:pPr algn="ctr"/>
              <a:r>
                <a:rPr lang="vi-VN" sz="1350" dirty="0">
                  <a:solidFill>
                    <a:schemeClr val="dk1"/>
                  </a:solidFill>
                  <a:latin typeface="+mn-lt"/>
                  <a:ea typeface="+mn-ea"/>
                  <a:cs typeface="+mn-cs"/>
                </a:rPr>
                <a:t>Windows</a:t>
              </a:r>
            </a:p>
          </p:txBody>
        </p:sp>
        <p:sp>
          <p:nvSpPr>
            <p:cNvPr id="16" name="TextBox 16"/>
            <p:cNvSpPr txBox="1"/>
            <p:nvPr/>
          </p:nvSpPr>
          <p:spPr>
            <a:xfrm>
              <a:off x="2909087" y="3600450"/>
              <a:ext cx="868375" cy="234696"/>
            </a:xfrm>
            <a:prstGeom prst="rect">
              <a:avLst/>
            </a:prstGeom>
            <a:noFill/>
            <a:ln>
              <a:noFill/>
            </a:ln>
          </p:spPr>
          <p:txBody>
            <a:bodyPr wrap="none" lIns="0" tIns="0" rIns="0" bIns="0" anchor="t" anchorCtr="0">
              <a:spAutoFit/>
            </a:bodyPr>
            <a:lstStyle/>
            <a:p>
              <a:pPr algn="ctr"/>
              <a:r>
                <a:rPr lang="vi-VN" sz="1200" dirty="0">
                  <a:solidFill>
                    <a:schemeClr val="accent5"/>
                  </a:solidFill>
                  <a:latin typeface="+mn-lt"/>
                  <a:ea typeface="+mn-ea"/>
                  <a:cs typeface="+mn-cs"/>
                </a:rPr>
                <a:t>cổng serial</a:t>
              </a:r>
            </a:p>
          </p:txBody>
        </p:sp>
        <p:sp>
          <p:nvSpPr>
            <p:cNvPr id="17" name="TextBox 17"/>
            <p:cNvSpPr txBox="1"/>
            <p:nvPr/>
          </p:nvSpPr>
          <p:spPr>
            <a:xfrm>
              <a:off x="4102589" y="3194050"/>
              <a:ext cx="176822" cy="410718"/>
            </a:xfrm>
            <a:prstGeom prst="rect">
              <a:avLst/>
            </a:prstGeom>
            <a:noFill/>
            <a:ln>
              <a:noFill/>
            </a:ln>
          </p:spPr>
          <p:txBody>
            <a:bodyPr wrap="none" lIns="0" tIns="0" rIns="0" bIns="0" anchor="t" anchorCtr="0">
              <a:spAutoFit/>
            </a:bodyPr>
            <a:lstStyle/>
            <a:p>
              <a:pPr algn="ctr"/>
              <a:r>
                <a:rPr lang="vi-VN" sz="2100" dirty="0">
                  <a:solidFill>
                    <a:schemeClr val="accent2"/>
                  </a:solidFill>
                  <a:latin typeface="+mn-lt"/>
                  <a:ea typeface="+mn-ea"/>
                  <a:cs typeface="+mn-cs"/>
                </a:rPr>
                <a:t>→</a:t>
              </a:r>
            </a:p>
          </p:txBody>
        </p:sp>
        <p:sp>
          <p:nvSpPr>
            <p:cNvPr id="18" name="Rectangle 18"/>
            <p:cNvSpPr/>
            <p:nvPr/>
          </p:nvSpPr>
          <p:spPr>
            <a:xfrm>
              <a:off x="4362450" y="2762250"/>
              <a:ext cx="1619250" cy="1219200"/>
            </a:xfrm>
            <a:prstGeom prst="roundRect">
              <a:avLst>
                <a:gd name="adj" fmla="val 4688"/>
              </a:avLst>
            </a:prstGeom>
            <a:solidFill>
              <a:schemeClr val="lt2"/>
            </a:solidFill>
            <a:ln w="14288">
              <a:solidFill>
                <a:schemeClr val="accent1"/>
              </a:solidFill>
            </a:ln>
          </p:spPr>
        </p:sp>
        <p:sp>
          <p:nvSpPr>
            <p:cNvPr id="19" name="TextBox 19"/>
            <p:cNvSpPr txBox="1"/>
            <p:nvPr/>
          </p:nvSpPr>
          <p:spPr>
            <a:xfrm>
              <a:off x="4676318" y="2978150"/>
              <a:ext cx="991513" cy="322707"/>
            </a:xfrm>
            <a:prstGeom prst="rect">
              <a:avLst/>
            </a:prstGeom>
            <a:noFill/>
            <a:ln>
              <a:noFill/>
            </a:ln>
          </p:spPr>
          <p:txBody>
            <a:bodyPr wrap="none" lIns="0" tIns="0" rIns="0" bIns="0" anchor="t" anchorCtr="0">
              <a:spAutoFit/>
            </a:bodyPr>
            <a:lstStyle/>
            <a:p>
              <a:pPr algn="ctr"/>
              <a:r>
                <a:rPr lang="vi-VN" sz="1650" b="1" dirty="0">
                  <a:solidFill>
                    <a:schemeClr val="accent1"/>
                  </a:solidFill>
                  <a:latin typeface="+mn-lt"/>
                  <a:ea typeface="+mn-ea"/>
                  <a:cs typeface="+mn-cs"/>
                </a:rPr>
                <a:t>Hercules</a:t>
              </a:r>
            </a:p>
          </p:txBody>
        </p:sp>
        <p:sp>
          <p:nvSpPr>
            <p:cNvPr id="20" name="TextBox 20"/>
            <p:cNvSpPr txBox="1"/>
            <p:nvPr/>
          </p:nvSpPr>
          <p:spPr>
            <a:xfrm>
              <a:off x="4564542" y="3321050"/>
              <a:ext cx="1215066" cy="264033"/>
            </a:xfrm>
            <a:prstGeom prst="rect">
              <a:avLst/>
            </a:prstGeom>
            <a:noFill/>
            <a:ln>
              <a:noFill/>
            </a:ln>
          </p:spPr>
          <p:txBody>
            <a:bodyPr wrap="none" lIns="0" tIns="0" rIns="0" bIns="0" anchor="t" anchorCtr="0">
              <a:spAutoFit/>
            </a:bodyPr>
            <a:lstStyle/>
            <a:p>
              <a:pPr algn="ctr"/>
              <a:r>
                <a:rPr lang="vi-VN" sz="1350" dirty="0">
                  <a:solidFill>
                    <a:schemeClr val="dk1"/>
                  </a:solidFill>
                  <a:latin typeface="+mn-lt"/>
                  <a:ea typeface="+mn-ea"/>
                  <a:cs typeface="+mn-cs"/>
                </a:rPr>
                <a:t>xác nhận COM</a:t>
              </a:r>
            </a:p>
          </p:txBody>
        </p:sp>
        <p:sp>
          <p:nvSpPr>
            <p:cNvPr id="21" name="TextBox 21"/>
            <p:cNvSpPr txBox="1"/>
            <p:nvPr/>
          </p:nvSpPr>
          <p:spPr>
            <a:xfrm>
              <a:off x="4604614" y="3600450"/>
              <a:ext cx="1134923" cy="234696"/>
            </a:xfrm>
            <a:prstGeom prst="rect">
              <a:avLst/>
            </a:prstGeom>
            <a:noFill/>
            <a:ln>
              <a:noFill/>
            </a:ln>
          </p:spPr>
          <p:txBody>
            <a:bodyPr wrap="none" lIns="0" tIns="0" rIns="0" bIns="0" anchor="t" anchorCtr="0">
              <a:spAutoFit/>
            </a:bodyPr>
            <a:lstStyle/>
            <a:p>
              <a:pPr algn="ctr"/>
              <a:r>
                <a:rPr lang="vi-VN" sz="1200" dirty="0">
                  <a:solidFill>
                    <a:schemeClr val="accent5"/>
                  </a:solidFill>
                  <a:latin typeface="+mn-lt"/>
                  <a:ea typeface="+mn-ea"/>
                  <a:cs typeface="+mn-cs"/>
                </a:rPr>
                <a:t>trước khi code</a:t>
              </a:r>
            </a:p>
          </p:txBody>
        </p:sp>
        <p:sp>
          <p:nvSpPr>
            <p:cNvPr id="22" name="TextBox 22"/>
            <p:cNvSpPr txBox="1"/>
            <p:nvPr/>
          </p:nvSpPr>
          <p:spPr>
            <a:xfrm>
              <a:off x="6017114" y="3194050"/>
              <a:ext cx="176822" cy="410718"/>
            </a:xfrm>
            <a:prstGeom prst="rect">
              <a:avLst/>
            </a:prstGeom>
            <a:noFill/>
            <a:ln>
              <a:noFill/>
            </a:ln>
          </p:spPr>
          <p:txBody>
            <a:bodyPr wrap="none" lIns="0" tIns="0" rIns="0" bIns="0" anchor="t" anchorCtr="0">
              <a:spAutoFit/>
            </a:bodyPr>
            <a:lstStyle/>
            <a:p>
              <a:pPr algn="ctr"/>
              <a:r>
                <a:rPr lang="vi-VN" sz="2100" dirty="0">
                  <a:solidFill>
                    <a:schemeClr val="accent2"/>
                  </a:solidFill>
                  <a:latin typeface="+mn-lt"/>
                  <a:ea typeface="+mn-ea"/>
                  <a:cs typeface="+mn-cs"/>
                </a:rPr>
                <a:t>→</a:t>
              </a:r>
            </a:p>
          </p:txBody>
        </p:sp>
        <p:sp>
          <p:nvSpPr>
            <p:cNvPr id="23" name="Rectangle 23"/>
            <p:cNvSpPr/>
            <p:nvPr/>
          </p:nvSpPr>
          <p:spPr>
            <a:xfrm>
              <a:off x="6286500" y="2762250"/>
              <a:ext cx="1752600" cy="1219200"/>
            </a:xfrm>
            <a:prstGeom prst="roundRect">
              <a:avLst>
                <a:gd name="adj" fmla="val 4688"/>
              </a:avLst>
            </a:prstGeom>
            <a:solidFill>
              <a:srgbClr val="FFFDF7"/>
            </a:solidFill>
            <a:ln w="14288">
              <a:solidFill>
                <a:schemeClr val="accent6"/>
              </a:solidFill>
            </a:ln>
          </p:spPr>
        </p:sp>
        <p:sp>
          <p:nvSpPr>
            <p:cNvPr id="24" name="TextBox 24"/>
            <p:cNvSpPr txBox="1"/>
            <p:nvPr/>
          </p:nvSpPr>
          <p:spPr>
            <a:xfrm>
              <a:off x="6765959" y="2978150"/>
              <a:ext cx="793681" cy="322707"/>
            </a:xfrm>
            <a:prstGeom prst="rect">
              <a:avLst/>
            </a:prstGeom>
            <a:noFill/>
            <a:ln>
              <a:noFill/>
            </a:ln>
          </p:spPr>
          <p:txBody>
            <a:bodyPr wrap="none" lIns="0" tIns="0" rIns="0" bIns="0" anchor="t" anchorCtr="0">
              <a:spAutoFit/>
            </a:bodyPr>
            <a:lstStyle/>
            <a:p>
              <a:pPr algn="ctr"/>
              <a:r>
                <a:rPr lang="vi-VN" sz="1650" b="1" dirty="0">
                  <a:solidFill>
                    <a:schemeClr val="accent1"/>
                  </a:solidFill>
                  <a:latin typeface="+mn-lt"/>
                  <a:ea typeface="+mn-ea"/>
                  <a:cs typeface="+mn-cs"/>
                </a:rPr>
                <a:t>Python</a:t>
              </a:r>
            </a:p>
          </p:txBody>
        </p:sp>
        <p:sp>
          <p:nvSpPr>
            <p:cNvPr id="25" name="TextBox 25"/>
            <p:cNvSpPr txBox="1"/>
            <p:nvPr/>
          </p:nvSpPr>
          <p:spPr>
            <a:xfrm>
              <a:off x="6507861" y="3321050"/>
              <a:ext cx="1309878" cy="264033"/>
            </a:xfrm>
            <a:prstGeom prst="rect">
              <a:avLst/>
            </a:prstGeom>
            <a:noFill/>
            <a:ln>
              <a:noFill/>
            </a:ln>
          </p:spPr>
          <p:txBody>
            <a:bodyPr wrap="none" lIns="0" tIns="0" rIns="0" bIns="0" anchor="t" anchorCtr="0">
              <a:spAutoFit/>
            </a:bodyPr>
            <a:lstStyle/>
            <a:p>
              <a:pPr algn="ctr"/>
              <a:r>
                <a:rPr lang="vi-VN" sz="1350" dirty="0">
                  <a:solidFill>
                    <a:schemeClr val="dk1"/>
                  </a:solidFill>
                  <a:latin typeface="+mn-lt"/>
                  <a:ea typeface="+mn-ea"/>
                  <a:cs typeface="+mn-cs"/>
                </a:rPr>
                <a:t>pyserial / SCPI</a:t>
              </a:r>
            </a:p>
          </p:txBody>
        </p:sp>
        <p:sp>
          <p:nvSpPr>
            <p:cNvPr id="26" name="TextBox 26"/>
            <p:cNvSpPr txBox="1"/>
            <p:nvPr/>
          </p:nvSpPr>
          <p:spPr>
            <a:xfrm>
              <a:off x="6708419" y="3600450"/>
              <a:ext cx="908761" cy="234696"/>
            </a:xfrm>
            <a:prstGeom prst="rect">
              <a:avLst/>
            </a:prstGeom>
            <a:noFill/>
            <a:ln>
              <a:noFill/>
            </a:ln>
          </p:spPr>
          <p:txBody>
            <a:bodyPr wrap="none" lIns="0" tIns="0" rIns="0" bIns="0" anchor="t" anchorCtr="0">
              <a:spAutoFit/>
            </a:bodyPr>
            <a:lstStyle/>
            <a:p>
              <a:pPr algn="ctr"/>
              <a:r>
                <a:rPr lang="vi-VN" sz="1200" dirty="0">
                  <a:solidFill>
                    <a:schemeClr val="accent5"/>
                  </a:solidFill>
                  <a:latin typeface="+mn-lt"/>
                  <a:ea typeface="+mn-ea"/>
                  <a:cs typeface="+mn-cs"/>
                </a:rPr>
                <a:t>tự động hóa</a:t>
              </a:r>
            </a:p>
          </p:txBody>
        </p:sp>
        <p:sp>
          <p:nvSpPr>
            <p:cNvPr id="27" name="TextBox 27"/>
            <p:cNvSpPr txBox="1"/>
            <p:nvPr/>
          </p:nvSpPr>
          <p:spPr>
            <a:xfrm>
              <a:off x="8084039" y="3194050"/>
              <a:ext cx="176822" cy="410718"/>
            </a:xfrm>
            <a:prstGeom prst="rect">
              <a:avLst/>
            </a:prstGeom>
            <a:noFill/>
            <a:ln>
              <a:noFill/>
            </a:ln>
          </p:spPr>
          <p:txBody>
            <a:bodyPr wrap="none" lIns="0" tIns="0" rIns="0" bIns="0" anchor="t" anchorCtr="0">
              <a:spAutoFit/>
            </a:bodyPr>
            <a:lstStyle/>
            <a:p>
              <a:pPr algn="ctr"/>
              <a:r>
                <a:rPr lang="vi-VN" sz="2100" dirty="0">
                  <a:solidFill>
                    <a:schemeClr val="accent2"/>
                  </a:solidFill>
                  <a:latin typeface="+mn-lt"/>
                  <a:ea typeface="+mn-ea"/>
                  <a:cs typeface="+mn-cs"/>
                </a:rPr>
                <a:t>→</a:t>
              </a:r>
            </a:p>
          </p:txBody>
        </p:sp>
        <p:sp>
          <p:nvSpPr>
            <p:cNvPr id="28" name="Rectangle 28"/>
            <p:cNvSpPr/>
            <p:nvPr/>
          </p:nvSpPr>
          <p:spPr>
            <a:xfrm>
              <a:off x="8343900" y="2762250"/>
              <a:ext cx="1238250" cy="1219200"/>
            </a:xfrm>
            <a:prstGeom prst="roundRect">
              <a:avLst>
                <a:gd name="adj" fmla="val 4688"/>
              </a:avLst>
            </a:prstGeom>
            <a:solidFill>
              <a:srgbClr val="FFFDF7"/>
            </a:solidFill>
            <a:ln w="14288">
              <a:solidFill>
                <a:schemeClr val="accent6"/>
              </a:solidFill>
            </a:ln>
          </p:spPr>
        </p:sp>
        <p:sp>
          <p:nvSpPr>
            <p:cNvPr id="29" name="TextBox 29"/>
            <p:cNvSpPr txBox="1"/>
            <p:nvPr/>
          </p:nvSpPr>
          <p:spPr>
            <a:xfrm>
              <a:off x="8751338" y="3073400"/>
              <a:ext cx="423375" cy="322707"/>
            </a:xfrm>
            <a:prstGeom prst="rect">
              <a:avLst/>
            </a:prstGeom>
            <a:noFill/>
            <a:ln>
              <a:noFill/>
            </a:ln>
          </p:spPr>
          <p:txBody>
            <a:bodyPr wrap="none" lIns="0" tIns="0" rIns="0" bIns="0" anchor="t" anchorCtr="0">
              <a:spAutoFit/>
            </a:bodyPr>
            <a:lstStyle/>
            <a:p>
              <a:pPr algn="ctr"/>
              <a:r>
                <a:rPr lang="vi-VN" sz="1650" b="1" dirty="0">
                  <a:solidFill>
                    <a:schemeClr val="accent1"/>
                  </a:solidFill>
                  <a:latin typeface="+mn-lt"/>
                  <a:ea typeface="+mn-ea"/>
                  <a:cs typeface="+mn-cs"/>
                </a:rPr>
                <a:t>CSV</a:t>
              </a:r>
            </a:p>
          </p:txBody>
        </p:sp>
        <p:sp>
          <p:nvSpPr>
            <p:cNvPr id="30" name="TextBox 30"/>
            <p:cNvSpPr txBox="1"/>
            <p:nvPr/>
          </p:nvSpPr>
          <p:spPr>
            <a:xfrm>
              <a:off x="8633584" y="3435350"/>
              <a:ext cx="658882" cy="264033"/>
            </a:xfrm>
            <a:prstGeom prst="rect">
              <a:avLst/>
            </a:prstGeom>
            <a:noFill/>
            <a:ln>
              <a:noFill/>
            </a:ln>
          </p:spPr>
          <p:txBody>
            <a:bodyPr wrap="none" lIns="0" tIns="0" rIns="0" bIns="0" anchor="t" anchorCtr="0">
              <a:spAutoFit/>
            </a:bodyPr>
            <a:lstStyle/>
            <a:p>
              <a:pPr algn="ctr"/>
              <a:r>
                <a:rPr lang="vi-VN" sz="1350" dirty="0">
                  <a:solidFill>
                    <a:schemeClr val="dk1"/>
                  </a:solidFill>
                  <a:latin typeface="+mn-lt"/>
                  <a:ea typeface="+mn-ea"/>
                  <a:cs typeface="+mn-cs"/>
                </a:rPr>
                <a:t>lưu mẫu</a:t>
              </a:r>
            </a:p>
          </p:txBody>
        </p:sp>
        <p:sp>
          <p:nvSpPr>
            <p:cNvPr id="31" name="TextBox 31"/>
            <p:cNvSpPr txBox="1"/>
            <p:nvPr/>
          </p:nvSpPr>
          <p:spPr>
            <a:xfrm>
              <a:off x="9608039" y="3194050"/>
              <a:ext cx="176822" cy="410718"/>
            </a:xfrm>
            <a:prstGeom prst="rect">
              <a:avLst/>
            </a:prstGeom>
            <a:noFill/>
            <a:ln>
              <a:noFill/>
            </a:ln>
          </p:spPr>
          <p:txBody>
            <a:bodyPr wrap="none" lIns="0" tIns="0" rIns="0" bIns="0" anchor="t" anchorCtr="0">
              <a:spAutoFit/>
            </a:bodyPr>
            <a:lstStyle/>
            <a:p>
              <a:pPr algn="ctr"/>
              <a:r>
                <a:rPr lang="vi-VN" sz="2100" dirty="0">
                  <a:solidFill>
                    <a:schemeClr val="accent2"/>
                  </a:solidFill>
                  <a:latin typeface="+mn-lt"/>
                  <a:ea typeface="+mn-ea"/>
                  <a:cs typeface="+mn-cs"/>
                </a:rPr>
                <a:t>→</a:t>
              </a:r>
            </a:p>
          </p:txBody>
        </p:sp>
        <p:sp>
          <p:nvSpPr>
            <p:cNvPr id="32" name="Rectangle 32"/>
            <p:cNvSpPr/>
            <p:nvPr/>
          </p:nvSpPr>
          <p:spPr>
            <a:xfrm>
              <a:off x="9867900" y="2762250"/>
              <a:ext cx="1524000" cy="1219200"/>
            </a:xfrm>
            <a:prstGeom prst="roundRect">
              <a:avLst>
                <a:gd name="adj" fmla="val 4688"/>
              </a:avLst>
            </a:prstGeom>
            <a:solidFill>
              <a:schemeClr val="accent1"/>
            </a:solidFill>
            <a:ln>
              <a:noFill/>
            </a:ln>
          </p:spPr>
        </p:sp>
        <p:sp>
          <p:nvSpPr>
            <p:cNvPr id="33" name="TextBox 33"/>
            <p:cNvSpPr txBox="1"/>
            <p:nvPr/>
          </p:nvSpPr>
          <p:spPr>
            <a:xfrm>
              <a:off x="10041008" y="2978150"/>
              <a:ext cx="1177783" cy="322707"/>
            </a:xfrm>
            <a:prstGeom prst="rect">
              <a:avLst/>
            </a:prstGeom>
            <a:noFill/>
            <a:ln>
              <a:noFill/>
            </a:ln>
          </p:spPr>
          <p:txBody>
            <a:bodyPr wrap="none" lIns="0" tIns="0" rIns="0" bIns="0" anchor="t" anchorCtr="0">
              <a:spAutoFit/>
            </a:bodyPr>
            <a:lstStyle/>
            <a:p>
              <a:pPr algn="ctr"/>
              <a:r>
                <a:rPr lang="vi-VN" sz="1650" b="1" dirty="0">
                  <a:solidFill>
                    <a:srgbClr val="FFFDF7"/>
                  </a:solidFill>
                  <a:latin typeface="+mn-lt"/>
                  <a:ea typeface="+mn-ea"/>
                  <a:cs typeface="+mn-cs"/>
                </a:rPr>
                <a:t>Matplotlib</a:t>
              </a:r>
            </a:p>
          </p:txBody>
        </p:sp>
        <p:sp>
          <p:nvSpPr>
            <p:cNvPr id="34" name="TextBox 34"/>
            <p:cNvSpPr txBox="1"/>
            <p:nvPr/>
          </p:nvSpPr>
          <p:spPr>
            <a:xfrm>
              <a:off x="10186873" y="3321050"/>
              <a:ext cx="886054" cy="264033"/>
            </a:xfrm>
            <a:prstGeom prst="rect">
              <a:avLst/>
            </a:prstGeom>
            <a:noFill/>
            <a:ln>
              <a:noFill/>
            </a:ln>
          </p:spPr>
          <p:txBody>
            <a:bodyPr wrap="none" lIns="0" tIns="0" rIns="0" bIns="0" anchor="t" anchorCtr="0">
              <a:spAutoFit/>
            </a:bodyPr>
            <a:lstStyle/>
            <a:p>
              <a:pPr algn="ctr"/>
              <a:r>
                <a:rPr lang="vi-VN" sz="1350" dirty="0">
                  <a:solidFill>
                    <a:srgbClr val="FFFDF7"/>
                  </a:solidFill>
                  <a:latin typeface="+mn-lt"/>
                  <a:ea typeface="+mn-ea"/>
                  <a:cs typeface="+mn-cs"/>
                </a:rPr>
                <a:t>tĩnh / live</a:t>
              </a:r>
            </a:p>
          </p:txBody>
        </p:sp>
        <p:sp>
          <p:nvSpPr>
            <p:cNvPr id="35" name="TextBox 35"/>
            <p:cNvSpPr txBox="1"/>
            <p:nvPr/>
          </p:nvSpPr>
          <p:spPr>
            <a:xfrm>
              <a:off x="10175519" y="3600450"/>
              <a:ext cx="908761" cy="234696"/>
            </a:xfrm>
            <a:prstGeom prst="rect">
              <a:avLst/>
            </a:prstGeom>
            <a:noFill/>
            <a:ln>
              <a:noFill/>
            </a:ln>
          </p:spPr>
          <p:txBody>
            <a:bodyPr wrap="none" lIns="0" tIns="0" rIns="0" bIns="0" anchor="t" anchorCtr="0">
              <a:spAutoFit/>
            </a:bodyPr>
            <a:lstStyle/>
            <a:p>
              <a:pPr algn="ctr"/>
              <a:r>
                <a:rPr lang="vi-VN" sz="1200" dirty="0">
                  <a:solidFill>
                    <a:srgbClr val="EEE7D9"/>
                  </a:solidFill>
                  <a:latin typeface="+mn-lt"/>
                  <a:ea typeface="+mn-ea"/>
                  <a:cs typeface="+mn-cs"/>
                </a:rPr>
                <a:t>xu hướng đo</a:t>
              </a:r>
            </a:p>
          </p:txBody>
        </p:sp>
        <p:sp>
          <p:nvSpPr>
            <p:cNvPr id="36" name="TextBox 36"/>
            <p:cNvSpPr txBox="1"/>
            <p:nvPr/>
          </p:nvSpPr>
          <p:spPr>
            <a:xfrm>
              <a:off x="6279642" y="4273550"/>
              <a:ext cx="4622292" cy="264033"/>
            </a:xfrm>
            <a:prstGeom prst="rect">
              <a:avLst/>
            </a:prstGeom>
            <a:noFill/>
            <a:ln>
              <a:noFill/>
            </a:ln>
          </p:spPr>
          <p:txBody>
            <a:bodyPr wrap="none" lIns="0" tIns="0" rIns="0" bIns="0" anchor="t" anchorCtr="0">
              <a:spAutoFit/>
            </a:bodyPr>
            <a:lstStyle/>
            <a:p>
              <a:pPr algn="l"/>
              <a:r>
                <a:rPr lang="vi-VN" sz="1350" b="1" dirty="0">
                  <a:solidFill>
                    <a:schemeClr val="accent2"/>
                  </a:solidFill>
                  <a:latin typeface="+mn-lt"/>
                  <a:ea typeface="+mn-ea"/>
                  <a:cs typeface="+mn-cs"/>
                </a:rPr>
                <a:t>SCPI: gửi lệnh → thiết bị · đọc response ← máy tính</a:t>
              </a:r>
            </a:p>
          </p:txBody>
        </p:sp>
      </p:grpSp>
      <p:grpSp>
        <p:nvGrpSpPr>
          <p:cNvPr id="42" name="layer-note"/>
          <p:cNvGrpSpPr/>
          <p:nvPr/>
        </p:nvGrpSpPr>
        <p:grpSpPr>
          <a:xfrm>
            <a:off x="677418" y="5010150"/>
            <a:ext cx="10828782" cy="956183"/>
            <a:chOff x="677418" y="5010150"/>
            <a:chExt cx="10828782" cy="956183"/>
          </a:xfrm>
        </p:grpSpPr>
        <p:sp>
          <p:nvSpPr>
            <p:cNvPr id="38" name="Line 38"/>
            <p:cNvSpPr/>
            <p:nvPr/>
          </p:nvSpPr>
          <p:spPr>
            <a:xfrm>
              <a:off x="685800" y="5010150"/>
              <a:ext cx="10820400" cy="9525"/>
            </a:xfrm>
            <a:custGeom>
              <a:avLst/>
              <a:gdLst/>
              <a:ahLst/>
              <a:cxnLst/>
              <a:rect l="l" t="t" r="r" b="b"/>
              <a:pathLst>
                <a:path w="10820400" h="9525">
                  <a:moveTo>
                    <a:pt x="0" y="0"/>
                  </a:moveTo>
                  <a:lnTo>
                    <a:pt x="10820400" y="0"/>
                  </a:lnTo>
                </a:path>
              </a:pathLst>
            </a:custGeom>
            <a:noFill/>
            <a:ln w="9525">
              <a:solidFill>
                <a:schemeClr val="accent6"/>
              </a:solidFill>
            </a:ln>
          </p:spPr>
        </p:sp>
        <p:sp>
          <p:nvSpPr>
            <p:cNvPr id="39" name="TextBox 39"/>
            <p:cNvSpPr txBox="1"/>
            <p:nvPr/>
          </p:nvSpPr>
          <p:spPr>
            <a:xfrm>
              <a:off x="677418" y="5149850"/>
              <a:ext cx="8796999" cy="322707"/>
            </a:xfrm>
            <a:prstGeom prst="rect">
              <a:avLst/>
            </a:prstGeom>
            <a:noFill/>
            <a:ln>
              <a:noFill/>
            </a:ln>
          </p:spPr>
          <p:txBody>
            <a:bodyPr wrap="none" lIns="0" tIns="0" rIns="0" bIns="0" anchor="t" anchorCtr="0">
              <a:spAutoFit/>
            </a:bodyPr>
            <a:lstStyle/>
            <a:p>
              <a:pPr algn="l"/>
              <a:r>
                <a:rPr lang="vi-VN" sz="1650" b="1" dirty="0">
                  <a:solidFill>
                    <a:schemeClr val="accent1"/>
                  </a:solidFill>
                  <a:latin typeface="+mn-lt"/>
                  <a:ea typeface="+mn-ea"/>
                  <a:cs typeface="+mn-cs"/>
                </a:rPr>
                <a:t>Khi chưa thu được số đo, cần xác minh COM và phản hồi trước khi xử lý biểu đồ.</a:t>
              </a:r>
            </a:p>
          </p:txBody>
        </p:sp>
        <p:sp>
          <p:nvSpPr>
            <p:cNvPr id="40" name="TextBox 40"/>
            <p:cNvSpPr txBox="1"/>
            <p:nvPr/>
          </p:nvSpPr>
          <p:spPr>
            <a:xfrm>
              <a:off x="678942" y="5454650"/>
              <a:ext cx="6479425" cy="264033"/>
            </a:xfrm>
            <a:prstGeom prst="rect">
              <a:avLst/>
            </a:prstGeom>
            <a:noFill/>
            <a:ln>
              <a:noFill/>
            </a:ln>
          </p:spPr>
          <p:txBody>
            <a:bodyPr wrap="none" lIns="0" tIns="0" rIns="0" bIns="0" anchor="t" anchorCtr="0">
              <a:spAutoFit/>
            </a:bodyPr>
            <a:lstStyle/>
            <a:p>
              <a:pPr algn="l"/>
              <a:r>
                <a:rPr lang="vi-VN" sz="1350" dirty="0">
                  <a:solidFill>
                    <a:schemeClr val="accent5"/>
                  </a:solidFill>
                  <a:latin typeface="+mn-lt"/>
                  <a:ea typeface="+mn-ea"/>
                  <a:cs typeface="+mn-cs"/>
                </a:rPr>
                <a:t>Arduino chỉ hỗ trợ tập lệnh thực hành; không mô phỏng đầy đủ Model 2000.</a:t>
              </a:r>
            </a:p>
          </p:txBody>
        </p:sp>
        <p:sp>
          <p:nvSpPr>
            <p:cNvPr id="41" name="TextBox 41"/>
            <p:cNvSpPr txBox="1"/>
            <p:nvPr/>
          </p:nvSpPr>
          <p:spPr>
            <a:xfrm>
              <a:off x="678942" y="5702300"/>
              <a:ext cx="6685693" cy="264033"/>
            </a:xfrm>
            <a:prstGeom prst="rect">
              <a:avLst/>
            </a:prstGeom>
            <a:noFill/>
            <a:ln>
              <a:noFill/>
            </a:ln>
          </p:spPr>
          <p:txBody>
            <a:bodyPr wrap="none" lIns="0" tIns="0" rIns="0" bIns="0" anchor="t" anchorCtr="0">
              <a:spAutoFit/>
            </a:bodyPr>
            <a:lstStyle/>
            <a:p>
              <a:pPr algn="l"/>
              <a:r>
                <a:rPr lang="vi-VN" sz="1350" dirty="0">
                  <a:solidFill>
                    <a:schemeClr val="accent5"/>
                  </a:solidFill>
                  <a:latin typeface="+mn-lt"/>
                  <a:ea typeface="+mn-ea"/>
                  <a:cs typeface="+mn-cs"/>
                </a:rPr>
                <a:t>Keithley thật cần cáp RS-232 phù hợp; không nối DB9 với RX/TX TTL của Uno.</a:t>
              </a:r>
            </a:p>
          </p:txBody>
        </p:sp>
      </p:grpSp>
      <p:grpSp>
        <p:nvGrpSpPr>
          <p:cNvPr id="45" name="page-footer"/>
          <p:cNvGrpSpPr/>
          <p:nvPr/>
        </p:nvGrpSpPr>
        <p:grpSpPr>
          <a:xfrm>
            <a:off x="679704" y="6429375"/>
            <a:ext cx="10832592" cy="234696"/>
            <a:chOff x="679704" y="6429375"/>
            <a:chExt cx="10832592" cy="234696"/>
          </a:xfrm>
        </p:grpSpPr>
        <p:sp>
          <p:nvSpPr>
            <p:cNvPr id="43" name="TextBox 43"/>
            <p:cNvSpPr txBox="1"/>
            <p:nvPr/>
          </p:nvSpPr>
          <p:spPr>
            <a:xfrm>
              <a:off x="679704" y="6429375"/>
              <a:ext cx="3579571" cy="234696"/>
            </a:xfrm>
            <a:prstGeom prst="rect">
              <a:avLst/>
            </a:prstGeom>
            <a:noFill/>
            <a:ln>
              <a:noFill/>
            </a:ln>
          </p:spPr>
          <p:txBody>
            <a:bodyPr wrap="none" lIns="0" tIns="0" rIns="0" bIns="0" anchor="t" anchorCtr="0">
              <a:spAutoFit/>
            </a:bodyPr>
            <a:lstStyle/>
            <a:p>
              <a:pPr algn="l"/>
              <a:r>
                <a:rPr lang="vi-VN" sz="1200" dirty="0">
                  <a:solidFill>
                    <a:schemeClr val="accent5"/>
                  </a:solidFill>
                  <a:latin typeface="+mn-lt"/>
                  <a:ea typeface="+mn-ea"/>
                  <a:cs typeface="+mn-cs"/>
                </a:rPr>
                <a:t>ĐỊNH HƯỚNG · CÁC LỚP CÓ THỂ KIỂM TRA RIÊNG</a:t>
              </a:r>
            </a:p>
          </p:txBody>
        </p:sp>
        <p:sp>
          <p:nvSpPr>
            <p:cNvPr id="44" name="TextBox 44"/>
            <p:cNvSpPr txBox="1"/>
            <p:nvPr/>
          </p:nvSpPr>
          <p:spPr>
            <a:xfrm>
              <a:off x="10958932" y="6429375"/>
              <a:ext cx="553364" cy="234696"/>
            </a:xfrm>
            <a:prstGeom prst="rect">
              <a:avLst/>
            </a:prstGeom>
            <a:noFill/>
            <a:ln>
              <a:noFill/>
            </a:ln>
          </p:spPr>
          <p:txBody>
            <a:bodyPr wrap="none" lIns="0" tIns="0" rIns="0" bIns="0" anchor="t" anchorCtr="0">
              <a:spAutoFit/>
            </a:bodyPr>
            <a:lstStyle/>
            <a:p>
              <a:pPr algn="r"/>
              <a:r>
                <a:rPr lang="vi-VN" sz="1200" dirty="0">
                  <a:solidFill>
                    <a:schemeClr val="accent5"/>
                  </a:solidFill>
                  <a:latin typeface="+mn-lt"/>
                  <a:ea typeface="+mn-ea"/>
                  <a:cs typeface="+mn-cs"/>
                </a:rPr>
                <a:t>03 / 25</a:t>
              </a:r>
            </a:p>
          </p:txBody>
        </p:sp>
      </p:gr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page-title"/>
          <p:cNvGrpSpPr/>
          <p:nvPr/>
        </p:nvGrpSpPr>
        <p:grpSpPr>
          <a:xfrm>
            <a:off x="669798" y="520700"/>
            <a:ext cx="10836402" cy="955675"/>
            <a:chOff x="669798" y="520700"/>
            <a:chExt cx="10836402" cy="955675"/>
          </a:xfrm>
        </p:grpSpPr>
        <p:sp>
          <p:nvSpPr>
            <p:cNvPr id="2" name="TextBox 2"/>
            <p:cNvSpPr txBox="1"/>
            <p:nvPr/>
          </p:nvSpPr>
          <p:spPr>
            <a:xfrm>
              <a:off x="678942" y="520700"/>
              <a:ext cx="2604600" cy="264033"/>
            </a:xfrm>
            <a:prstGeom prst="rect">
              <a:avLst/>
            </a:prstGeom>
            <a:noFill/>
            <a:ln>
              <a:noFill/>
            </a:ln>
          </p:spPr>
          <p:txBody>
            <a:bodyPr wrap="none" lIns="0" tIns="0" rIns="0" bIns="0" anchor="t" anchorCtr="0">
              <a:spAutoFit/>
            </a:bodyPr>
            <a:lstStyle/>
            <a:p>
              <a:pPr algn="l"/>
              <a:r>
                <a:rPr lang="vi-VN" sz="1350" b="1" dirty="0">
                  <a:solidFill>
                    <a:schemeClr val="accent3"/>
                  </a:solidFill>
                  <a:latin typeface="+mn-lt"/>
                  <a:ea typeface="+mn-ea"/>
                  <a:cs typeface="+mn-cs"/>
                </a:rPr>
                <a:t>02 · MÔI TRƯỜNG THỰC HÀNH</a:t>
              </a:r>
            </a:p>
          </p:txBody>
        </p:sp>
        <p:sp>
          <p:nvSpPr>
            <p:cNvPr id="3" name="TextBox 3"/>
            <p:cNvSpPr txBox="1"/>
            <p:nvPr/>
          </p:nvSpPr>
          <p:spPr>
            <a:xfrm>
              <a:off x="669798" y="838200"/>
              <a:ext cx="8392996" cy="616077"/>
            </a:xfrm>
            <a:prstGeom prst="rect">
              <a:avLst/>
            </a:prstGeom>
            <a:noFill/>
            <a:ln>
              <a:noFill/>
            </a:ln>
          </p:spPr>
          <p:txBody>
            <a:bodyPr wrap="none" lIns="0" tIns="0" rIns="0" bIns="0" anchor="t" anchorCtr="0">
              <a:spAutoFit/>
            </a:bodyPr>
            <a:lstStyle/>
            <a:p>
              <a:pPr algn="l"/>
              <a:r>
                <a:rPr lang="vi-VN" sz="3150" b="1" dirty="0">
                  <a:solidFill>
                    <a:schemeClr val="accent1"/>
                  </a:solidFill>
                  <a:latin typeface="+mn-lt"/>
                  <a:ea typeface="+mn-ea"/>
                  <a:cs typeface="+mn-cs"/>
                </a:rPr>
                <a:t>Thiết lập môi trường Visual Studio Code</a:t>
              </a:r>
            </a:p>
          </p:txBody>
        </p:sp>
        <p:sp>
          <p:nvSpPr>
            <p:cNvPr id="4" name="Line 4"/>
            <p:cNvSpPr/>
            <p:nvPr/>
          </p:nvSpPr>
          <p:spPr>
            <a:xfrm>
              <a:off x="685800" y="1466850"/>
              <a:ext cx="10820400" cy="9525"/>
            </a:xfrm>
            <a:custGeom>
              <a:avLst/>
              <a:gdLst/>
              <a:ahLst/>
              <a:cxnLst/>
              <a:rect l="l" t="t" r="r" b="b"/>
              <a:pathLst>
                <a:path w="10820400" h="9525">
                  <a:moveTo>
                    <a:pt x="0" y="0"/>
                  </a:moveTo>
                  <a:lnTo>
                    <a:pt x="10820400" y="0"/>
                  </a:lnTo>
                </a:path>
              </a:pathLst>
            </a:custGeom>
            <a:noFill/>
            <a:ln w="14288">
              <a:solidFill>
                <a:schemeClr val="accent6"/>
              </a:solidFill>
            </a:ln>
          </p:spPr>
        </p:sp>
      </p:grpSp>
      <p:grpSp>
        <p:nvGrpSpPr>
          <p:cNvPr id="23" name="workspace-instructions"/>
          <p:cNvGrpSpPr/>
          <p:nvPr/>
        </p:nvGrpSpPr>
        <p:grpSpPr>
          <a:xfrm>
            <a:off x="678942" y="1968500"/>
            <a:ext cx="4376686" cy="4000246"/>
            <a:chOff x="678942" y="1968500"/>
            <a:chExt cx="4376686" cy="4000246"/>
          </a:xfrm>
        </p:grpSpPr>
        <p:sp>
          <p:nvSpPr>
            <p:cNvPr id="6" name="TextBox 6"/>
            <p:cNvSpPr txBox="1"/>
            <p:nvPr/>
          </p:nvSpPr>
          <p:spPr>
            <a:xfrm>
              <a:off x="678942" y="1968500"/>
              <a:ext cx="1777937" cy="264033"/>
            </a:xfrm>
            <a:prstGeom prst="rect">
              <a:avLst/>
            </a:prstGeom>
            <a:noFill/>
            <a:ln>
              <a:noFill/>
            </a:ln>
          </p:spPr>
          <p:txBody>
            <a:bodyPr wrap="none" lIns="0" tIns="0" rIns="0" bIns="0" anchor="t" anchorCtr="0">
              <a:spAutoFit/>
            </a:bodyPr>
            <a:lstStyle/>
            <a:p>
              <a:pPr algn="l"/>
              <a:r>
                <a:rPr lang="vi-VN" sz="1350" b="1" dirty="0">
                  <a:solidFill>
                    <a:schemeClr val="accent5"/>
                  </a:solidFill>
                  <a:latin typeface="+mn-lt"/>
                  <a:ea typeface="+mn-ea"/>
                  <a:cs typeface="+mn-cs"/>
                </a:rPr>
                <a:t>THIẾT LẬP MỘT LẦN</a:t>
              </a:r>
            </a:p>
          </p:txBody>
        </p:sp>
        <p:sp>
          <p:nvSpPr>
            <p:cNvPr id="7" name="Ellipse 7"/>
            <p:cNvSpPr/>
            <p:nvPr/>
          </p:nvSpPr>
          <p:spPr>
            <a:xfrm>
              <a:off x="742950" y="2476500"/>
              <a:ext cx="342900" cy="342900"/>
            </a:xfrm>
            <a:prstGeom prst="ellipse">
              <a:avLst/>
            </a:prstGeom>
            <a:solidFill>
              <a:schemeClr val="accent1"/>
            </a:solidFill>
            <a:ln>
              <a:noFill/>
            </a:ln>
          </p:spPr>
        </p:sp>
        <p:sp>
          <p:nvSpPr>
            <p:cNvPr id="8" name="TextBox 8"/>
            <p:cNvSpPr txBox="1"/>
            <p:nvPr/>
          </p:nvSpPr>
          <p:spPr>
            <a:xfrm>
              <a:off x="861658" y="2552700"/>
              <a:ext cx="105484" cy="234696"/>
            </a:xfrm>
            <a:prstGeom prst="rect">
              <a:avLst/>
            </a:prstGeom>
            <a:noFill/>
            <a:ln>
              <a:noFill/>
            </a:ln>
          </p:spPr>
          <p:txBody>
            <a:bodyPr wrap="none" lIns="0" tIns="0" rIns="0" bIns="0" anchor="t" anchorCtr="0">
              <a:spAutoFit/>
            </a:bodyPr>
            <a:lstStyle/>
            <a:p>
              <a:pPr algn="ctr"/>
              <a:r>
                <a:rPr lang="vi-VN" sz="1200" b="1" dirty="0">
                  <a:solidFill>
                    <a:srgbClr val="FFFDF7"/>
                  </a:solidFill>
                  <a:latin typeface="+mn-lt"/>
                  <a:ea typeface="+mn-ea"/>
                  <a:cs typeface="+mn-cs"/>
                </a:rPr>
                <a:t>1</a:t>
              </a:r>
            </a:p>
          </p:txBody>
        </p:sp>
        <p:sp>
          <p:nvSpPr>
            <p:cNvPr id="9" name="TextBox 9"/>
            <p:cNvSpPr txBox="1"/>
            <p:nvPr/>
          </p:nvSpPr>
          <p:spPr>
            <a:xfrm>
              <a:off x="1210056" y="2489200"/>
              <a:ext cx="2766151" cy="352044"/>
            </a:xfrm>
            <a:prstGeom prst="rect">
              <a:avLst/>
            </a:prstGeom>
            <a:noFill/>
            <a:ln>
              <a:noFill/>
            </a:ln>
          </p:spPr>
          <p:txBody>
            <a:bodyPr wrap="none" lIns="0" tIns="0" rIns="0" bIns="0" anchor="t" anchorCtr="0">
              <a:spAutoFit/>
            </a:bodyPr>
            <a:lstStyle/>
            <a:p>
              <a:pPr algn="l"/>
              <a:r>
                <a:rPr lang="vi-VN" sz="1800" b="1" dirty="0">
                  <a:solidFill>
                    <a:schemeClr val="dk1"/>
                  </a:solidFill>
                  <a:latin typeface="+mn-lt"/>
                  <a:ea typeface="+mn-ea"/>
                  <a:cs typeface="+mn-cs"/>
                </a:rPr>
                <a:t>Cài Python 3 + VS Code</a:t>
              </a:r>
            </a:p>
          </p:txBody>
        </p:sp>
        <p:sp>
          <p:nvSpPr>
            <p:cNvPr id="10" name="TextBox 10"/>
            <p:cNvSpPr txBox="1"/>
            <p:nvPr/>
          </p:nvSpPr>
          <p:spPr>
            <a:xfrm>
              <a:off x="1212342" y="2825750"/>
              <a:ext cx="3843286" cy="264033"/>
            </a:xfrm>
            <a:prstGeom prst="rect">
              <a:avLst/>
            </a:prstGeom>
            <a:noFill/>
            <a:ln>
              <a:noFill/>
            </a:ln>
          </p:spPr>
          <p:txBody>
            <a:bodyPr wrap="none" lIns="0" tIns="0" rIns="0" bIns="0" anchor="t" anchorCtr="0">
              <a:spAutoFit/>
            </a:bodyPr>
            <a:lstStyle/>
            <a:p>
              <a:pPr algn="l"/>
              <a:r>
                <a:rPr lang="vi-VN" sz="1350" dirty="0">
                  <a:solidFill>
                    <a:schemeClr val="accent5"/>
                  </a:solidFill>
                  <a:latin typeface="+mn-lt"/>
                  <a:ea typeface="+mn-ea"/>
                  <a:cs typeface="+mn-cs"/>
                </a:rPr>
                <a:t>Trên Windows, dùng bản cài đặt chính thức.</a:t>
              </a:r>
            </a:p>
          </p:txBody>
        </p:sp>
        <p:sp>
          <p:nvSpPr>
            <p:cNvPr id="11" name="Ellipse 11"/>
            <p:cNvSpPr/>
            <p:nvPr/>
          </p:nvSpPr>
          <p:spPr>
            <a:xfrm>
              <a:off x="742950" y="3390900"/>
              <a:ext cx="342900" cy="342900"/>
            </a:xfrm>
            <a:prstGeom prst="ellipse">
              <a:avLst/>
            </a:prstGeom>
            <a:solidFill>
              <a:schemeClr val="accent1"/>
            </a:solidFill>
            <a:ln>
              <a:noFill/>
            </a:ln>
          </p:spPr>
        </p:sp>
        <p:sp>
          <p:nvSpPr>
            <p:cNvPr id="12" name="TextBox 12"/>
            <p:cNvSpPr txBox="1"/>
            <p:nvPr/>
          </p:nvSpPr>
          <p:spPr>
            <a:xfrm>
              <a:off x="861658" y="3467100"/>
              <a:ext cx="105484" cy="234696"/>
            </a:xfrm>
            <a:prstGeom prst="rect">
              <a:avLst/>
            </a:prstGeom>
            <a:noFill/>
            <a:ln>
              <a:noFill/>
            </a:ln>
          </p:spPr>
          <p:txBody>
            <a:bodyPr wrap="none" lIns="0" tIns="0" rIns="0" bIns="0" anchor="t" anchorCtr="0">
              <a:spAutoFit/>
            </a:bodyPr>
            <a:lstStyle/>
            <a:p>
              <a:pPr algn="ctr"/>
              <a:r>
                <a:rPr lang="vi-VN" sz="1200" b="1" dirty="0">
                  <a:solidFill>
                    <a:srgbClr val="FFFDF7"/>
                  </a:solidFill>
                  <a:latin typeface="+mn-lt"/>
                  <a:ea typeface="+mn-ea"/>
                  <a:cs typeface="+mn-cs"/>
                </a:rPr>
                <a:t>2</a:t>
              </a:r>
            </a:p>
          </p:txBody>
        </p:sp>
        <p:sp>
          <p:nvSpPr>
            <p:cNvPr id="13" name="TextBox 13"/>
            <p:cNvSpPr txBox="1"/>
            <p:nvPr/>
          </p:nvSpPr>
          <p:spPr>
            <a:xfrm>
              <a:off x="1210056" y="3403600"/>
              <a:ext cx="2780751" cy="352044"/>
            </a:xfrm>
            <a:prstGeom prst="rect">
              <a:avLst/>
            </a:prstGeom>
            <a:noFill/>
            <a:ln>
              <a:noFill/>
            </a:ln>
          </p:spPr>
          <p:txBody>
            <a:bodyPr wrap="none" lIns="0" tIns="0" rIns="0" bIns="0" anchor="t" anchorCtr="0">
              <a:spAutoFit/>
            </a:bodyPr>
            <a:lstStyle/>
            <a:p>
              <a:pPr algn="l"/>
              <a:r>
                <a:rPr lang="vi-VN" sz="1800" b="1" dirty="0">
                  <a:solidFill>
                    <a:schemeClr val="dk1"/>
                  </a:solidFill>
                  <a:latin typeface="+mn-lt"/>
                  <a:ea typeface="+mn-ea"/>
                  <a:cs typeface="+mn-cs"/>
                </a:rPr>
                <a:t>Thêm Python + Pylance</a:t>
              </a:r>
            </a:p>
          </p:txBody>
        </p:sp>
        <p:sp>
          <p:nvSpPr>
            <p:cNvPr id="14" name="TextBox 14"/>
            <p:cNvSpPr txBox="1"/>
            <p:nvPr/>
          </p:nvSpPr>
          <p:spPr>
            <a:xfrm>
              <a:off x="1212342" y="3740150"/>
              <a:ext cx="3661299" cy="264033"/>
            </a:xfrm>
            <a:prstGeom prst="rect">
              <a:avLst/>
            </a:prstGeom>
            <a:noFill/>
            <a:ln>
              <a:noFill/>
            </a:ln>
          </p:spPr>
          <p:txBody>
            <a:bodyPr wrap="none" lIns="0" tIns="0" rIns="0" bIns="0" anchor="t" anchorCtr="0">
              <a:spAutoFit/>
            </a:bodyPr>
            <a:lstStyle/>
            <a:p>
              <a:pPr algn="l"/>
              <a:r>
                <a:rPr lang="vi-VN" sz="1350" dirty="0">
                  <a:solidFill>
                    <a:schemeClr val="accent5"/>
                  </a:solidFill>
                  <a:latin typeface="+mn-lt"/>
                  <a:ea typeface="+mn-ea"/>
                  <a:cs typeface="+mn-cs"/>
                </a:rPr>
                <a:t>Extensions của Microsoft trong VS Code.</a:t>
              </a:r>
            </a:p>
          </p:txBody>
        </p:sp>
        <p:sp>
          <p:nvSpPr>
            <p:cNvPr id="15" name="Ellipse 15"/>
            <p:cNvSpPr/>
            <p:nvPr/>
          </p:nvSpPr>
          <p:spPr>
            <a:xfrm>
              <a:off x="742950" y="4305300"/>
              <a:ext cx="342900" cy="342900"/>
            </a:xfrm>
            <a:prstGeom prst="ellipse">
              <a:avLst/>
            </a:prstGeom>
            <a:solidFill>
              <a:schemeClr val="accent2"/>
            </a:solidFill>
            <a:ln>
              <a:noFill/>
            </a:ln>
          </p:spPr>
        </p:sp>
        <p:sp>
          <p:nvSpPr>
            <p:cNvPr id="16" name="TextBox 16"/>
            <p:cNvSpPr txBox="1"/>
            <p:nvPr/>
          </p:nvSpPr>
          <p:spPr>
            <a:xfrm>
              <a:off x="861658" y="4381500"/>
              <a:ext cx="105484" cy="234696"/>
            </a:xfrm>
            <a:prstGeom prst="rect">
              <a:avLst/>
            </a:prstGeom>
            <a:noFill/>
            <a:ln>
              <a:noFill/>
            </a:ln>
          </p:spPr>
          <p:txBody>
            <a:bodyPr wrap="none" lIns="0" tIns="0" rIns="0" bIns="0" anchor="t" anchorCtr="0">
              <a:spAutoFit/>
            </a:bodyPr>
            <a:lstStyle/>
            <a:p>
              <a:pPr algn="ctr"/>
              <a:r>
                <a:rPr lang="vi-VN" sz="1200" b="1" dirty="0">
                  <a:solidFill>
                    <a:srgbClr val="FFFDF7"/>
                  </a:solidFill>
                  <a:latin typeface="+mn-lt"/>
                  <a:ea typeface="+mn-ea"/>
                  <a:cs typeface="+mn-cs"/>
                </a:rPr>
                <a:t>3</a:t>
              </a:r>
            </a:p>
          </p:txBody>
        </p:sp>
        <p:sp>
          <p:nvSpPr>
            <p:cNvPr id="17" name="TextBox 17"/>
            <p:cNvSpPr txBox="1"/>
            <p:nvPr/>
          </p:nvSpPr>
          <p:spPr>
            <a:xfrm>
              <a:off x="1210056" y="4318000"/>
              <a:ext cx="2374577" cy="352044"/>
            </a:xfrm>
            <a:prstGeom prst="rect">
              <a:avLst/>
            </a:prstGeom>
            <a:noFill/>
            <a:ln>
              <a:noFill/>
            </a:ln>
          </p:spPr>
          <p:txBody>
            <a:bodyPr wrap="none" lIns="0" tIns="0" rIns="0" bIns="0" anchor="t" anchorCtr="0">
              <a:spAutoFit/>
            </a:bodyPr>
            <a:lstStyle/>
            <a:p>
              <a:pPr algn="l"/>
              <a:r>
                <a:rPr lang="vi-VN" sz="1800" b="1" dirty="0">
                  <a:solidFill>
                    <a:schemeClr val="dk1"/>
                  </a:solidFill>
                  <a:latin typeface="+mn-lt"/>
                  <a:ea typeface="+mn-ea"/>
                  <a:cs typeface="+mn-cs"/>
                </a:rPr>
                <a:t>File → Open Folder…</a:t>
              </a:r>
            </a:p>
          </p:txBody>
        </p:sp>
        <p:sp>
          <p:nvSpPr>
            <p:cNvPr id="18" name="TextBox 18"/>
            <p:cNvSpPr txBox="1"/>
            <p:nvPr/>
          </p:nvSpPr>
          <p:spPr>
            <a:xfrm>
              <a:off x="1212342" y="4654550"/>
              <a:ext cx="3047738" cy="264033"/>
            </a:xfrm>
            <a:prstGeom prst="rect">
              <a:avLst/>
            </a:prstGeom>
            <a:noFill/>
            <a:ln>
              <a:noFill/>
            </a:ln>
          </p:spPr>
          <p:txBody>
            <a:bodyPr wrap="none" lIns="0" tIns="0" rIns="0" bIns="0" anchor="t" anchorCtr="0">
              <a:spAutoFit/>
            </a:bodyPr>
            <a:lstStyle/>
            <a:p>
              <a:pPr algn="l"/>
              <a:r>
                <a:rPr lang="vi-VN" sz="1350" dirty="0">
                  <a:solidFill>
                    <a:schemeClr val="accent5"/>
                  </a:solidFill>
                  <a:latin typeface="+mn-lt"/>
                  <a:ea typeface="+mn-ea"/>
                  <a:cs typeface="+mn-cs"/>
                </a:rPr>
                <a:t>Mở toàn bộ thư mục Buoi2_VSCode.</a:t>
              </a:r>
            </a:p>
          </p:txBody>
        </p:sp>
        <p:sp>
          <p:nvSpPr>
            <p:cNvPr id="19" name="Line 19"/>
            <p:cNvSpPr/>
            <p:nvPr/>
          </p:nvSpPr>
          <p:spPr>
            <a:xfrm>
              <a:off x="1219200" y="5105400"/>
              <a:ext cx="3829050" cy="9525"/>
            </a:xfrm>
            <a:custGeom>
              <a:avLst/>
              <a:gdLst/>
              <a:ahLst/>
              <a:cxnLst/>
              <a:rect l="l" t="t" r="r" b="b"/>
              <a:pathLst>
                <a:path w="3829050" h="9525">
                  <a:moveTo>
                    <a:pt x="0" y="0"/>
                  </a:moveTo>
                  <a:lnTo>
                    <a:pt x="3829050" y="0"/>
                  </a:lnTo>
                </a:path>
              </a:pathLst>
            </a:custGeom>
            <a:noFill/>
            <a:ln w="9525">
              <a:solidFill>
                <a:schemeClr val="accent6"/>
              </a:solidFill>
            </a:ln>
          </p:spPr>
        </p:sp>
        <p:sp>
          <p:nvSpPr>
            <p:cNvPr id="20" name="TextBox 20"/>
            <p:cNvSpPr txBox="1"/>
            <p:nvPr/>
          </p:nvSpPr>
          <p:spPr>
            <a:xfrm>
              <a:off x="1212342" y="5302250"/>
              <a:ext cx="3452386" cy="264033"/>
            </a:xfrm>
            <a:prstGeom prst="rect">
              <a:avLst/>
            </a:prstGeom>
            <a:noFill/>
            <a:ln>
              <a:noFill/>
            </a:ln>
          </p:spPr>
          <p:txBody>
            <a:bodyPr wrap="none" lIns="0" tIns="0" rIns="0" bIns="0" anchor="t" anchorCtr="0">
              <a:spAutoFit/>
            </a:bodyPr>
            <a:lstStyle/>
            <a:p>
              <a:pPr algn="l"/>
              <a:r>
                <a:rPr lang="vi-VN" sz="1350" dirty="0">
                  <a:solidFill>
                    <a:schemeClr val="dk1"/>
                  </a:solidFill>
                  <a:latin typeface="+mn-lt"/>
                  <a:ea typeface="+mn-ea"/>
                  <a:cs typeface="+mn-cs"/>
                </a:rPr>
                <a:t>Explorer: mở file · Terminal: chạy lệnh</a:t>
              </a:r>
            </a:p>
          </p:txBody>
        </p:sp>
        <p:sp>
          <p:nvSpPr>
            <p:cNvPr id="21" name="TextBox 21"/>
            <p:cNvSpPr txBox="1"/>
            <p:nvPr/>
          </p:nvSpPr>
          <p:spPr>
            <a:xfrm>
              <a:off x="1213104" y="5524500"/>
              <a:ext cx="2444016" cy="234696"/>
            </a:xfrm>
            <a:prstGeom prst="rect">
              <a:avLst/>
            </a:prstGeom>
            <a:noFill/>
            <a:ln>
              <a:noFill/>
            </a:ln>
          </p:spPr>
          <p:txBody>
            <a:bodyPr wrap="none" lIns="0" tIns="0" rIns="0" bIns="0" anchor="t" anchorCtr="0">
              <a:spAutoFit/>
            </a:bodyPr>
            <a:lstStyle/>
            <a:p>
              <a:pPr algn="l"/>
              <a:r>
                <a:rPr lang="vi-VN" sz="1200" b="1" dirty="0">
                  <a:solidFill>
                    <a:schemeClr val="accent3"/>
                  </a:solidFill>
                  <a:latin typeface="+mn-lt"/>
                  <a:ea typeface="+mn-ea"/>
                  <a:cs typeface="+mn-cs"/>
                </a:rPr>
                <a:t>Mở đúng thư mục để dùng đúng</a:t>
              </a:r>
            </a:p>
          </p:txBody>
        </p:sp>
        <p:sp>
          <p:nvSpPr>
            <p:cNvPr id="22" name="TextBox 22"/>
            <p:cNvSpPr txBox="1"/>
            <p:nvPr/>
          </p:nvSpPr>
          <p:spPr>
            <a:xfrm>
              <a:off x="1213104" y="5734050"/>
              <a:ext cx="1894987" cy="234696"/>
            </a:xfrm>
            <a:prstGeom prst="rect">
              <a:avLst/>
            </a:prstGeom>
            <a:noFill/>
            <a:ln>
              <a:noFill/>
            </a:ln>
          </p:spPr>
          <p:txBody>
            <a:bodyPr wrap="none" lIns="0" tIns="0" rIns="0" bIns="0" anchor="t" anchorCtr="0">
              <a:spAutoFit/>
            </a:bodyPr>
            <a:lstStyle/>
            <a:p>
              <a:pPr algn="l"/>
              <a:r>
                <a:rPr lang="vi-VN" sz="1200" b="1" dirty="0">
                  <a:solidFill>
                    <a:schemeClr val="accent3"/>
                  </a:solidFill>
                  <a:latin typeface="+mn-lt"/>
                  <a:ea typeface="+mn-ea"/>
                  <a:cs typeface="+mn-cs"/>
                </a:rPr>
                <a:t>interpreter của dự án.</a:t>
              </a:r>
            </a:p>
          </p:txBody>
        </p:sp>
      </p:grpSp>
      <p:grpSp>
        <p:nvGrpSpPr>
          <p:cNvPr id="49" name="vscode-mockup"/>
          <p:cNvGrpSpPr/>
          <p:nvPr/>
        </p:nvGrpSpPr>
        <p:grpSpPr>
          <a:xfrm>
            <a:off x="5804154" y="1847850"/>
            <a:ext cx="5702046" cy="3981450"/>
            <a:chOff x="5804154" y="1847850"/>
            <a:chExt cx="5702046" cy="3981450"/>
          </a:xfrm>
        </p:grpSpPr>
        <p:sp>
          <p:nvSpPr>
            <p:cNvPr id="24" name="Rectangle 24"/>
            <p:cNvSpPr/>
            <p:nvPr/>
          </p:nvSpPr>
          <p:spPr>
            <a:xfrm>
              <a:off x="5810250" y="1847850"/>
              <a:ext cx="5695950" cy="3981450"/>
            </a:xfrm>
            <a:prstGeom prst="roundRect">
              <a:avLst>
                <a:gd name="adj" fmla="val 1435"/>
              </a:avLst>
            </a:prstGeom>
            <a:solidFill>
              <a:srgbClr val="FFFDF7"/>
            </a:solidFill>
            <a:ln w="14288">
              <a:solidFill>
                <a:schemeClr val="accent1"/>
              </a:solidFill>
            </a:ln>
          </p:spPr>
        </p:sp>
        <p:sp>
          <p:nvSpPr>
            <p:cNvPr id="25" name="Rectangle 25"/>
            <p:cNvSpPr/>
            <p:nvPr/>
          </p:nvSpPr>
          <p:spPr>
            <a:xfrm>
              <a:off x="5810250" y="1847850"/>
              <a:ext cx="5695950" cy="323850"/>
            </a:xfrm>
            <a:prstGeom prst="roundRect">
              <a:avLst>
                <a:gd name="adj" fmla="val 17647"/>
              </a:avLst>
            </a:prstGeom>
            <a:solidFill>
              <a:schemeClr val="accent1"/>
            </a:solidFill>
            <a:ln>
              <a:noFill/>
            </a:ln>
          </p:spPr>
        </p:sp>
        <p:sp>
          <p:nvSpPr>
            <p:cNvPr id="26" name="Ellipse 26"/>
            <p:cNvSpPr/>
            <p:nvPr/>
          </p:nvSpPr>
          <p:spPr>
            <a:xfrm>
              <a:off x="5972175" y="1962150"/>
              <a:ext cx="95250" cy="95250"/>
            </a:xfrm>
            <a:prstGeom prst="ellipse">
              <a:avLst/>
            </a:prstGeom>
            <a:solidFill>
              <a:schemeClr val="accent2"/>
            </a:solidFill>
            <a:ln>
              <a:noFill/>
            </a:ln>
          </p:spPr>
        </p:sp>
        <p:sp>
          <p:nvSpPr>
            <p:cNvPr id="27" name="Ellipse 27"/>
            <p:cNvSpPr/>
            <p:nvPr/>
          </p:nvSpPr>
          <p:spPr>
            <a:xfrm>
              <a:off x="6143625" y="1962150"/>
              <a:ext cx="95250" cy="95250"/>
            </a:xfrm>
            <a:prstGeom prst="ellipse">
              <a:avLst/>
            </a:prstGeom>
            <a:solidFill>
              <a:schemeClr val="lt2"/>
            </a:solidFill>
            <a:ln>
              <a:noFill/>
            </a:ln>
          </p:spPr>
        </p:sp>
        <p:sp>
          <p:nvSpPr>
            <p:cNvPr id="28" name="Ellipse 28"/>
            <p:cNvSpPr/>
            <p:nvPr/>
          </p:nvSpPr>
          <p:spPr>
            <a:xfrm>
              <a:off x="6315075" y="1962150"/>
              <a:ext cx="95250" cy="95250"/>
            </a:xfrm>
            <a:prstGeom prst="ellipse">
              <a:avLst/>
            </a:prstGeom>
            <a:solidFill>
              <a:schemeClr val="accent3"/>
            </a:solidFill>
            <a:ln>
              <a:noFill/>
            </a:ln>
          </p:spPr>
        </p:sp>
        <p:sp>
          <p:nvSpPr>
            <p:cNvPr id="29" name="TextBox 29"/>
            <p:cNvSpPr txBox="1"/>
            <p:nvPr/>
          </p:nvSpPr>
          <p:spPr>
            <a:xfrm>
              <a:off x="6756654" y="1914525"/>
              <a:ext cx="2781101" cy="234696"/>
            </a:xfrm>
            <a:prstGeom prst="rect">
              <a:avLst/>
            </a:prstGeom>
            <a:noFill/>
            <a:ln>
              <a:noFill/>
            </a:ln>
          </p:spPr>
          <p:txBody>
            <a:bodyPr wrap="none" lIns="0" tIns="0" rIns="0" bIns="0" anchor="t" anchorCtr="0">
              <a:spAutoFit/>
            </a:bodyPr>
            <a:lstStyle/>
            <a:p>
              <a:pPr algn="l"/>
              <a:r>
                <a:rPr lang="vi-VN" sz="1200" dirty="0">
                  <a:solidFill>
                    <a:srgbClr val="FFFDF7"/>
                  </a:solidFill>
                  <a:latin typeface="+mn-lt"/>
                  <a:ea typeface="+mn-ea"/>
                  <a:cs typeface="+mn-cs"/>
                </a:rPr>
                <a:t>Buoi2_VSCode · VS Code (mô phỏng)</a:t>
              </a:r>
            </a:p>
          </p:txBody>
        </p:sp>
        <p:sp>
          <p:nvSpPr>
            <p:cNvPr id="30" name="Rectangle 30"/>
            <p:cNvSpPr/>
            <p:nvPr/>
          </p:nvSpPr>
          <p:spPr>
            <a:xfrm>
              <a:off x="5810250" y="2171700"/>
              <a:ext cx="1485900" cy="2914650"/>
            </a:xfrm>
            <a:prstGeom prst="rect">
              <a:avLst/>
            </a:prstGeom>
            <a:solidFill>
              <a:schemeClr val="lt2"/>
            </a:solidFill>
            <a:ln>
              <a:noFill/>
            </a:ln>
          </p:spPr>
        </p:sp>
        <p:sp>
          <p:nvSpPr>
            <p:cNvPr id="31" name="TextBox 31"/>
            <p:cNvSpPr txBox="1"/>
            <p:nvPr/>
          </p:nvSpPr>
          <p:spPr>
            <a:xfrm>
              <a:off x="5975604" y="2305050"/>
              <a:ext cx="836615" cy="234696"/>
            </a:xfrm>
            <a:prstGeom prst="rect">
              <a:avLst/>
            </a:prstGeom>
            <a:noFill/>
            <a:ln>
              <a:noFill/>
            </a:ln>
          </p:spPr>
          <p:txBody>
            <a:bodyPr wrap="none" lIns="0" tIns="0" rIns="0" bIns="0" anchor="t" anchorCtr="0">
              <a:spAutoFit/>
            </a:bodyPr>
            <a:lstStyle/>
            <a:p>
              <a:pPr algn="l"/>
              <a:r>
                <a:rPr lang="vi-VN" sz="1200" b="1" dirty="0">
                  <a:solidFill>
                    <a:schemeClr val="accent1"/>
                  </a:solidFill>
                  <a:latin typeface="+mn-lt"/>
                  <a:ea typeface="+mn-ea"/>
                  <a:cs typeface="+mn-cs"/>
                </a:rPr>
                <a:t>EXPLORER</a:t>
              </a:r>
            </a:p>
          </p:txBody>
        </p:sp>
        <p:sp>
          <p:nvSpPr>
            <p:cNvPr id="32" name="TextBox 32"/>
            <p:cNvSpPr txBox="1"/>
            <p:nvPr/>
          </p:nvSpPr>
          <p:spPr>
            <a:xfrm>
              <a:off x="5975604" y="2609850"/>
              <a:ext cx="1201644" cy="234696"/>
            </a:xfrm>
            <a:prstGeom prst="rect">
              <a:avLst/>
            </a:prstGeom>
            <a:noFill/>
            <a:ln>
              <a:noFill/>
            </a:ln>
          </p:spPr>
          <p:txBody>
            <a:bodyPr wrap="none" lIns="0" tIns="0" rIns="0" bIns="0" anchor="t" anchorCtr="0">
              <a:spAutoFit/>
            </a:bodyPr>
            <a:lstStyle/>
            <a:p>
              <a:pPr algn="l"/>
              <a:r>
                <a:rPr lang="vi-VN" sz="1200" dirty="0">
                  <a:solidFill>
                    <a:schemeClr val="dk1"/>
                  </a:solidFill>
                  <a:latin typeface="+mn-lt"/>
                  <a:ea typeface="+mn-ea"/>
                  <a:cs typeface="+mn-cs"/>
                </a:rPr>
                <a:t>▾ Buoi2_VSCode</a:t>
              </a:r>
            </a:p>
          </p:txBody>
        </p:sp>
        <p:sp>
          <p:nvSpPr>
            <p:cNvPr id="33" name="TextBox 33"/>
            <p:cNvSpPr txBox="1"/>
            <p:nvPr/>
          </p:nvSpPr>
          <p:spPr>
            <a:xfrm>
              <a:off x="6128004" y="2895600"/>
              <a:ext cx="456438" cy="234696"/>
            </a:xfrm>
            <a:prstGeom prst="rect">
              <a:avLst/>
            </a:prstGeom>
            <a:noFill/>
            <a:ln>
              <a:noFill/>
            </a:ln>
          </p:spPr>
          <p:txBody>
            <a:bodyPr wrap="none" lIns="0" tIns="0" rIns="0" bIns="0" anchor="t" anchorCtr="0">
              <a:spAutoFit/>
            </a:bodyPr>
            <a:lstStyle/>
            <a:p>
              <a:pPr algn="l"/>
              <a:r>
                <a:rPr lang="vi-VN" sz="1200" dirty="0">
                  <a:solidFill>
                    <a:schemeClr val="accent5"/>
                  </a:solidFill>
                  <a:latin typeface="+mn-lt"/>
                  <a:ea typeface="+mn-ea"/>
                  <a:cs typeface="+mn-cs"/>
                </a:rPr>
                <a:t>code/</a:t>
              </a:r>
            </a:p>
          </p:txBody>
        </p:sp>
        <p:sp>
          <p:nvSpPr>
            <p:cNvPr id="34" name="TextBox 34"/>
            <p:cNvSpPr txBox="1"/>
            <p:nvPr/>
          </p:nvSpPr>
          <p:spPr>
            <a:xfrm>
              <a:off x="6128004" y="3181350"/>
              <a:ext cx="1037996" cy="234696"/>
            </a:xfrm>
            <a:prstGeom prst="rect">
              <a:avLst/>
            </a:prstGeom>
            <a:noFill/>
            <a:ln>
              <a:noFill/>
            </a:ln>
          </p:spPr>
          <p:txBody>
            <a:bodyPr wrap="none" lIns="0" tIns="0" rIns="0" bIns="0" anchor="t" anchorCtr="0">
              <a:spAutoFit/>
            </a:bodyPr>
            <a:lstStyle/>
            <a:p>
              <a:pPr algn="l"/>
              <a:r>
                <a:rPr lang="vi-VN" sz="1200" dirty="0">
                  <a:solidFill>
                    <a:schemeClr val="accent5"/>
                  </a:solidFill>
                  <a:latin typeface="+mn-lt"/>
                  <a:ea typeface="+mn-ea"/>
                  <a:cs typeface="+mn-cs"/>
                </a:rPr>
                <a:t>ve_do_thi.py</a:t>
              </a:r>
            </a:p>
          </p:txBody>
        </p:sp>
        <p:sp>
          <p:nvSpPr>
            <p:cNvPr id="35" name="TextBox 35"/>
            <p:cNvSpPr txBox="1"/>
            <p:nvPr/>
          </p:nvSpPr>
          <p:spPr>
            <a:xfrm>
              <a:off x="6128004" y="3467100"/>
              <a:ext cx="1425702" cy="234696"/>
            </a:xfrm>
            <a:prstGeom prst="rect">
              <a:avLst/>
            </a:prstGeom>
            <a:noFill/>
            <a:ln>
              <a:noFill/>
            </a:ln>
          </p:spPr>
          <p:txBody>
            <a:bodyPr wrap="none" lIns="0" tIns="0" rIns="0" bIns="0" anchor="t" anchorCtr="0">
              <a:spAutoFit/>
            </a:bodyPr>
            <a:lstStyle/>
            <a:p>
              <a:pPr algn="l"/>
              <a:r>
                <a:rPr lang="vi-VN" sz="1200" dirty="0">
                  <a:solidFill>
                    <a:schemeClr val="accent5"/>
                  </a:solidFill>
                  <a:latin typeface="+mn-lt"/>
                  <a:ea typeface="+mn-ea"/>
                  <a:cs typeface="+mn-cs"/>
                </a:rPr>
                <a:t>requirements.txt</a:t>
              </a:r>
            </a:p>
          </p:txBody>
        </p:sp>
        <p:sp>
          <p:nvSpPr>
            <p:cNvPr id="36" name="TextBox 36"/>
            <p:cNvSpPr txBox="1"/>
            <p:nvPr/>
          </p:nvSpPr>
          <p:spPr>
            <a:xfrm>
              <a:off x="6128004" y="3752850"/>
              <a:ext cx="722986" cy="234696"/>
            </a:xfrm>
            <a:prstGeom prst="rect">
              <a:avLst/>
            </a:prstGeom>
            <a:noFill/>
            <a:ln>
              <a:noFill/>
            </a:ln>
          </p:spPr>
          <p:txBody>
            <a:bodyPr wrap="none" lIns="0" tIns="0" rIns="0" bIns="0" anchor="t" anchorCtr="0">
              <a:spAutoFit/>
            </a:bodyPr>
            <a:lstStyle/>
            <a:p>
              <a:pPr algn="l"/>
              <a:r>
                <a:rPr lang="vi-VN" sz="1200" dirty="0">
                  <a:solidFill>
                    <a:schemeClr val="accent5"/>
                  </a:solidFill>
                  <a:latin typeface="+mn-lt"/>
                  <a:ea typeface="+mn-ea"/>
                  <a:cs typeface="+mn-cs"/>
                </a:rPr>
                <a:t>.vscode/</a:t>
              </a:r>
            </a:p>
          </p:txBody>
        </p:sp>
        <p:sp>
          <p:nvSpPr>
            <p:cNvPr id="37" name="Rectangle 37"/>
            <p:cNvSpPr/>
            <p:nvPr/>
          </p:nvSpPr>
          <p:spPr>
            <a:xfrm>
              <a:off x="7296150" y="2171700"/>
              <a:ext cx="4210050" cy="1943100"/>
            </a:xfrm>
            <a:prstGeom prst="rect">
              <a:avLst/>
            </a:prstGeom>
            <a:solidFill>
              <a:schemeClr val="lt1"/>
            </a:solidFill>
            <a:ln>
              <a:noFill/>
            </a:ln>
          </p:spPr>
        </p:sp>
        <p:sp>
          <p:nvSpPr>
            <p:cNvPr id="38" name="TextBox 38"/>
            <p:cNvSpPr txBox="1"/>
            <p:nvPr/>
          </p:nvSpPr>
          <p:spPr>
            <a:xfrm>
              <a:off x="7518654" y="2324100"/>
              <a:ext cx="594665" cy="234696"/>
            </a:xfrm>
            <a:prstGeom prst="rect">
              <a:avLst/>
            </a:prstGeom>
            <a:noFill/>
            <a:ln>
              <a:noFill/>
            </a:ln>
          </p:spPr>
          <p:txBody>
            <a:bodyPr wrap="none" lIns="0" tIns="0" rIns="0" bIns="0" anchor="t" anchorCtr="0">
              <a:spAutoFit/>
            </a:bodyPr>
            <a:lstStyle/>
            <a:p>
              <a:pPr algn="l"/>
              <a:r>
                <a:rPr lang="vi-VN" sz="1200" b="1" dirty="0">
                  <a:solidFill>
                    <a:schemeClr val="accent1"/>
                  </a:solidFill>
                  <a:latin typeface="+mn-lt"/>
                  <a:ea typeface="+mn-ea"/>
                  <a:cs typeface="+mn-cs"/>
                </a:rPr>
                <a:t>EDITOR</a:t>
              </a:r>
            </a:p>
          </p:txBody>
        </p:sp>
        <p:sp>
          <p:nvSpPr>
            <p:cNvPr id="39" name="TextBox 39"/>
            <p:cNvSpPr txBox="1"/>
            <p:nvPr/>
          </p:nvSpPr>
          <p:spPr>
            <a:xfrm>
              <a:off x="7517892" y="2673350"/>
              <a:ext cx="1313136" cy="264033"/>
            </a:xfrm>
            <a:prstGeom prst="rect">
              <a:avLst/>
            </a:prstGeom>
            <a:noFill/>
            <a:ln>
              <a:noFill/>
            </a:ln>
          </p:spPr>
          <p:txBody>
            <a:bodyPr wrap="none" lIns="0" tIns="0" rIns="0" bIns="0" anchor="t" anchorCtr="0">
              <a:spAutoFit/>
            </a:bodyPr>
            <a:lstStyle/>
            <a:p>
              <a:pPr algn="l"/>
              <a:r>
                <a:rPr lang="vi-VN" sz="1350" dirty="0">
                  <a:solidFill>
                    <a:schemeClr val="dk1"/>
                  </a:solidFill>
                  <a:latin typeface="Consolas"/>
                  <a:ea typeface="Consolas"/>
                  <a:cs typeface="Consolas"/>
                </a:rPr>
                <a:t>import serial</a:t>
              </a:r>
            </a:p>
          </p:txBody>
        </p:sp>
        <p:sp>
          <p:nvSpPr>
            <p:cNvPr id="40" name="TextBox 40"/>
            <p:cNvSpPr txBox="1"/>
            <p:nvPr/>
          </p:nvSpPr>
          <p:spPr>
            <a:xfrm>
              <a:off x="7517892" y="2959100"/>
              <a:ext cx="2720997" cy="264033"/>
            </a:xfrm>
            <a:prstGeom prst="rect">
              <a:avLst/>
            </a:prstGeom>
            <a:noFill/>
            <a:ln>
              <a:noFill/>
            </a:ln>
          </p:spPr>
          <p:txBody>
            <a:bodyPr wrap="none" lIns="0" tIns="0" rIns="0" bIns="0" anchor="t" anchorCtr="0">
              <a:spAutoFit/>
            </a:bodyPr>
            <a:lstStyle/>
            <a:p>
              <a:pPr algn="l"/>
              <a:r>
                <a:rPr lang="vi-VN" sz="1350" dirty="0">
                  <a:solidFill>
                    <a:schemeClr val="dk1"/>
                  </a:solidFill>
                  <a:latin typeface="Consolas"/>
                  <a:ea typeface="Consolas"/>
                  <a:cs typeface="Consolas"/>
                </a:rPr>
                <a:t>device = serial.Serial(...)</a:t>
              </a:r>
            </a:p>
          </p:txBody>
        </p:sp>
        <p:sp>
          <p:nvSpPr>
            <p:cNvPr id="41" name="TextBox 41"/>
            <p:cNvSpPr txBox="1"/>
            <p:nvPr/>
          </p:nvSpPr>
          <p:spPr>
            <a:xfrm>
              <a:off x="7517892" y="3244850"/>
              <a:ext cx="2512600" cy="264033"/>
            </a:xfrm>
            <a:prstGeom prst="rect">
              <a:avLst/>
            </a:prstGeom>
            <a:noFill/>
            <a:ln>
              <a:noFill/>
            </a:ln>
          </p:spPr>
          <p:txBody>
            <a:bodyPr wrap="none" lIns="0" tIns="0" rIns="0" bIns="0" anchor="t" anchorCtr="0">
              <a:spAutoFit/>
            </a:bodyPr>
            <a:lstStyle/>
            <a:p>
              <a:pPr algn="l"/>
              <a:r>
                <a:rPr lang="vi-VN" sz="1350" dirty="0">
                  <a:solidFill>
                    <a:schemeClr val="dk1"/>
                  </a:solidFill>
                  <a:latin typeface="Consolas"/>
                  <a:ea typeface="Consolas"/>
                  <a:cs typeface="Consolas"/>
                </a:rPr>
                <a:t>reply = device.readline()</a:t>
              </a:r>
            </a:p>
          </p:txBody>
        </p:sp>
        <p:sp>
          <p:nvSpPr>
            <p:cNvPr id="42" name="Line 42"/>
            <p:cNvSpPr/>
            <p:nvPr/>
          </p:nvSpPr>
          <p:spPr>
            <a:xfrm>
              <a:off x="7524750" y="3638550"/>
              <a:ext cx="3600450" cy="9525"/>
            </a:xfrm>
            <a:custGeom>
              <a:avLst/>
              <a:gdLst/>
              <a:ahLst/>
              <a:cxnLst/>
              <a:rect l="l" t="t" r="r" b="b"/>
              <a:pathLst>
                <a:path w="3600450" h="9525">
                  <a:moveTo>
                    <a:pt x="0" y="0"/>
                  </a:moveTo>
                  <a:lnTo>
                    <a:pt x="3600450" y="0"/>
                  </a:lnTo>
                </a:path>
              </a:pathLst>
            </a:custGeom>
            <a:noFill/>
            <a:ln w="9525">
              <a:solidFill>
                <a:schemeClr val="accent6"/>
              </a:solidFill>
            </a:ln>
          </p:spPr>
        </p:sp>
        <p:sp>
          <p:nvSpPr>
            <p:cNvPr id="43" name="TextBox 43"/>
            <p:cNvSpPr txBox="1"/>
            <p:nvPr/>
          </p:nvSpPr>
          <p:spPr>
            <a:xfrm>
              <a:off x="7518654" y="3752850"/>
              <a:ext cx="1767840" cy="234696"/>
            </a:xfrm>
            <a:prstGeom prst="rect">
              <a:avLst/>
            </a:prstGeom>
            <a:noFill/>
            <a:ln>
              <a:noFill/>
            </a:ln>
          </p:spPr>
          <p:txBody>
            <a:bodyPr wrap="none" lIns="0" tIns="0" rIns="0" bIns="0" anchor="t" anchorCtr="0">
              <a:spAutoFit/>
            </a:bodyPr>
            <a:lstStyle/>
            <a:p>
              <a:pPr algn="l"/>
              <a:r>
                <a:rPr lang="vi-VN" sz="1200" dirty="0">
                  <a:solidFill>
                    <a:schemeClr val="accent5"/>
                  </a:solidFill>
                  <a:latin typeface="+mn-lt"/>
                  <a:ea typeface="+mn-ea"/>
                  <a:cs typeface="+mn-cs"/>
                </a:rPr>
                <a:t>Vùng soạn code Python</a:t>
              </a:r>
            </a:p>
          </p:txBody>
        </p:sp>
        <p:sp>
          <p:nvSpPr>
            <p:cNvPr id="44" name="Rectangle 44"/>
            <p:cNvSpPr/>
            <p:nvPr/>
          </p:nvSpPr>
          <p:spPr>
            <a:xfrm>
              <a:off x="7296150" y="4114800"/>
              <a:ext cx="4210050" cy="971550"/>
            </a:xfrm>
            <a:prstGeom prst="rect">
              <a:avLst/>
            </a:prstGeom>
            <a:solidFill>
              <a:schemeClr val="lt2"/>
            </a:solidFill>
            <a:ln>
              <a:noFill/>
            </a:ln>
          </p:spPr>
        </p:sp>
        <p:sp>
          <p:nvSpPr>
            <p:cNvPr id="45" name="TextBox 45"/>
            <p:cNvSpPr txBox="1"/>
            <p:nvPr/>
          </p:nvSpPr>
          <p:spPr>
            <a:xfrm>
              <a:off x="7518654" y="4248150"/>
              <a:ext cx="1786494" cy="234696"/>
            </a:xfrm>
            <a:prstGeom prst="rect">
              <a:avLst/>
            </a:prstGeom>
            <a:noFill/>
            <a:ln>
              <a:noFill/>
            </a:ln>
          </p:spPr>
          <p:txBody>
            <a:bodyPr wrap="none" lIns="0" tIns="0" rIns="0" bIns="0" anchor="t" anchorCtr="0">
              <a:spAutoFit/>
            </a:bodyPr>
            <a:lstStyle/>
            <a:p>
              <a:pPr algn="l"/>
              <a:r>
                <a:rPr lang="vi-VN" sz="1200" b="1" dirty="0">
                  <a:solidFill>
                    <a:schemeClr val="accent1"/>
                  </a:solidFill>
                  <a:latin typeface="+mn-lt"/>
                  <a:ea typeface="+mn-ea"/>
                  <a:cs typeface="+mn-cs"/>
                </a:rPr>
                <a:t>INTEGRATED TERMINAL</a:t>
              </a:r>
            </a:p>
          </p:txBody>
        </p:sp>
        <p:sp>
          <p:nvSpPr>
            <p:cNvPr id="46" name="TextBox 46"/>
            <p:cNvSpPr txBox="1"/>
            <p:nvPr/>
          </p:nvSpPr>
          <p:spPr>
            <a:xfrm>
              <a:off x="7517892" y="4559300"/>
              <a:ext cx="2728591" cy="264033"/>
            </a:xfrm>
            <a:prstGeom prst="rect">
              <a:avLst/>
            </a:prstGeom>
            <a:noFill/>
            <a:ln>
              <a:noFill/>
            </a:ln>
          </p:spPr>
          <p:txBody>
            <a:bodyPr wrap="none" lIns="0" tIns="0" rIns="0" bIns="0" anchor="t" anchorCtr="0">
              <a:spAutoFit/>
            </a:bodyPr>
            <a:lstStyle/>
            <a:p>
              <a:pPr algn="l"/>
              <a:r>
                <a:rPr lang="vi-VN" sz="1350" dirty="0">
                  <a:solidFill>
                    <a:schemeClr val="dk1"/>
                  </a:solidFill>
                  <a:latin typeface="Consolas"/>
                  <a:ea typeface="Consolas"/>
                  <a:cs typeface="Consolas"/>
                </a:rPr>
                <a:t>PS&gt; python 01_list_ports.py</a:t>
              </a:r>
            </a:p>
          </p:txBody>
        </p:sp>
        <p:sp>
          <p:nvSpPr>
            <p:cNvPr id="47" name="TextBox 47"/>
            <p:cNvSpPr txBox="1"/>
            <p:nvPr/>
          </p:nvSpPr>
          <p:spPr>
            <a:xfrm>
              <a:off x="7517892" y="4806950"/>
              <a:ext cx="2472995" cy="264033"/>
            </a:xfrm>
            <a:prstGeom prst="rect">
              <a:avLst/>
            </a:prstGeom>
            <a:noFill/>
            <a:ln>
              <a:noFill/>
            </a:ln>
          </p:spPr>
          <p:txBody>
            <a:bodyPr wrap="none" lIns="0" tIns="0" rIns="0" bIns="0" anchor="t" anchorCtr="0">
              <a:spAutoFit/>
            </a:bodyPr>
            <a:lstStyle/>
            <a:p>
              <a:pPr algn="l"/>
              <a:r>
                <a:rPr lang="vi-VN" sz="1350" dirty="0">
                  <a:solidFill>
                    <a:schemeClr val="accent3"/>
                  </a:solidFill>
                  <a:latin typeface="Consolas"/>
                  <a:ea typeface="Consolas"/>
                  <a:cs typeface="Consolas"/>
                </a:rPr>
                <a:t>COM4 — USB Serial Device</a:t>
              </a:r>
            </a:p>
          </p:txBody>
        </p:sp>
        <p:sp>
          <p:nvSpPr>
            <p:cNvPr id="48" name="TextBox 48"/>
            <p:cNvSpPr txBox="1"/>
            <p:nvPr/>
          </p:nvSpPr>
          <p:spPr>
            <a:xfrm>
              <a:off x="5804154" y="5334000"/>
              <a:ext cx="3515442" cy="234696"/>
            </a:xfrm>
            <a:prstGeom prst="rect">
              <a:avLst/>
            </a:prstGeom>
            <a:noFill/>
            <a:ln>
              <a:noFill/>
            </a:ln>
          </p:spPr>
          <p:txBody>
            <a:bodyPr wrap="none" lIns="0" tIns="0" rIns="0" bIns="0" anchor="t" anchorCtr="0">
              <a:spAutoFit/>
            </a:bodyPr>
            <a:lstStyle/>
            <a:p>
              <a:pPr algn="l"/>
              <a:r>
                <a:rPr lang="vi-VN" sz="1200" dirty="0">
                  <a:solidFill>
                    <a:schemeClr val="accent5"/>
                  </a:solidFill>
                  <a:latin typeface="+mn-lt"/>
                  <a:ea typeface="+mn-ea"/>
                  <a:cs typeface="+mn-cs"/>
                </a:rPr>
                <a:t>Bản mô phỏng; không phải ảnh chụp giao diện.</a:t>
              </a:r>
            </a:p>
          </p:txBody>
        </p:sp>
      </p:grpSp>
      <p:grpSp>
        <p:nvGrpSpPr>
          <p:cNvPr id="52" name="page-footer"/>
          <p:cNvGrpSpPr/>
          <p:nvPr/>
        </p:nvGrpSpPr>
        <p:grpSpPr>
          <a:xfrm>
            <a:off x="679704" y="6429375"/>
            <a:ext cx="10832592" cy="234696"/>
            <a:chOff x="679704" y="6429375"/>
            <a:chExt cx="10832592" cy="234696"/>
          </a:xfrm>
        </p:grpSpPr>
        <p:sp>
          <p:nvSpPr>
            <p:cNvPr id="50" name="TextBox 50"/>
            <p:cNvSpPr txBox="1"/>
            <p:nvPr/>
          </p:nvSpPr>
          <p:spPr>
            <a:xfrm>
              <a:off x="679704" y="6429375"/>
              <a:ext cx="3212592" cy="234696"/>
            </a:xfrm>
            <a:prstGeom prst="rect">
              <a:avLst/>
            </a:prstGeom>
            <a:noFill/>
            <a:ln>
              <a:noFill/>
            </a:ln>
          </p:spPr>
          <p:txBody>
            <a:bodyPr wrap="none" lIns="0" tIns="0" rIns="0" bIns="0" anchor="t" anchorCtr="0">
              <a:spAutoFit/>
            </a:bodyPr>
            <a:lstStyle/>
            <a:p>
              <a:pPr algn="l"/>
              <a:r>
                <a:rPr lang="vi-VN" sz="1200" dirty="0">
                  <a:solidFill>
                    <a:schemeClr val="accent5"/>
                  </a:solidFill>
                  <a:latin typeface="+mn-lt"/>
                  <a:ea typeface="+mn-ea"/>
                  <a:cs typeface="+mn-cs"/>
                </a:rPr>
                <a:t>MÔI TRƯỜNG · MỞ NGUYÊN THƯ MỤC DỰ ÁN</a:t>
              </a:r>
            </a:p>
          </p:txBody>
        </p:sp>
        <p:sp>
          <p:nvSpPr>
            <p:cNvPr id="51" name="TextBox 51"/>
            <p:cNvSpPr txBox="1"/>
            <p:nvPr/>
          </p:nvSpPr>
          <p:spPr>
            <a:xfrm>
              <a:off x="10958932" y="6429375"/>
              <a:ext cx="553364" cy="234696"/>
            </a:xfrm>
            <a:prstGeom prst="rect">
              <a:avLst/>
            </a:prstGeom>
            <a:noFill/>
            <a:ln>
              <a:noFill/>
            </a:ln>
          </p:spPr>
          <p:txBody>
            <a:bodyPr wrap="none" lIns="0" tIns="0" rIns="0" bIns="0" anchor="t" anchorCtr="0">
              <a:spAutoFit/>
            </a:bodyPr>
            <a:lstStyle/>
            <a:p>
              <a:pPr algn="r"/>
              <a:r>
                <a:rPr lang="vi-VN" sz="1200" dirty="0">
                  <a:solidFill>
                    <a:schemeClr val="accent5"/>
                  </a:solidFill>
                  <a:latin typeface="+mn-lt"/>
                  <a:ea typeface="+mn-ea"/>
                  <a:cs typeface="+mn-cs"/>
                </a:rPr>
                <a:t>04 / 25</a:t>
              </a:r>
            </a:p>
          </p:txBody>
        </p:sp>
      </p:gr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page-title"/>
          <p:cNvGrpSpPr/>
          <p:nvPr/>
        </p:nvGrpSpPr>
        <p:grpSpPr>
          <a:xfrm>
            <a:off x="669798" y="520700"/>
            <a:ext cx="10836402" cy="955675"/>
            <a:chOff x="669798" y="520700"/>
            <a:chExt cx="10836402" cy="955675"/>
          </a:xfrm>
        </p:grpSpPr>
        <p:sp>
          <p:nvSpPr>
            <p:cNvPr id="2" name="TextBox 2"/>
            <p:cNvSpPr txBox="1"/>
            <p:nvPr/>
          </p:nvSpPr>
          <p:spPr>
            <a:xfrm>
              <a:off x="678942" y="520700"/>
              <a:ext cx="2604600" cy="264033"/>
            </a:xfrm>
            <a:prstGeom prst="rect">
              <a:avLst/>
            </a:prstGeom>
            <a:noFill/>
            <a:ln>
              <a:noFill/>
            </a:ln>
          </p:spPr>
          <p:txBody>
            <a:bodyPr wrap="none" lIns="0" tIns="0" rIns="0" bIns="0" anchor="t" anchorCtr="0">
              <a:spAutoFit/>
            </a:bodyPr>
            <a:lstStyle/>
            <a:p>
              <a:pPr algn="l"/>
              <a:r>
                <a:rPr lang="vi-VN" sz="1350" b="1" dirty="0">
                  <a:solidFill>
                    <a:schemeClr val="accent3"/>
                  </a:solidFill>
                  <a:latin typeface="+mn-lt"/>
                  <a:ea typeface="+mn-ea"/>
                  <a:cs typeface="+mn-cs"/>
                </a:rPr>
                <a:t>02 · MÔI TRƯỜNG THỰC HÀNH</a:t>
              </a:r>
            </a:p>
          </p:txBody>
        </p:sp>
        <p:sp>
          <p:nvSpPr>
            <p:cNvPr id="3" name="TextBox 3"/>
            <p:cNvSpPr txBox="1"/>
            <p:nvPr/>
          </p:nvSpPr>
          <p:spPr>
            <a:xfrm>
              <a:off x="669798" y="838200"/>
              <a:ext cx="7728766" cy="616077"/>
            </a:xfrm>
            <a:prstGeom prst="rect">
              <a:avLst/>
            </a:prstGeom>
            <a:noFill/>
            <a:ln>
              <a:noFill/>
            </a:ln>
          </p:spPr>
          <p:txBody>
            <a:bodyPr wrap="none" lIns="0" tIns="0" rIns="0" bIns="0" anchor="t" anchorCtr="0">
              <a:spAutoFit/>
            </a:bodyPr>
            <a:lstStyle/>
            <a:p>
              <a:pPr algn="l"/>
              <a:r>
                <a:rPr lang="vi-VN" sz="3150" b="1" dirty="0">
                  <a:solidFill>
                    <a:schemeClr val="accent1"/>
                  </a:solidFill>
                  <a:latin typeface="+mn-lt"/>
                  <a:ea typeface="+mn-ea"/>
                  <a:cs typeface="+mn-cs"/>
                </a:rPr>
                <a:t>Cấu trúc dự án và chức năng các tệp</a:t>
              </a:r>
            </a:p>
          </p:txBody>
        </p:sp>
        <p:sp>
          <p:nvSpPr>
            <p:cNvPr id="4" name="Line 4"/>
            <p:cNvSpPr/>
            <p:nvPr/>
          </p:nvSpPr>
          <p:spPr>
            <a:xfrm>
              <a:off x="685800" y="1466850"/>
              <a:ext cx="10820400" cy="9525"/>
            </a:xfrm>
            <a:custGeom>
              <a:avLst/>
              <a:gdLst/>
              <a:ahLst/>
              <a:cxnLst/>
              <a:rect l="l" t="t" r="r" b="b"/>
              <a:pathLst>
                <a:path w="10820400" h="9525">
                  <a:moveTo>
                    <a:pt x="0" y="0"/>
                  </a:moveTo>
                  <a:lnTo>
                    <a:pt x="10820400" y="0"/>
                  </a:lnTo>
                </a:path>
              </a:pathLst>
            </a:custGeom>
            <a:noFill/>
            <a:ln w="14288">
              <a:solidFill>
                <a:schemeClr val="accent6"/>
              </a:solidFill>
            </a:ln>
          </p:spPr>
        </p:sp>
      </p:grpSp>
      <p:grpSp>
        <p:nvGrpSpPr>
          <p:cNvPr id="20" name="project-tree"/>
          <p:cNvGrpSpPr/>
          <p:nvPr/>
        </p:nvGrpSpPr>
        <p:grpSpPr>
          <a:xfrm>
            <a:off x="678942" y="1949450"/>
            <a:ext cx="4769358" cy="4222750"/>
            <a:chOff x="678942" y="1949450"/>
            <a:chExt cx="4769358" cy="4222750"/>
          </a:xfrm>
        </p:grpSpPr>
        <p:sp>
          <p:nvSpPr>
            <p:cNvPr id="6" name="TextBox 6"/>
            <p:cNvSpPr txBox="1"/>
            <p:nvPr/>
          </p:nvSpPr>
          <p:spPr>
            <a:xfrm>
              <a:off x="678942" y="1949450"/>
              <a:ext cx="2241674" cy="264033"/>
            </a:xfrm>
            <a:prstGeom prst="rect">
              <a:avLst/>
            </a:prstGeom>
            <a:noFill/>
            <a:ln>
              <a:noFill/>
            </a:ln>
          </p:spPr>
          <p:txBody>
            <a:bodyPr wrap="none" lIns="0" tIns="0" rIns="0" bIns="0" anchor="t" anchorCtr="0">
              <a:spAutoFit/>
            </a:bodyPr>
            <a:lstStyle/>
            <a:p>
              <a:pPr algn="l"/>
              <a:r>
                <a:rPr lang="vi-VN" sz="1350" b="1" dirty="0">
                  <a:solidFill>
                    <a:schemeClr val="accent5"/>
                  </a:solidFill>
                  <a:latin typeface="+mn-lt"/>
                  <a:ea typeface="+mn-ea"/>
                  <a:cs typeface="+mn-cs"/>
                </a:rPr>
                <a:t>CẤU TRÚC THƯ MỤC DỰ ÁN</a:t>
              </a:r>
            </a:p>
          </p:txBody>
        </p:sp>
        <p:sp>
          <p:nvSpPr>
            <p:cNvPr id="7" name="Rectangle 7"/>
            <p:cNvSpPr/>
            <p:nvPr/>
          </p:nvSpPr>
          <p:spPr>
            <a:xfrm>
              <a:off x="685800" y="2286000"/>
              <a:ext cx="4762500" cy="3886200"/>
            </a:xfrm>
            <a:prstGeom prst="roundRect">
              <a:avLst>
                <a:gd name="adj" fmla="val 1471"/>
              </a:avLst>
            </a:prstGeom>
            <a:solidFill>
              <a:schemeClr val="lt2"/>
            </a:solidFill>
            <a:ln>
              <a:noFill/>
            </a:ln>
          </p:spPr>
        </p:sp>
        <p:sp>
          <p:nvSpPr>
            <p:cNvPr id="8" name="TextBox 8"/>
            <p:cNvSpPr txBox="1"/>
            <p:nvPr/>
          </p:nvSpPr>
          <p:spPr>
            <a:xfrm>
              <a:off x="926592" y="2444750"/>
              <a:ext cx="1342556" cy="264033"/>
            </a:xfrm>
            <a:prstGeom prst="rect">
              <a:avLst/>
            </a:prstGeom>
            <a:noFill/>
            <a:ln>
              <a:noFill/>
            </a:ln>
          </p:spPr>
          <p:txBody>
            <a:bodyPr wrap="none" lIns="0" tIns="0" rIns="0" bIns="0" anchor="t" anchorCtr="0">
              <a:spAutoFit/>
            </a:bodyPr>
            <a:lstStyle/>
            <a:p>
              <a:pPr algn="l"/>
              <a:r>
                <a:rPr lang="vi-VN" sz="1350" dirty="0">
                  <a:solidFill>
                    <a:schemeClr val="accent1"/>
                  </a:solidFill>
                  <a:latin typeface="Consolas"/>
                  <a:ea typeface="Consolas"/>
                  <a:cs typeface="Consolas"/>
                </a:rPr>
                <a:t>Buoi2_VSCode/</a:t>
              </a:r>
            </a:p>
          </p:txBody>
        </p:sp>
        <p:sp>
          <p:nvSpPr>
            <p:cNvPr id="9" name="TextBox 9"/>
            <p:cNvSpPr txBox="1"/>
            <p:nvPr/>
          </p:nvSpPr>
          <p:spPr>
            <a:xfrm>
              <a:off x="926592" y="2711450"/>
              <a:ext cx="813359" cy="264033"/>
            </a:xfrm>
            <a:prstGeom prst="rect">
              <a:avLst/>
            </a:prstGeom>
            <a:noFill/>
            <a:ln>
              <a:noFill/>
            </a:ln>
          </p:spPr>
          <p:txBody>
            <a:bodyPr wrap="none" lIns="0" tIns="0" rIns="0" bIns="0" anchor="t" anchorCtr="0">
              <a:spAutoFit/>
            </a:bodyPr>
            <a:lstStyle/>
            <a:p>
              <a:pPr algn="l"/>
              <a:r>
                <a:rPr lang="vi-VN" sz="1350" dirty="0">
                  <a:solidFill>
                    <a:schemeClr val="dk1"/>
                  </a:solidFill>
                  <a:latin typeface="Consolas"/>
                  <a:ea typeface="Consolas"/>
                  <a:cs typeface="Consolas"/>
                </a:rPr>
                <a:t>├─ code/</a:t>
              </a:r>
            </a:p>
          </p:txBody>
        </p:sp>
        <p:sp>
          <p:nvSpPr>
            <p:cNvPr id="10" name="TextBox 10"/>
            <p:cNvSpPr txBox="1"/>
            <p:nvPr/>
          </p:nvSpPr>
          <p:spPr>
            <a:xfrm>
              <a:off x="1250442" y="2978150"/>
              <a:ext cx="2112778" cy="264033"/>
            </a:xfrm>
            <a:prstGeom prst="rect">
              <a:avLst/>
            </a:prstGeom>
            <a:noFill/>
            <a:ln>
              <a:noFill/>
            </a:ln>
          </p:spPr>
          <p:txBody>
            <a:bodyPr wrap="none" lIns="0" tIns="0" rIns="0" bIns="0" anchor="t" anchorCtr="0">
              <a:spAutoFit/>
            </a:bodyPr>
            <a:lstStyle/>
            <a:p>
              <a:pPr algn="l"/>
              <a:r>
                <a:rPr lang="vi-VN" sz="1350" dirty="0">
                  <a:solidFill>
                    <a:schemeClr val="dk1"/>
                  </a:solidFill>
                  <a:latin typeface="Consolas"/>
                  <a:ea typeface="Consolas"/>
                  <a:cs typeface="Consolas"/>
                </a:rPr>
                <a:t>│ ├─ 01_list_ports.py</a:t>
              </a:r>
            </a:p>
          </p:txBody>
        </p:sp>
        <p:sp>
          <p:nvSpPr>
            <p:cNvPr id="11" name="TextBox 11"/>
            <p:cNvSpPr txBox="1"/>
            <p:nvPr/>
          </p:nvSpPr>
          <p:spPr>
            <a:xfrm>
              <a:off x="1250442" y="3244850"/>
              <a:ext cx="2412644" cy="264033"/>
            </a:xfrm>
            <a:prstGeom prst="rect">
              <a:avLst/>
            </a:prstGeom>
            <a:noFill/>
            <a:ln>
              <a:noFill/>
            </a:ln>
          </p:spPr>
          <p:txBody>
            <a:bodyPr wrap="none" lIns="0" tIns="0" rIns="0" bIns="0" anchor="t" anchorCtr="0">
              <a:spAutoFit/>
            </a:bodyPr>
            <a:lstStyle/>
            <a:p>
              <a:pPr algn="l"/>
              <a:r>
                <a:rPr lang="vi-VN" sz="1350" dirty="0">
                  <a:solidFill>
                    <a:schemeClr val="dk1"/>
                  </a:solidFill>
                  <a:latin typeface="Consolas"/>
                  <a:ea typeface="Consolas"/>
                  <a:cs typeface="Consolas"/>
                </a:rPr>
                <a:t>│ ├─ 02_serial_client.py</a:t>
              </a:r>
            </a:p>
          </p:txBody>
        </p:sp>
        <p:sp>
          <p:nvSpPr>
            <p:cNvPr id="12" name="TextBox 12"/>
            <p:cNvSpPr txBox="1"/>
            <p:nvPr/>
          </p:nvSpPr>
          <p:spPr>
            <a:xfrm>
              <a:off x="1250442" y="3511550"/>
              <a:ext cx="2412644" cy="264033"/>
            </a:xfrm>
            <a:prstGeom prst="rect">
              <a:avLst/>
            </a:prstGeom>
            <a:noFill/>
            <a:ln>
              <a:noFill/>
            </a:ln>
          </p:spPr>
          <p:txBody>
            <a:bodyPr wrap="none" lIns="0" tIns="0" rIns="0" bIns="0" anchor="t" anchorCtr="0">
              <a:spAutoFit/>
            </a:bodyPr>
            <a:lstStyle/>
            <a:p>
              <a:pPr algn="l"/>
              <a:r>
                <a:rPr lang="vi-VN" sz="1350" dirty="0">
                  <a:solidFill>
                    <a:schemeClr val="dk1"/>
                  </a:solidFill>
                  <a:latin typeface="Consolas"/>
                  <a:ea typeface="Consolas"/>
                  <a:cs typeface="Consolas"/>
                </a:rPr>
                <a:t>│ ├─ 03_test_commands.py</a:t>
              </a:r>
            </a:p>
          </p:txBody>
        </p:sp>
        <p:sp>
          <p:nvSpPr>
            <p:cNvPr id="13" name="TextBox 13"/>
            <p:cNvSpPr txBox="1"/>
            <p:nvPr/>
          </p:nvSpPr>
          <p:spPr>
            <a:xfrm>
              <a:off x="1250442" y="3778250"/>
              <a:ext cx="1812912" cy="264033"/>
            </a:xfrm>
            <a:prstGeom prst="rect">
              <a:avLst/>
            </a:prstGeom>
            <a:noFill/>
            <a:ln>
              <a:noFill/>
            </a:ln>
          </p:spPr>
          <p:txBody>
            <a:bodyPr wrap="none" lIns="0" tIns="0" rIns="0" bIns="0" anchor="t" anchorCtr="0">
              <a:spAutoFit/>
            </a:bodyPr>
            <a:lstStyle/>
            <a:p>
              <a:pPr algn="l"/>
              <a:r>
                <a:rPr lang="vi-VN" sz="1350" dirty="0">
                  <a:solidFill>
                    <a:schemeClr val="dk1"/>
                  </a:solidFill>
                  <a:latin typeface="Consolas"/>
                  <a:ea typeface="Consolas"/>
                  <a:cs typeface="Consolas"/>
                </a:rPr>
                <a:t>│ ├─ 04_log_csv.py</a:t>
              </a:r>
            </a:p>
          </p:txBody>
        </p:sp>
        <p:sp>
          <p:nvSpPr>
            <p:cNvPr id="14" name="TextBox 14"/>
            <p:cNvSpPr txBox="1"/>
            <p:nvPr/>
          </p:nvSpPr>
          <p:spPr>
            <a:xfrm>
              <a:off x="1250442" y="4311650"/>
              <a:ext cx="2312689" cy="264033"/>
            </a:xfrm>
            <a:prstGeom prst="rect">
              <a:avLst/>
            </a:prstGeom>
            <a:noFill/>
            <a:ln>
              <a:noFill/>
            </a:ln>
          </p:spPr>
          <p:txBody>
            <a:bodyPr wrap="none" lIns="0" tIns="0" rIns="0" bIns="0" anchor="t" anchorCtr="0">
              <a:spAutoFit/>
            </a:bodyPr>
            <a:lstStyle/>
            <a:p>
              <a:pPr algn="l"/>
              <a:r>
                <a:rPr lang="vi-VN" sz="1350" dirty="0">
                  <a:solidFill>
                    <a:schemeClr val="dk1"/>
                  </a:solidFill>
                  <a:latin typeface="Consolas"/>
                  <a:ea typeface="Consolas"/>
                  <a:cs typeface="Consolas"/>
                </a:rPr>
                <a:t>│ ├─ 07_timed_logger.py</a:t>
              </a:r>
            </a:p>
          </p:txBody>
        </p:sp>
        <p:sp>
          <p:nvSpPr>
            <p:cNvPr id="15" name="TextBox 15"/>
            <p:cNvSpPr txBox="1"/>
            <p:nvPr/>
          </p:nvSpPr>
          <p:spPr>
            <a:xfrm>
              <a:off x="926592" y="4978400"/>
              <a:ext cx="1912868" cy="264033"/>
            </a:xfrm>
            <a:prstGeom prst="rect">
              <a:avLst/>
            </a:prstGeom>
            <a:noFill/>
            <a:ln>
              <a:noFill/>
            </a:ln>
          </p:spPr>
          <p:txBody>
            <a:bodyPr wrap="none" lIns="0" tIns="0" rIns="0" bIns="0" anchor="t" anchorCtr="0">
              <a:spAutoFit/>
            </a:bodyPr>
            <a:lstStyle/>
            <a:p>
              <a:pPr algn="l"/>
              <a:r>
                <a:rPr lang="vi-VN" sz="1350" dirty="0">
                  <a:solidFill>
                    <a:schemeClr val="dk1"/>
                  </a:solidFill>
                  <a:latin typeface="Consolas"/>
                  <a:ea typeface="Consolas"/>
                  <a:cs typeface="Consolas"/>
                </a:rPr>
                <a:t>├─ requirements.txt</a:t>
              </a:r>
            </a:p>
          </p:txBody>
        </p:sp>
        <p:sp>
          <p:nvSpPr>
            <p:cNvPr id="16" name="TextBox 16"/>
            <p:cNvSpPr txBox="1"/>
            <p:nvPr/>
          </p:nvSpPr>
          <p:spPr>
            <a:xfrm>
              <a:off x="926592" y="5245100"/>
              <a:ext cx="2212734" cy="264033"/>
            </a:xfrm>
            <a:prstGeom prst="rect">
              <a:avLst/>
            </a:prstGeom>
            <a:noFill/>
            <a:ln>
              <a:noFill/>
            </a:ln>
          </p:spPr>
          <p:txBody>
            <a:bodyPr wrap="none" lIns="0" tIns="0" rIns="0" bIns="0" anchor="t" anchorCtr="0">
              <a:spAutoFit/>
            </a:bodyPr>
            <a:lstStyle/>
            <a:p>
              <a:pPr algn="l"/>
              <a:r>
                <a:rPr lang="vi-VN" sz="1350" dirty="0">
                  <a:solidFill>
                    <a:schemeClr val="dk1"/>
                  </a:solidFill>
                  <a:latin typeface="Consolas"/>
                  <a:ea typeface="Consolas"/>
                  <a:cs typeface="Consolas"/>
                </a:rPr>
                <a:t>├─ .vscode/launch.json</a:t>
              </a:r>
            </a:p>
          </p:txBody>
        </p:sp>
        <p:sp>
          <p:nvSpPr>
            <p:cNvPr id="17" name="TextBox 17"/>
            <p:cNvSpPr txBox="1"/>
            <p:nvPr/>
          </p:nvSpPr>
          <p:spPr>
            <a:xfrm>
              <a:off x="926592" y="5511800"/>
              <a:ext cx="2412644" cy="264033"/>
            </a:xfrm>
            <a:prstGeom prst="rect">
              <a:avLst/>
            </a:prstGeom>
            <a:noFill/>
            <a:ln>
              <a:noFill/>
            </a:ln>
          </p:spPr>
          <p:txBody>
            <a:bodyPr wrap="none" lIns="0" tIns="0" rIns="0" bIns="0" anchor="t" anchorCtr="0">
              <a:spAutoFit/>
            </a:bodyPr>
            <a:lstStyle/>
            <a:p>
              <a:pPr algn="l"/>
              <a:r>
                <a:rPr lang="vi-VN" sz="1350" dirty="0">
                  <a:solidFill>
                    <a:schemeClr val="accent2"/>
                  </a:solidFill>
                  <a:latin typeface="Consolas"/>
                  <a:ea typeface="Consolas"/>
                  <a:cs typeface="Consolas"/>
                </a:rPr>
                <a:t>└─ ve_do_thi.py (tự tạo)</a:t>
              </a:r>
            </a:p>
          </p:txBody>
        </p:sp>
        <p:sp>
          <p:nvSpPr>
            <p:cNvPr id="18" name="TextBox 18"/>
            <p:cNvSpPr txBox="1"/>
            <p:nvPr/>
          </p:nvSpPr>
          <p:spPr>
            <a:xfrm>
              <a:off x="1250442" y="4044950"/>
              <a:ext cx="3512153" cy="264033"/>
            </a:xfrm>
            <a:prstGeom prst="rect">
              <a:avLst/>
            </a:prstGeom>
            <a:noFill/>
            <a:ln>
              <a:noFill/>
            </a:ln>
          </p:spPr>
          <p:txBody>
            <a:bodyPr wrap="none" lIns="0" tIns="0" rIns="0" bIns="0" anchor="t" anchorCtr="0">
              <a:spAutoFit/>
            </a:bodyPr>
            <a:lstStyle/>
            <a:p>
              <a:pPr algn="l"/>
              <a:r>
                <a:rPr lang="vi-VN" sz="1350" dirty="0">
                  <a:solidFill>
                    <a:schemeClr val="dk1"/>
                  </a:solidFill>
                  <a:latin typeface="Consolas"/>
                  <a:ea typeface="Consolas"/>
                  <a:cs typeface="Consolas"/>
                </a:rPr>
                <a:t>│ ├─ 06_settings_and_measurement.py</a:t>
              </a:r>
            </a:p>
          </p:txBody>
        </p:sp>
        <p:sp>
          <p:nvSpPr>
            <p:cNvPr id="19" name="TextBox 19"/>
            <p:cNvSpPr txBox="1"/>
            <p:nvPr/>
          </p:nvSpPr>
          <p:spPr>
            <a:xfrm>
              <a:off x="1250442" y="4578350"/>
              <a:ext cx="2612555" cy="264033"/>
            </a:xfrm>
            <a:prstGeom prst="rect">
              <a:avLst/>
            </a:prstGeom>
            <a:noFill/>
            <a:ln>
              <a:noFill/>
            </a:ln>
          </p:spPr>
          <p:txBody>
            <a:bodyPr wrap="none" lIns="0" tIns="0" rIns="0" bIns="0" anchor="t" anchorCtr="0">
              <a:spAutoFit/>
            </a:bodyPr>
            <a:lstStyle/>
            <a:p>
              <a:pPr algn="l"/>
              <a:r>
                <a:rPr lang="vi-VN" sz="1350" dirty="0">
                  <a:solidFill>
                    <a:schemeClr val="dk1"/>
                  </a:solidFill>
                  <a:latin typeface="Consolas"/>
                  <a:ea typeface="Consolas"/>
                  <a:cs typeface="Consolas"/>
                </a:rPr>
                <a:t>│ └─ 08_error_queue_lab.py</a:t>
              </a:r>
            </a:p>
          </p:txBody>
        </p:sp>
      </p:grpSp>
      <p:grpSp>
        <p:nvGrpSpPr>
          <p:cNvPr id="45" name="file-purpose-map"/>
          <p:cNvGrpSpPr/>
          <p:nvPr/>
        </p:nvGrpSpPr>
        <p:grpSpPr>
          <a:xfrm>
            <a:off x="5803392" y="1949450"/>
            <a:ext cx="5702808" cy="4038346"/>
            <a:chOff x="5803392" y="1949450"/>
            <a:chExt cx="5702808" cy="4038346"/>
          </a:xfrm>
        </p:grpSpPr>
        <p:sp>
          <p:nvSpPr>
            <p:cNvPr id="21" name="TextBox 21"/>
            <p:cNvSpPr txBox="1"/>
            <p:nvPr/>
          </p:nvSpPr>
          <p:spPr>
            <a:xfrm>
              <a:off x="5803392" y="1949450"/>
              <a:ext cx="2161024" cy="264033"/>
            </a:xfrm>
            <a:prstGeom prst="rect">
              <a:avLst/>
            </a:prstGeom>
            <a:noFill/>
            <a:ln>
              <a:noFill/>
            </a:ln>
          </p:spPr>
          <p:txBody>
            <a:bodyPr wrap="none" lIns="0" tIns="0" rIns="0" bIns="0" anchor="t" anchorCtr="0">
              <a:spAutoFit/>
            </a:bodyPr>
            <a:lstStyle/>
            <a:p>
              <a:pPr algn="l"/>
              <a:r>
                <a:rPr lang="vi-VN" sz="1350" b="1" dirty="0">
                  <a:solidFill>
                    <a:schemeClr val="accent5"/>
                  </a:solidFill>
                  <a:latin typeface="+mn-lt"/>
                  <a:ea typeface="+mn-ea"/>
                  <a:cs typeface="+mn-cs"/>
                </a:rPr>
                <a:t>CHỨC NĂNG CÁC MÔ-ĐUN</a:t>
              </a:r>
            </a:p>
          </p:txBody>
        </p:sp>
        <p:sp>
          <p:nvSpPr>
            <p:cNvPr id="22" name="Line 22"/>
            <p:cNvSpPr/>
            <p:nvPr/>
          </p:nvSpPr>
          <p:spPr>
            <a:xfrm>
              <a:off x="5810250" y="2343150"/>
              <a:ext cx="5695950" cy="9525"/>
            </a:xfrm>
            <a:custGeom>
              <a:avLst/>
              <a:gdLst/>
              <a:ahLst/>
              <a:cxnLst/>
              <a:rect l="l" t="t" r="r" b="b"/>
              <a:pathLst>
                <a:path w="5695950" h="9525">
                  <a:moveTo>
                    <a:pt x="0" y="0"/>
                  </a:moveTo>
                  <a:lnTo>
                    <a:pt x="5695950" y="0"/>
                  </a:lnTo>
                </a:path>
              </a:pathLst>
            </a:custGeom>
            <a:noFill/>
            <a:ln w="19050">
              <a:solidFill>
                <a:schemeClr val="accent1"/>
              </a:solidFill>
            </a:ln>
          </p:spPr>
        </p:sp>
        <p:sp>
          <p:nvSpPr>
            <p:cNvPr id="23" name="TextBox 23"/>
            <p:cNvSpPr txBox="1"/>
            <p:nvPr/>
          </p:nvSpPr>
          <p:spPr>
            <a:xfrm>
              <a:off x="5803392" y="2520950"/>
              <a:ext cx="1597554" cy="264033"/>
            </a:xfrm>
            <a:prstGeom prst="rect">
              <a:avLst/>
            </a:prstGeom>
            <a:noFill/>
            <a:ln>
              <a:noFill/>
            </a:ln>
          </p:spPr>
          <p:txBody>
            <a:bodyPr wrap="none" lIns="0" tIns="0" rIns="0" bIns="0" anchor="t" anchorCtr="0">
              <a:spAutoFit/>
            </a:bodyPr>
            <a:lstStyle/>
            <a:p>
              <a:pPr algn="l"/>
              <a:r>
                <a:rPr lang="vi-VN" sz="1350" b="1" dirty="0">
                  <a:solidFill>
                    <a:schemeClr val="accent1"/>
                  </a:solidFill>
                  <a:latin typeface="+mn-lt"/>
                  <a:ea typeface="+mn-ea"/>
                  <a:cs typeface="+mn-cs"/>
                </a:rPr>
                <a:t>01_list_ports.py</a:t>
              </a:r>
            </a:p>
          </p:txBody>
        </p:sp>
        <p:sp>
          <p:nvSpPr>
            <p:cNvPr id="24" name="TextBox 24"/>
            <p:cNvSpPr txBox="1"/>
            <p:nvPr/>
          </p:nvSpPr>
          <p:spPr>
            <a:xfrm>
              <a:off x="8851392" y="2520950"/>
              <a:ext cx="1992128" cy="264033"/>
            </a:xfrm>
            <a:prstGeom prst="rect">
              <a:avLst/>
            </a:prstGeom>
            <a:noFill/>
            <a:ln>
              <a:noFill/>
            </a:ln>
          </p:spPr>
          <p:txBody>
            <a:bodyPr wrap="none" lIns="0" tIns="0" rIns="0" bIns="0" anchor="t" anchorCtr="0">
              <a:spAutoFit/>
            </a:bodyPr>
            <a:lstStyle/>
            <a:p>
              <a:pPr algn="l"/>
              <a:r>
                <a:rPr lang="vi-VN" sz="1350" dirty="0">
                  <a:solidFill>
                    <a:schemeClr val="dk1"/>
                  </a:solidFill>
                  <a:latin typeface="+mn-lt"/>
                  <a:ea typeface="+mn-ea"/>
                  <a:cs typeface="+mn-cs"/>
                </a:rPr>
                <a:t>Liệt kê cổng khả dụng.</a:t>
              </a:r>
            </a:p>
          </p:txBody>
        </p:sp>
        <p:sp>
          <p:nvSpPr>
            <p:cNvPr id="25" name="Line 25"/>
            <p:cNvSpPr/>
            <p:nvPr/>
          </p:nvSpPr>
          <p:spPr>
            <a:xfrm>
              <a:off x="5810250" y="2838450"/>
              <a:ext cx="5695950" cy="9525"/>
            </a:xfrm>
            <a:custGeom>
              <a:avLst/>
              <a:gdLst/>
              <a:ahLst/>
              <a:cxnLst/>
              <a:rect l="l" t="t" r="r" b="b"/>
              <a:pathLst>
                <a:path w="5695950" h="9525">
                  <a:moveTo>
                    <a:pt x="0" y="0"/>
                  </a:moveTo>
                  <a:lnTo>
                    <a:pt x="5695950" y="0"/>
                  </a:lnTo>
                </a:path>
              </a:pathLst>
            </a:custGeom>
            <a:noFill/>
            <a:ln w="9525">
              <a:solidFill>
                <a:schemeClr val="accent6"/>
              </a:solidFill>
            </a:ln>
          </p:spPr>
        </p:sp>
        <p:sp>
          <p:nvSpPr>
            <p:cNvPr id="26" name="TextBox 26"/>
            <p:cNvSpPr txBox="1"/>
            <p:nvPr/>
          </p:nvSpPr>
          <p:spPr>
            <a:xfrm>
              <a:off x="5803392" y="2940050"/>
              <a:ext cx="1817001" cy="264033"/>
            </a:xfrm>
            <a:prstGeom prst="rect">
              <a:avLst/>
            </a:prstGeom>
            <a:noFill/>
            <a:ln>
              <a:noFill/>
            </a:ln>
          </p:spPr>
          <p:txBody>
            <a:bodyPr wrap="none" lIns="0" tIns="0" rIns="0" bIns="0" anchor="t" anchorCtr="0">
              <a:spAutoFit/>
            </a:bodyPr>
            <a:lstStyle/>
            <a:p>
              <a:pPr algn="l"/>
              <a:r>
                <a:rPr lang="vi-VN" sz="1350" b="1" dirty="0">
                  <a:solidFill>
                    <a:schemeClr val="accent1"/>
                  </a:solidFill>
                  <a:latin typeface="+mn-lt"/>
                  <a:ea typeface="+mn-ea"/>
                  <a:cs typeface="+mn-cs"/>
                </a:rPr>
                <a:t>02_serial_client.py</a:t>
              </a:r>
            </a:p>
          </p:txBody>
        </p:sp>
        <p:sp>
          <p:nvSpPr>
            <p:cNvPr id="27" name="TextBox 27"/>
            <p:cNvSpPr txBox="1"/>
            <p:nvPr/>
          </p:nvSpPr>
          <p:spPr>
            <a:xfrm>
              <a:off x="8851392" y="2940050"/>
              <a:ext cx="2125601" cy="264033"/>
            </a:xfrm>
            <a:prstGeom prst="rect">
              <a:avLst/>
            </a:prstGeom>
            <a:noFill/>
            <a:ln>
              <a:noFill/>
            </a:ln>
          </p:spPr>
          <p:txBody>
            <a:bodyPr wrap="none" lIns="0" tIns="0" rIns="0" bIns="0" anchor="t" anchorCtr="0">
              <a:spAutoFit/>
            </a:bodyPr>
            <a:lstStyle/>
            <a:p>
              <a:pPr algn="l"/>
              <a:r>
                <a:rPr lang="vi-VN" sz="1350" dirty="0">
                  <a:solidFill>
                    <a:schemeClr val="dk1"/>
                  </a:solidFill>
                  <a:latin typeface="+mn-lt"/>
                  <a:ea typeface="+mn-ea"/>
                  <a:cs typeface="+mn-cs"/>
                </a:rPr>
                <a:t>Gửi lệnh SCPI tương tác.</a:t>
              </a:r>
            </a:p>
          </p:txBody>
        </p:sp>
        <p:sp>
          <p:nvSpPr>
            <p:cNvPr id="28" name="Line 28"/>
            <p:cNvSpPr/>
            <p:nvPr/>
          </p:nvSpPr>
          <p:spPr>
            <a:xfrm>
              <a:off x="5810250" y="3257550"/>
              <a:ext cx="5695950" cy="9525"/>
            </a:xfrm>
            <a:custGeom>
              <a:avLst/>
              <a:gdLst/>
              <a:ahLst/>
              <a:cxnLst/>
              <a:rect l="l" t="t" r="r" b="b"/>
              <a:pathLst>
                <a:path w="5695950" h="9525">
                  <a:moveTo>
                    <a:pt x="0" y="0"/>
                  </a:moveTo>
                  <a:lnTo>
                    <a:pt x="5695950" y="0"/>
                  </a:lnTo>
                </a:path>
              </a:pathLst>
            </a:custGeom>
            <a:noFill/>
            <a:ln w="9525">
              <a:solidFill>
                <a:schemeClr val="accent6"/>
              </a:solidFill>
            </a:ln>
          </p:spPr>
        </p:sp>
        <p:sp>
          <p:nvSpPr>
            <p:cNvPr id="29" name="TextBox 29"/>
            <p:cNvSpPr txBox="1"/>
            <p:nvPr/>
          </p:nvSpPr>
          <p:spPr>
            <a:xfrm>
              <a:off x="5803392" y="3359150"/>
              <a:ext cx="2084155" cy="264033"/>
            </a:xfrm>
            <a:prstGeom prst="rect">
              <a:avLst/>
            </a:prstGeom>
            <a:noFill/>
            <a:ln>
              <a:noFill/>
            </a:ln>
          </p:spPr>
          <p:txBody>
            <a:bodyPr wrap="none" lIns="0" tIns="0" rIns="0" bIns="0" anchor="t" anchorCtr="0">
              <a:spAutoFit/>
            </a:bodyPr>
            <a:lstStyle/>
            <a:p>
              <a:pPr algn="l"/>
              <a:r>
                <a:rPr lang="vi-VN" sz="1350" b="1" dirty="0">
                  <a:solidFill>
                    <a:schemeClr val="accent1"/>
                  </a:solidFill>
                  <a:latin typeface="+mn-lt"/>
                  <a:ea typeface="+mn-ea"/>
                  <a:cs typeface="+mn-cs"/>
                </a:rPr>
                <a:t>03_test_commands.py</a:t>
              </a:r>
            </a:p>
          </p:txBody>
        </p:sp>
        <p:sp>
          <p:nvSpPr>
            <p:cNvPr id="30" name="TextBox 30"/>
            <p:cNvSpPr txBox="1"/>
            <p:nvPr/>
          </p:nvSpPr>
          <p:spPr>
            <a:xfrm>
              <a:off x="8851392" y="3359150"/>
              <a:ext cx="2501113" cy="264033"/>
            </a:xfrm>
            <a:prstGeom prst="rect">
              <a:avLst/>
            </a:prstGeom>
            <a:noFill/>
            <a:ln>
              <a:noFill/>
            </a:ln>
          </p:spPr>
          <p:txBody>
            <a:bodyPr wrap="none" lIns="0" tIns="0" rIns="0" bIns="0" anchor="t" anchorCtr="0">
              <a:spAutoFit/>
            </a:bodyPr>
            <a:lstStyle/>
            <a:p>
              <a:pPr algn="l"/>
              <a:r>
                <a:rPr lang="vi-VN" sz="1350" dirty="0">
                  <a:solidFill>
                    <a:schemeClr val="dk1"/>
                  </a:solidFill>
                  <a:latin typeface="+mn-lt"/>
                  <a:ea typeface="+mn-ea"/>
                  <a:cs typeface="+mn-cs"/>
                </a:rPr>
                <a:t>Kiểm tra cấu hình, đo và lỗi.</a:t>
              </a:r>
            </a:p>
          </p:txBody>
        </p:sp>
        <p:sp>
          <p:nvSpPr>
            <p:cNvPr id="31" name="Line 31"/>
            <p:cNvSpPr/>
            <p:nvPr/>
          </p:nvSpPr>
          <p:spPr>
            <a:xfrm>
              <a:off x="5810250" y="3676650"/>
              <a:ext cx="5695950" cy="9525"/>
            </a:xfrm>
            <a:custGeom>
              <a:avLst/>
              <a:gdLst/>
              <a:ahLst/>
              <a:cxnLst/>
              <a:rect l="l" t="t" r="r" b="b"/>
              <a:pathLst>
                <a:path w="5695950" h="9525">
                  <a:moveTo>
                    <a:pt x="0" y="0"/>
                  </a:moveTo>
                  <a:lnTo>
                    <a:pt x="5695950" y="0"/>
                  </a:lnTo>
                </a:path>
              </a:pathLst>
            </a:custGeom>
            <a:noFill/>
            <a:ln w="9525">
              <a:solidFill>
                <a:schemeClr val="accent6"/>
              </a:solidFill>
            </a:ln>
          </p:spPr>
        </p:sp>
        <p:sp>
          <p:nvSpPr>
            <p:cNvPr id="32" name="TextBox 32"/>
            <p:cNvSpPr txBox="1"/>
            <p:nvPr/>
          </p:nvSpPr>
          <p:spPr>
            <a:xfrm>
              <a:off x="5803392" y="3778250"/>
              <a:ext cx="1330401" cy="264033"/>
            </a:xfrm>
            <a:prstGeom prst="rect">
              <a:avLst/>
            </a:prstGeom>
            <a:noFill/>
            <a:ln>
              <a:noFill/>
            </a:ln>
          </p:spPr>
          <p:txBody>
            <a:bodyPr wrap="none" lIns="0" tIns="0" rIns="0" bIns="0" anchor="t" anchorCtr="0">
              <a:spAutoFit/>
            </a:bodyPr>
            <a:lstStyle/>
            <a:p>
              <a:pPr algn="l"/>
              <a:r>
                <a:rPr lang="vi-VN" sz="1350" b="1" dirty="0">
                  <a:solidFill>
                    <a:schemeClr val="accent1"/>
                  </a:solidFill>
                  <a:latin typeface="+mn-lt"/>
                  <a:ea typeface="+mn-ea"/>
                  <a:cs typeface="+mn-cs"/>
                </a:rPr>
                <a:t>04_log_csv.py</a:t>
              </a:r>
            </a:p>
          </p:txBody>
        </p:sp>
        <p:sp>
          <p:nvSpPr>
            <p:cNvPr id="33" name="TextBox 33"/>
            <p:cNvSpPr txBox="1"/>
            <p:nvPr/>
          </p:nvSpPr>
          <p:spPr>
            <a:xfrm>
              <a:off x="8851392" y="3778250"/>
              <a:ext cx="2113111" cy="264033"/>
            </a:xfrm>
            <a:prstGeom prst="rect">
              <a:avLst/>
            </a:prstGeom>
            <a:noFill/>
            <a:ln>
              <a:noFill/>
            </a:ln>
          </p:spPr>
          <p:txBody>
            <a:bodyPr wrap="none" lIns="0" tIns="0" rIns="0" bIns="0" anchor="t" anchorCtr="0">
              <a:spAutoFit/>
            </a:bodyPr>
            <a:lstStyle/>
            <a:p>
              <a:pPr algn="l"/>
              <a:r>
                <a:rPr lang="vi-VN" sz="1350" dirty="0">
                  <a:solidFill>
                    <a:schemeClr val="dk1"/>
                  </a:solidFill>
                  <a:latin typeface="+mn-lt"/>
                  <a:ea typeface="+mn-ea"/>
                  <a:cs typeface="+mn-cs"/>
                </a:rPr>
                <a:t>Lưu kết quả đo vào CSV.</a:t>
              </a:r>
            </a:p>
          </p:txBody>
        </p:sp>
        <p:sp>
          <p:nvSpPr>
            <p:cNvPr id="34" name="Line 34"/>
            <p:cNvSpPr/>
            <p:nvPr/>
          </p:nvSpPr>
          <p:spPr>
            <a:xfrm>
              <a:off x="5810250" y="4095750"/>
              <a:ext cx="5695950" cy="9525"/>
            </a:xfrm>
            <a:custGeom>
              <a:avLst/>
              <a:gdLst/>
              <a:ahLst/>
              <a:cxnLst/>
              <a:rect l="l" t="t" r="r" b="b"/>
              <a:pathLst>
                <a:path w="5695950" h="9525">
                  <a:moveTo>
                    <a:pt x="0" y="0"/>
                  </a:moveTo>
                  <a:lnTo>
                    <a:pt x="5695950" y="0"/>
                  </a:lnTo>
                </a:path>
              </a:pathLst>
            </a:custGeom>
            <a:noFill/>
            <a:ln w="9525">
              <a:solidFill>
                <a:schemeClr val="accent6"/>
              </a:solidFill>
            </a:ln>
          </p:spPr>
        </p:sp>
        <p:sp>
          <p:nvSpPr>
            <p:cNvPr id="35" name="TextBox 35"/>
            <p:cNvSpPr txBox="1"/>
            <p:nvPr/>
          </p:nvSpPr>
          <p:spPr>
            <a:xfrm>
              <a:off x="5803392" y="4616450"/>
              <a:ext cx="1845625" cy="264033"/>
            </a:xfrm>
            <a:prstGeom prst="rect">
              <a:avLst/>
            </a:prstGeom>
            <a:noFill/>
            <a:ln>
              <a:noFill/>
            </a:ln>
          </p:spPr>
          <p:txBody>
            <a:bodyPr wrap="none" lIns="0" tIns="0" rIns="0" bIns="0" anchor="t" anchorCtr="0">
              <a:spAutoFit/>
            </a:bodyPr>
            <a:lstStyle/>
            <a:p>
              <a:pPr algn="l"/>
              <a:r>
                <a:rPr lang="vi-VN" sz="1350" b="1" dirty="0">
                  <a:solidFill>
                    <a:schemeClr val="accent1"/>
                  </a:solidFill>
                  <a:latin typeface="+mn-lt"/>
                  <a:ea typeface="+mn-ea"/>
                  <a:cs typeface="+mn-cs"/>
                </a:rPr>
                <a:t>07_timed_logger.py</a:t>
              </a:r>
            </a:p>
          </p:txBody>
        </p:sp>
        <p:sp>
          <p:nvSpPr>
            <p:cNvPr id="36" name="TextBox 36"/>
            <p:cNvSpPr txBox="1"/>
            <p:nvPr/>
          </p:nvSpPr>
          <p:spPr>
            <a:xfrm>
              <a:off x="8851392" y="4616450"/>
              <a:ext cx="2246295" cy="264033"/>
            </a:xfrm>
            <a:prstGeom prst="rect">
              <a:avLst/>
            </a:prstGeom>
            <a:noFill/>
            <a:ln>
              <a:noFill/>
            </a:ln>
          </p:spPr>
          <p:txBody>
            <a:bodyPr wrap="none" lIns="0" tIns="0" rIns="0" bIns="0" anchor="t" anchorCtr="0">
              <a:spAutoFit/>
            </a:bodyPr>
            <a:lstStyle/>
            <a:p>
              <a:pPr algn="l"/>
              <a:r>
                <a:rPr lang="vi-VN" sz="1350" dirty="0">
                  <a:solidFill>
                    <a:schemeClr val="dk1"/>
                  </a:solidFill>
                  <a:latin typeface="+mn-lt"/>
                  <a:ea typeface="+mn-ea"/>
                  <a:cs typeface="+mn-cs"/>
                </a:rPr>
                <a:t>Đo theo khoảng thời gian.</a:t>
              </a:r>
            </a:p>
          </p:txBody>
        </p:sp>
        <p:sp>
          <p:nvSpPr>
            <p:cNvPr id="37" name="TextBox 37"/>
            <p:cNvSpPr txBox="1"/>
            <p:nvPr/>
          </p:nvSpPr>
          <p:spPr>
            <a:xfrm>
              <a:off x="5804154" y="5448300"/>
              <a:ext cx="4880283" cy="234696"/>
            </a:xfrm>
            <a:prstGeom prst="rect">
              <a:avLst/>
            </a:prstGeom>
            <a:noFill/>
            <a:ln>
              <a:noFill/>
            </a:ln>
          </p:spPr>
          <p:txBody>
            <a:bodyPr wrap="none" lIns="0" tIns="0" rIns="0" bIns="0" anchor="t" anchorCtr="0">
              <a:spAutoFit/>
            </a:bodyPr>
            <a:lstStyle/>
            <a:p>
              <a:pPr algn="l"/>
              <a:r>
                <a:rPr lang="vi-VN" sz="1200" dirty="0">
                  <a:solidFill>
                    <a:schemeClr val="accent5"/>
                  </a:solidFill>
                  <a:latin typeface="+mn-lt"/>
                  <a:ea typeface="+mn-ea"/>
                  <a:cs typeface="+mn-cs"/>
                </a:rPr>
                <a:t>Thư viện: pyserial, matplotlib · launch.json lưu cấu hình chạy.</a:t>
              </a:r>
            </a:p>
          </p:txBody>
        </p:sp>
        <p:sp>
          <p:nvSpPr>
            <p:cNvPr id="38" name="TextBox 38"/>
            <p:cNvSpPr txBox="1"/>
            <p:nvPr/>
          </p:nvSpPr>
          <p:spPr>
            <a:xfrm>
              <a:off x="5804154" y="5753100"/>
              <a:ext cx="4759068" cy="234696"/>
            </a:xfrm>
            <a:prstGeom prst="rect">
              <a:avLst/>
            </a:prstGeom>
            <a:noFill/>
            <a:ln>
              <a:noFill/>
            </a:ln>
          </p:spPr>
          <p:txBody>
            <a:bodyPr wrap="none" lIns="0" tIns="0" rIns="0" bIns="0" anchor="t" anchorCtr="0">
              <a:spAutoFit/>
            </a:bodyPr>
            <a:lstStyle/>
            <a:p>
              <a:pPr algn="l"/>
              <a:r>
                <a:rPr lang="vi-VN" sz="1200" b="1" dirty="0">
                  <a:solidFill>
                    <a:schemeClr val="accent2"/>
                  </a:solidFill>
                  <a:latin typeface="+mn-lt"/>
                  <a:ea typeface="+mn-ea"/>
                  <a:cs typeface="+mn-cs"/>
                </a:rPr>
                <a:t>Arduino được chuẩn bị sẵn; không thực hiện nạp firmware.</a:t>
              </a:r>
            </a:p>
          </p:txBody>
        </p:sp>
        <p:sp>
          <p:nvSpPr>
            <p:cNvPr id="39" name="Line 39"/>
            <p:cNvSpPr/>
            <p:nvPr/>
          </p:nvSpPr>
          <p:spPr>
            <a:xfrm>
              <a:off x="5810250" y="4514850"/>
              <a:ext cx="5695950" cy="9525"/>
            </a:xfrm>
            <a:custGeom>
              <a:avLst/>
              <a:gdLst/>
              <a:ahLst/>
              <a:cxnLst/>
              <a:rect l="l" t="t" r="r" b="b"/>
              <a:pathLst>
                <a:path w="5695950" h="9525">
                  <a:moveTo>
                    <a:pt x="0" y="0"/>
                  </a:moveTo>
                  <a:lnTo>
                    <a:pt x="5695950" y="0"/>
                  </a:lnTo>
                </a:path>
              </a:pathLst>
            </a:custGeom>
            <a:noFill/>
            <a:ln w="9525">
              <a:solidFill>
                <a:schemeClr val="accent6"/>
              </a:solidFill>
            </a:ln>
          </p:spPr>
        </p:sp>
        <p:sp>
          <p:nvSpPr>
            <p:cNvPr id="40" name="Line 40"/>
            <p:cNvSpPr/>
            <p:nvPr/>
          </p:nvSpPr>
          <p:spPr>
            <a:xfrm>
              <a:off x="5810250" y="4933950"/>
              <a:ext cx="5695950" cy="9525"/>
            </a:xfrm>
            <a:custGeom>
              <a:avLst/>
              <a:gdLst/>
              <a:ahLst/>
              <a:cxnLst/>
              <a:rect l="l" t="t" r="r" b="b"/>
              <a:pathLst>
                <a:path w="5695950" h="9525">
                  <a:moveTo>
                    <a:pt x="0" y="0"/>
                  </a:moveTo>
                  <a:lnTo>
                    <a:pt x="5695950" y="0"/>
                  </a:lnTo>
                </a:path>
              </a:pathLst>
            </a:custGeom>
            <a:noFill/>
            <a:ln w="9525">
              <a:solidFill>
                <a:schemeClr val="accent6"/>
              </a:solidFill>
            </a:ln>
          </p:spPr>
        </p:sp>
        <p:sp>
          <p:nvSpPr>
            <p:cNvPr id="41" name="TextBox 41"/>
            <p:cNvSpPr txBox="1"/>
            <p:nvPr/>
          </p:nvSpPr>
          <p:spPr>
            <a:xfrm>
              <a:off x="5804154" y="4210050"/>
              <a:ext cx="2836385" cy="234696"/>
            </a:xfrm>
            <a:prstGeom prst="rect">
              <a:avLst/>
            </a:prstGeom>
            <a:noFill/>
            <a:ln>
              <a:noFill/>
            </a:ln>
          </p:spPr>
          <p:txBody>
            <a:bodyPr wrap="none" lIns="0" tIns="0" rIns="0" bIns="0" anchor="t" anchorCtr="0">
              <a:spAutoFit/>
            </a:bodyPr>
            <a:lstStyle/>
            <a:p>
              <a:pPr algn="l"/>
              <a:r>
                <a:rPr lang="vi-VN" sz="1200" b="1" dirty="0">
                  <a:solidFill>
                    <a:schemeClr val="accent1"/>
                  </a:solidFill>
                  <a:latin typeface="+mn-lt"/>
                  <a:ea typeface="+mn-ea"/>
                  <a:cs typeface="+mn-cs"/>
                </a:rPr>
                <a:t>06_settings_and_measurement.py</a:t>
              </a:r>
            </a:p>
          </p:txBody>
        </p:sp>
        <p:sp>
          <p:nvSpPr>
            <p:cNvPr id="42" name="TextBox 42"/>
            <p:cNvSpPr txBox="1"/>
            <p:nvPr/>
          </p:nvSpPr>
          <p:spPr>
            <a:xfrm>
              <a:off x="8851392" y="4197350"/>
              <a:ext cx="1892229" cy="264033"/>
            </a:xfrm>
            <a:prstGeom prst="rect">
              <a:avLst/>
            </a:prstGeom>
            <a:noFill/>
            <a:ln>
              <a:noFill/>
            </a:ln>
          </p:spPr>
          <p:txBody>
            <a:bodyPr wrap="none" lIns="0" tIns="0" rIns="0" bIns="0" anchor="t" anchorCtr="0">
              <a:spAutoFit/>
            </a:bodyPr>
            <a:lstStyle/>
            <a:p>
              <a:pPr algn="l"/>
              <a:r>
                <a:rPr lang="vi-VN" sz="1350" dirty="0">
                  <a:solidFill>
                    <a:schemeClr val="dk1"/>
                  </a:solidFill>
                  <a:latin typeface="+mn-lt"/>
                  <a:ea typeface="+mn-ea"/>
                  <a:cs typeface="+mn-cs"/>
                </a:rPr>
                <a:t>Cấu hình và truy vấn.</a:t>
              </a:r>
            </a:p>
          </p:txBody>
        </p:sp>
        <p:sp>
          <p:nvSpPr>
            <p:cNvPr id="43" name="TextBox 43"/>
            <p:cNvSpPr txBox="1"/>
            <p:nvPr/>
          </p:nvSpPr>
          <p:spPr>
            <a:xfrm>
              <a:off x="5803392" y="5035550"/>
              <a:ext cx="2170026" cy="264033"/>
            </a:xfrm>
            <a:prstGeom prst="rect">
              <a:avLst/>
            </a:prstGeom>
            <a:noFill/>
            <a:ln>
              <a:noFill/>
            </a:ln>
          </p:spPr>
          <p:txBody>
            <a:bodyPr wrap="none" lIns="0" tIns="0" rIns="0" bIns="0" anchor="t" anchorCtr="0">
              <a:spAutoFit/>
            </a:bodyPr>
            <a:lstStyle/>
            <a:p>
              <a:pPr algn="l"/>
              <a:r>
                <a:rPr lang="vi-VN" sz="1350" b="1" dirty="0">
                  <a:solidFill>
                    <a:schemeClr val="accent1"/>
                  </a:solidFill>
                  <a:latin typeface="+mn-lt"/>
                  <a:ea typeface="+mn-ea"/>
                  <a:cs typeface="+mn-cs"/>
                </a:rPr>
                <a:t>08_error_queue_lab.py</a:t>
              </a:r>
            </a:p>
          </p:txBody>
        </p:sp>
        <p:sp>
          <p:nvSpPr>
            <p:cNvPr id="44" name="TextBox 44"/>
            <p:cNvSpPr txBox="1"/>
            <p:nvPr/>
          </p:nvSpPr>
          <p:spPr>
            <a:xfrm>
              <a:off x="8851392" y="5035550"/>
              <a:ext cx="1891840" cy="264033"/>
            </a:xfrm>
            <a:prstGeom prst="rect">
              <a:avLst/>
            </a:prstGeom>
            <a:noFill/>
            <a:ln>
              <a:noFill/>
            </a:ln>
          </p:spPr>
          <p:txBody>
            <a:bodyPr wrap="none" lIns="0" tIns="0" rIns="0" bIns="0" anchor="t" anchorCtr="0">
              <a:spAutoFit/>
            </a:bodyPr>
            <a:lstStyle/>
            <a:p>
              <a:pPr algn="l"/>
              <a:r>
                <a:rPr lang="vi-VN" sz="1350" dirty="0">
                  <a:solidFill>
                    <a:schemeClr val="dk1"/>
                  </a:solidFill>
                  <a:latin typeface="+mn-lt"/>
                  <a:ea typeface="+mn-ea"/>
                  <a:cs typeface="+mn-cs"/>
                </a:rPr>
                <a:t>Kiểm tra hàng đợi lỗi.</a:t>
              </a:r>
            </a:p>
          </p:txBody>
        </p:sp>
      </p:grpSp>
      <p:grpSp>
        <p:nvGrpSpPr>
          <p:cNvPr id="48" name="page-footer"/>
          <p:cNvGrpSpPr/>
          <p:nvPr/>
        </p:nvGrpSpPr>
        <p:grpSpPr>
          <a:xfrm>
            <a:off x="679704" y="6429375"/>
            <a:ext cx="10832592" cy="234696"/>
            <a:chOff x="679704" y="6429375"/>
            <a:chExt cx="10832592" cy="234696"/>
          </a:xfrm>
        </p:grpSpPr>
        <p:sp>
          <p:nvSpPr>
            <p:cNvPr id="46" name="TextBox 46"/>
            <p:cNvSpPr txBox="1"/>
            <p:nvPr/>
          </p:nvSpPr>
          <p:spPr>
            <a:xfrm>
              <a:off x="679704" y="6429375"/>
              <a:ext cx="2350618" cy="234696"/>
            </a:xfrm>
            <a:prstGeom prst="rect">
              <a:avLst/>
            </a:prstGeom>
            <a:noFill/>
            <a:ln>
              <a:noFill/>
            </a:ln>
          </p:spPr>
          <p:txBody>
            <a:bodyPr wrap="none" lIns="0" tIns="0" rIns="0" bIns="0" anchor="t" anchorCtr="0">
              <a:spAutoFit/>
            </a:bodyPr>
            <a:lstStyle/>
            <a:p>
              <a:pPr algn="l"/>
              <a:r>
                <a:rPr lang="vi-VN" sz="1200" dirty="0">
                  <a:solidFill>
                    <a:schemeClr val="accent5"/>
                  </a:solidFill>
                  <a:latin typeface="+mn-lt"/>
                  <a:ea typeface="+mn-ea"/>
                  <a:cs typeface="+mn-cs"/>
                </a:rPr>
                <a:t>MÔI TRƯỜNG · CẤU TRÚC DỰ ÁN</a:t>
              </a:r>
            </a:p>
          </p:txBody>
        </p:sp>
        <p:sp>
          <p:nvSpPr>
            <p:cNvPr id="47" name="TextBox 47"/>
            <p:cNvSpPr txBox="1"/>
            <p:nvPr/>
          </p:nvSpPr>
          <p:spPr>
            <a:xfrm>
              <a:off x="10958932" y="6429375"/>
              <a:ext cx="553364" cy="234696"/>
            </a:xfrm>
            <a:prstGeom prst="rect">
              <a:avLst/>
            </a:prstGeom>
            <a:noFill/>
            <a:ln>
              <a:noFill/>
            </a:ln>
          </p:spPr>
          <p:txBody>
            <a:bodyPr wrap="none" lIns="0" tIns="0" rIns="0" bIns="0" anchor="t" anchorCtr="0">
              <a:spAutoFit/>
            </a:bodyPr>
            <a:lstStyle/>
            <a:p>
              <a:pPr algn="r"/>
              <a:r>
                <a:rPr lang="vi-VN" sz="1200" dirty="0">
                  <a:solidFill>
                    <a:schemeClr val="accent5"/>
                  </a:solidFill>
                  <a:latin typeface="+mn-lt"/>
                  <a:ea typeface="+mn-ea"/>
                  <a:cs typeface="+mn-cs"/>
                </a:rPr>
                <a:t>05 / 25</a:t>
              </a:r>
            </a:p>
          </p:txBody>
        </p:sp>
      </p:gr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page-title"/>
          <p:cNvGrpSpPr/>
          <p:nvPr/>
        </p:nvGrpSpPr>
        <p:grpSpPr>
          <a:xfrm>
            <a:off x="669798" y="520700"/>
            <a:ext cx="10836402" cy="955675"/>
            <a:chOff x="669798" y="520700"/>
            <a:chExt cx="10836402" cy="955675"/>
          </a:xfrm>
        </p:grpSpPr>
        <p:sp>
          <p:nvSpPr>
            <p:cNvPr id="2" name="TextBox 2"/>
            <p:cNvSpPr txBox="1"/>
            <p:nvPr/>
          </p:nvSpPr>
          <p:spPr>
            <a:xfrm>
              <a:off x="678942" y="520700"/>
              <a:ext cx="2604600" cy="264033"/>
            </a:xfrm>
            <a:prstGeom prst="rect">
              <a:avLst/>
            </a:prstGeom>
            <a:noFill/>
            <a:ln>
              <a:noFill/>
            </a:ln>
          </p:spPr>
          <p:txBody>
            <a:bodyPr wrap="none" lIns="0" tIns="0" rIns="0" bIns="0" anchor="t" anchorCtr="0">
              <a:spAutoFit/>
            </a:bodyPr>
            <a:lstStyle/>
            <a:p>
              <a:pPr algn="l"/>
              <a:r>
                <a:rPr lang="vi-VN" sz="1350" b="1" dirty="0">
                  <a:solidFill>
                    <a:schemeClr val="accent3"/>
                  </a:solidFill>
                  <a:latin typeface="+mn-lt"/>
                  <a:ea typeface="+mn-ea"/>
                  <a:cs typeface="+mn-cs"/>
                </a:rPr>
                <a:t>02 · MÔI TRƯỜNG THỰC HÀNH</a:t>
              </a:r>
            </a:p>
          </p:txBody>
        </p:sp>
        <p:sp>
          <p:nvSpPr>
            <p:cNvPr id="3" name="TextBox 3"/>
            <p:cNvSpPr txBox="1"/>
            <p:nvPr/>
          </p:nvSpPr>
          <p:spPr>
            <a:xfrm>
              <a:off x="669798" y="838200"/>
              <a:ext cx="9747573" cy="616077"/>
            </a:xfrm>
            <a:prstGeom prst="rect">
              <a:avLst/>
            </a:prstGeom>
            <a:noFill/>
            <a:ln>
              <a:noFill/>
            </a:ln>
          </p:spPr>
          <p:txBody>
            <a:bodyPr wrap="none" lIns="0" tIns="0" rIns="0" bIns="0" anchor="t" anchorCtr="0">
              <a:spAutoFit/>
            </a:bodyPr>
            <a:lstStyle/>
            <a:p>
              <a:pPr algn="l"/>
              <a:r>
                <a:rPr lang="vi-VN" sz="3150" b="1" dirty="0">
                  <a:solidFill>
                    <a:schemeClr val="accent1"/>
                  </a:solidFill>
                  <a:latin typeface="+mn-lt"/>
                  <a:ea typeface="+mn-ea"/>
                  <a:cs typeface="+mn-cs"/>
                </a:rPr>
                <a:t>Thiết lập môi trường ảo Python trong VS Code</a:t>
              </a:r>
            </a:p>
          </p:txBody>
        </p:sp>
        <p:sp>
          <p:nvSpPr>
            <p:cNvPr id="4" name="Line 4"/>
            <p:cNvSpPr/>
            <p:nvPr/>
          </p:nvSpPr>
          <p:spPr>
            <a:xfrm>
              <a:off x="685800" y="1466850"/>
              <a:ext cx="10820400" cy="9525"/>
            </a:xfrm>
            <a:custGeom>
              <a:avLst/>
              <a:gdLst/>
              <a:ahLst/>
              <a:cxnLst/>
              <a:rect l="l" t="t" r="r" b="b"/>
              <a:pathLst>
                <a:path w="10820400" h="9525">
                  <a:moveTo>
                    <a:pt x="0" y="0"/>
                  </a:moveTo>
                  <a:lnTo>
                    <a:pt x="10820400" y="0"/>
                  </a:lnTo>
                </a:path>
              </a:pathLst>
            </a:custGeom>
            <a:noFill/>
            <a:ln w="14288">
              <a:solidFill>
                <a:schemeClr val="accent6"/>
              </a:solidFill>
            </a:ln>
          </p:spPr>
        </p:sp>
      </p:grpSp>
      <p:grpSp>
        <p:nvGrpSpPr>
          <p:cNvPr id="22" name="terminal-setup"/>
          <p:cNvGrpSpPr/>
          <p:nvPr/>
        </p:nvGrpSpPr>
        <p:grpSpPr>
          <a:xfrm>
            <a:off x="685800" y="1860550"/>
            <a:ext cx="6705600" cy="3968750"/>
            <a:chOff x="685800" y="1860550"/>
            <a:chExt cx="6705600" cy="3968750"/>
          </a:xfrm>
        </p:grpSpPr>
        <p:grpSp>
          <p:nvGrpSpPr>
            <p:cNvPr id="9" name="Group 9"/>
            <p:cNvGrpSpPr/>
            <p:nvPr/>
          </p:nvGrpSpPr>
          <p:grpSpPr>
            <a:xfrm>
              <a:off x="723900" y="1860550"/>
              <a:ext cx="228599" cy="203199"/>
              <a:chOff x="723900" y="1860550"/>
              <a:chExt cx="228599" cy="203199"/>
            </a:xfrm>
          </p:grpSpPr>
          <p:sp>
            <p:nvSpPr>
              <p:cNvPr id="6" name="Freeform 6"/>
              <p:cNvSpPr/>
              <p:nvPr/>
            </p:nvSpPr>
            <p:spPr>
              <a:xfrm>
                <a:off x="787400" y="1924050"/>
                <a:ext cx="38100" cy="76200"/>
              </a:xfrm>
              <a:custGeom>
                <a:avLst/>
                <a:gdLst/>
                <a:ahLst/>
                <a:cxnLst/>
                <a:rect l="l" t="t" r="r" b="b"/>
                <a:pathLst>
                  <a:path w="38100" h="76200">
                    <a:moveTo>
                      <a:pt x="0" y="0"/>
                    </a:moveTo>
                    <a:lnTo>
                      <a:pt x="38100" y="38100"/>
                    </a:lnTo>
                    <a:lnTo>
                      <a:pt x="0" y="76200"/>
                    </a:lnTo>
                  </a:path>
                </a:pathLst>
              </a:custGeom>
              <a:noFill/>
              <a:ln w="25400">
                <a:solidFill>
                  <a:schemeClr val="accent1"/>
                </a:solidFill>
              </a:ln>
            </p:spPr>
          </p:sp>
          <p:sp>
            <p:nvSpPr>
              <p:cNvPr id="7" name="Freeform 7"/>
              <p:cNvSpPr/>
              <p:nvPr/>
            </p:nvSpPr>
            <p:spPr>
              <a:xfrm>
                <a:off x="850900" y="2000250"/>
                <a:ext cx="38100" cy="9525"/>
              </a:xfrm>
              <a:custGeom>
                <a:avLst/>
                <a:gdLst/>
                <a:ahLst/>
                <a:cxnLst/>
                <a:rect l="l" t="t" r="r" b="b"/>
                <a:pathLst>
                  <a:path w="38100" h="9525">
                    <a:moveTo>
                      <a:pt x="0" y="0"/>
                    </a:moveTo>
                    <a:lnTo>
                      <a:pt x="38100" y="0"/>
                    </a:lnTo>
                  </a:path>
                </a:pathLst>
              </a:custGeom>
              <a:noFill/>
              <a:ln w="25400">
                <a:solidFill>
                  <a:schemeClr val="accent1"/>
                </a:solidFill>
              </a:ln>
            </p:spPr>
          </p:sp>
          <p:sp>
            <p:nvSpPr>
              <p:cNvPr id="8" name="Freeform 8"/>
              <p:cNvSpPr/>
              <p:nvPr/>
            </p:nvSpPr>
            <p:spPr>
              <a:xfrm>
                <a:off x="723900" y="1860550"/>
                <a:ext cx="228599" cy="203199"/>
              </a:xfrm>
              <a:custGeom>
                <a:avLst/>
                <a:gdLst/>
                <a:ahLst/>
                <a:cxnLst/>
                <a:rect l="l" t="t" r="r" b="b"/>
                <a:pathLst>
                  <a:path w="228599" h="203199">
                    <a:moveTo>
                      <a:pt x="0" y="25400"/>
                    </a:moveTo>
                    <a:cubicBezTo>
                      <a:pt x="0" y="11372"/>
                      <a:pt x="11372" y="0"/>
                      <a:pt x="25400" y="0"/>
                    </a:cubicBezTo>
                    <a:lnTo>
                      <a:pt x="203199" y="0"/>
                    </a:lnTo>
                    <a:cubicBezTo>
                      <a:pt x="217227" y="0"/>
                      <a:pt x="228599" y="11372"/>
                      <a:pt x="228599" y="25400"/>
                    </a:cubicBezTo>
                    <a:lnTo>
                      <a:pt x="228599" y="177800"/>
                    </a:lnTo>
                    <a:cubicBezTo>
                      <a:pt x="228599" y="191828"/>
                      <a:pt x="217227" y="203199"/>
                      <a:pt x="203199" y="203199"/>
                    </a:cubicBezTo>
                    <a:lnTo>
                      <a:pt x="25400" y="203199"/>
                    </a:lnTo>
                    <a:cubicBezTo>
                      <a:pt x="11372" y="203199"/>
                      <a:pt x="0" y="191828"/>
                      <a:pt x="0" y="177800"/>
                    </a:cubicBezTo>
                    <a:lnTo>
                      <a:pt x="0" y="25400"/>
                    </a:lnTo>
                  </a:path>
                </a:pathLst>
              </a:custGeom>
              <a:noFill/>
              <a:ln w="25400">
                <a:solidFill>
                  <a:schemeClr val="accent1"/>
                </a:solidFill>
              </a:ln>
            </p:spPr>
          </p:sp>
        </p:grpSp>
        <p:sp>
          <p:nvSpPr>
            <p:cNvPr id="10" name="TextBox 10"/>
            <p:cNvSpPr txBox="1"/>
            <p:nvPr/>
          </p:nvSpPr>
          <p:spPr>
            <a:xfrm>
              <a:off x="1117092" y="1882775"/>
              <a:ext cx="3431263" cy="264033"/>
            </a:xfrm>
            <a:prstGeom prst="rect">
              <a:avLst/>
            </a:prstGeom>
            <a:noFill/>
            <a:ln>
              <a:noFill/>
            </a:ln>
          </p:spPr>
          <p:txBody>
            <a:bodyPr wrap="none" lIns="0" tIns="0" rIns="0" bIns="0" anchor="t" anchorCtr="0">
              <a:spAutoFit/>
            </a:bodyPr>
            <a:lstStyle/>
            <a:p>
              <a:pPr algn="l"/>
              <a:r>
                <a:rPr lang="vi-VN" sz="1350" b="1" dirty="0">
                  <a:solidFill>
                    <a:schemeClr val="accent5"/>
                  </a:solidFill>
                  <a:latin typeface="+mn-lt"/>
                  <a:ea typeface="+mn-ea"/>
                  <a:cs typeface="+mn-cs"/>
                </a:rPr>
                <a:t>INTEGRATED TERMINAL · POWERSHELL</a:t>
              </a:r>
            </a:p>
          </p:txBody>
        </p:sp>
        <p:sp>
          <p:nvSpPr>
            <p:cNvPr id="11" name="Rectangle 11"/>
            <p:cNvSpPr/>
            <p:nvPr/>
          </p:nvSpPr>
          <p:spPr>
            <a:xfrm>
              <a:off x="685800" y="2266950"/>
              <a:ext cx="6705600" cy="3562350"/>
            </a:xfrm>
            <a:prstGeom prst="roundRect">
              <a:avLst>
                <a:gd name="adj" fmla="val 1604"/>
              </a:avLst>
            </a:prstGeom>
            <a:solidFill>
              <a:schemeClr val="lt2"/>
            </a:solidFill>
            <a:ln>
              <a:noFill/>
            </a:ln>
          </p:spPr>
        </p:sp>
        <p:sp>
          <p:nvSpPr>
            <p:cNvPr id="12" name="TextBox 12"/>
            <p:cNvSpPr txBox="1"/>
            <p:nvPr/>
          </p:nvSpPr>
          <p:spPr>
            <a:xfrm>
              <a:off x="926592" y="2463800"/>
              <a:ext cx="3120684" cy="264033"/>
            </a:xfrm>
            <a:prstGeom prst="rect">
              <a:avLst/>
            </a:prstGeom>
            <a:noFill/>
            <a:ln>
              <a:noFill/>
            </a:ln>
          </p:spPr>
          <p:txBody>
            <a:bodyPr wrap="none" lIns="0" tIns="0" rIns="0" bIns="0" anchor="t" anchorCtr="0">
              <a:spAutoFit/>
            </a:bodyPr>
            <a:lstStyle/>
            <a:p>
              <a:pPr algn="l"/>
              <a:r>
                <a:rPr lang="vi-VN" sz="1350" dirty="0">
                  <a:solidFill>
                    <a:schemeClr val="accent5"/>
                  </a:solidFill>
                  <a:latin typeface="Consolas"/>
                  <a:ea typeface="Consolas"/>
                  <a:cs typeface="Consolas"/>
                </a:rPr>
                <a:t># 1 · xác minh phiên bản Python</a:t>
              </a:r>
            </a:p>
          </p:txBody>
        </p:sp>
        <p:sp>
          <p:nvSpPr>
            <p:cNvPr id="13" name="TextBox 13"/>
            <p:cNvSpPr txBox="1"/>
            <p:nvPr/>
          </p:nvSpPr>
          <p:spPr>
            <a:xfrm>
              <a:off x="926592" y="2749550"/>
              <a:ext cx="1213180" cy="264033"/>
            </a:xfrm>
            <a:prstGeom prst="rect">
              <a:avLst/>
            </a:prstGeom>
            <a:noFill/>
            <a:ln>
              <a:noFill/>
            </a:ln>
          </p:spPr>
          <p:txBody>
            <a:bodyPr wrap="none" lIns="0" tIns="0" rIns="0" bIns="0" anchor="t" anchorCtr="0">
              <a:spAutoFit/>
            </a:bodyPr>
            <a:lstStyle/>
            <a:p>
              <a:pPr algn="l"/>
              <a:r>
                <a:rPr lang="vi-VN" sz="1350" dirty="0">
                  <a:solidFill>
                    <a:schemeClr val="dk1"/>
                  </a:solidFill>
                  <a:latin typeface="Consolas"/>
                  <a:ea typeface="Consolas"/>
                  <a:cs typeface="Consolas"/>
                </a:rPr>
                <a:t>py --version</a:t>
              </a:r>
            </a:p>
          </p:txBody>
        </p:sp>
        <p:sp>
          <p:nvSpPr>
            <p:cNvPr id="14" name="TextBox 14"/>
            <p:cNvSpPr txBox="1"/>
            <p:nvPr/>
          </p:nvSpPr>
          <p:spPr>
            <a:xfrm>
              <a:off x="926592" y="3149600"/>
              <a:ext cx="2612555" cy="264033"/>
            </a:xfrm>
            <a:prstGeom prst="rect">
              <a:avLst/>
            </a:prstGeom>
            <a:noFill/>
            <a:ln>
              <a:noFill/>
            </a:ln>
          </p:spPr>
          <p:txBody>
            <a:bodyPr wrap="none" lIns="0" tIns="0" rIns="0" bIns="0" anchor="t" anchorCtr="0">
              <a:spAutoFit/>
            </a:bodyPr>
            <a:lstStyle/>
            <a:p>
              <a:pPr algn="l"/>
              <a:r>
                <a:rPr lang="vi-VN" sz="1350" dirty="0">
                  <a:solidFill>
                    <a:schemeClr val="accent5"/>
                  </a:solidFill>
                  <a:latin typeface="Consolas"/>
                  <a:ea typeface="Consolas"/>
                  <a:cs typeface="Consolas"/>
                </a:rPr>
                <a:t># 2 · tạo môi trường riêng</a:t>
              </a:r>
            </a:p>
          </p:txBody>
        </p:sp>
        <p:sp>
          <p:nvSpPr>
            <p:cNvPr id="15" name="TextBox 15"/>
            <p:cNvSpPr txBox="1"/>
            <p:nvPr/>
          </p:nvSpPr>
          <p:spPr>
            <a:xfrm>
              <a:off x="926592" y="3435350"/>
              <a:ext cx="1613002" cy="264033"/>
            </a:xfrm>
            <a:prstGeom prst="rect">
              <a:avLst/>
            </a:prstGeom>
            <a:noFill/>
            <a:ln>
              <a:noFill/>
            </a:ln>
          </p:spPr>
          <p:txBody>
            <a:bodyPr wrap="none" lIns="0" tIns="0" rIns="0" bIns="0" anchor="t" anchorCtr="0">
              <a:spAutoFit/>
            </a:bodyPr>
            <a:lstStyle/>
            <a:p>
              <a:pPr algn="l"/>
              <a:r>
                <a:rPr lang="vi-VN" sz="1350" dirty="0">
                  <a:solidFill>
                    <a:schemeClr val="dk1"/>
                  </a:solidFill>
                  <a:latin typeface="Consolas"/>
                  <a:ea typeface="Consolas"/>
                  <a:cs typeface="Consolas"/>
                </a:rPr>
                <a:t>py -m venv .venv</a:t>
              </a:r>
            </a:p>
          </p:txBody>
        </p:sp>
        <p:sp>
          <p:nvSpPr>
            <p:cNvPr id="16" name="TextBox 16"/>
            <p:cNvSpPr txBox="1"/>
            <p:nvPr/>
          </p:nvSpPr>
          <p:spPr>
            <a:xfrm>
              <a:off x="926592" y="3835400"/>
              <a:ext cx="2628900" cy="264033"/>
            </a:xfrm>
            <a:prstGeom prst="rect">
              <a:avLst/>
            </a:prstGeom>
            <a:noFill/>
            <a:ln>
              <a:noFill/>
            </a:ln>
          </p:spPr>
          <p:txBody>
            <a:bodyPr wrap="none" lIns="0" tIns="0" rIns="0" bIns="0" anchor="t" anchorCtr="0">
              <a:spAutoFit/>
            </a:bodyPr>
            <a:lstStyle/>
            <a:p>
              <a:pPr algn="l"/>
              <a:r>
                <a:rPr lang="vi-VN" sz="1350" dirty="0">
                  <a:solidFill>
                    <a:schemeClr val="accent5"/>
                  </a:solidFill>
                  <a:latin typeface="Consolas"/>
                  <a:ea typeface="Consolas"/>
                  <a:cs typeface="Consolas"/>
                </a:rPr>
                <a:t># 3 · kích hoạt PowerShell</a:t>
              </a:r>
            </a:p>
          </p:txBody>
        </p:sp>
        <p:sp>
          <p:nvSpPr>
            <p:cNvPr id="17" name="TextBox 17"/>
            <p:cNvSpPr txBox="1"/>
            <p:nvPr/>
          </p:nvSpPr>
          <p:spPr>
            <a:xfrm>
              <a:off x="926592" y="4121150"/>
              <a:ext cx="2827553" cy="264033"/>
            </a:xfrm>
            <a:prstGeom prst="rect">
              <a:avLst/>
            </a:prstGeom>
            <a:noFill/>
            <a:ln>
              <a:noFill/>
            </a:ln>
          </p:spPr>
          <p:txBody>
            <a:bodyPr wrap="none" lIns="0" tIns="0" rIns="0" bIns="0" anchor="t" anchorCtr="0">
              <a:spAutoFit/>
            </a:bodyPr>
            <a:lstStyle/>
            <a:p>
              <a:pPr algn="l"/>
              <a:r>
                <a:rPr lang="vi-VN" sz="1350" dirty="0">
                  <a:solidFill>
                    <a:schemeClr val="dk1"/>
                  </a:solidFill>
                  <a:latin typeface="Consolas"/>
                  <a:ea typeface="Consolas"/>
                  <a:cs typeface="Consolas"/>
                </a:rPr>
                <a:t>.\.venv\Scripts\Activate.ps1</a:t>
              </a:r>
            </a:p>
          </p:txBody>
        </p:sp>
        <p:sp>
          <p:nvSpPr>
            <p:cNvPr id="18" name="TextBox 18"/>
            <p:cNvSpPr txBox="1"/>
            <p:nvPr/>
          </p:nvSpPr>
          <p:spPr>
            <a:xfrm>
              <a:off x="926592" y="4521200"/>
              <a:ext cx="3612109" cy="264033"/>
            </a:xfrm>
            <a:prstGeom prst="rect">
              <a:avLst/>
            </a:prstGeom>
            <a:noFill/>
            <a:ln>
              <a:noFill/>
            </a:ln>
          </p:spPr>
          <p:txBody>
            <a:bodyPr wrap="none" lIns="0" tIns="0" rIns="0" bIns="0" anchor="t" anchorCtr="0">
              <a:spAutoFit/>
            </a:bodyPr>
            <a:lstStyle/>
            <a:p>
              <a:pPr algn="l"/>
              <a:r>
                <a:rPr lang="vi-VN" sz="1350" dirty="0">
                  <a:solidFill>
                    <a:schemeClr val="accent5"/>
                  </a:solidFill>
                  <a:latin typeface="Consolas"/>
                  <a:ea typeface="Consolas"/>
                  <a:cs typeface="Consolas"/>
                </a:rPr>
                <a:t># 4 · cài gói vào đúng môi trường ảo</a:t>
              </a:r>
            </a:p>
          </p:txBody>
        </p:sp>
        <p:sp>
          <p:nvSpPr>
            <p:cNvPr id="19" name="TextBox 19"/>
            <p:cNvSpPr txBox="1"/>
            <p:nvPr/>
          </p:nvSpPr>
          <p:spPr>
            <a:xfrm>
              <a:off x="926592" y="4806950"/>
              <a:ext cx="3512153" cy="264033"/>
            </a:xfrm>
            <a:prstGeom prst="rect">
              <a:avLst/>
            </a:prstGeom>
            <a:noFill/>
            <a:ln>
              <a:noFill/>
            </a:ln>
          </p:spPr>
          <p:txBody>
            <a:bodyPr wrap="none" lIns="0" tIns="0" rIns="0" bIns="0" anchor="t" anchorCtr="0">
              <a:spAutoFit/>
            </a:bodyPr>
            <a:lstStyle/>
            <a:p>
              <a:pPr algn="l"/>
              <a:r>
                <a:rPr lang="vi-VN" sz="1350" dirty="0">
                  <a:solidFill>
                    <a:schemeClr val="dk1"/>
                  </a:solidFill>
                  <a:latin typeface="Consolas"/>
                  <a:ea typeface="Consolas"/>
                  <a:cs typeface="Consolas"/>
                </a:rPr>
                <a:t>python -m pip install --upgrade pip</a:t>
              </a:r>
            </a:p>
          </p:txBody>
        </p:sp>
        <p:sp>
          <p:nvSpPr>
            <p:cNvPr id="20" name="TextBox 20"/>
            <p:cNvSpPr txBox="1"/>
            <p:nvPr/>
          </p:nvSpPr>
          <p:spPr>
            <a:xfrm>
              <a:off x="926592" y="5092700"/>
              <a:ext cx="4111885" cy="264033"/>
            </a:xfrm>
            <a:prstGeom prst="rect">
              <a:avLst/>
            </a:prstGeom>
            <a:noFill/>
            <a:ln>
              <a:noFill/>
            </a:ln>
          </p:spPr>
          <p:txBody>
            <a:bodyPr wrap="none" lIns="0" tIns="0" rIns="0" bIns="0" anchor="t" anchorCtr="0">
              <a:spAutoFit/>
            </a:bodyPr>
            <a:lstStyle/>
            <a:p>
              <a:pPr algn="l"/>
              <a:r>
                <a:rPr lang="vi-VN" sz="1350" dirty="0">
                  <a:solidFill>
                    <a:schemeClr val="dk1"/>
                  </a:solidFill>
                  <a:latin typeface="Consolas"/>
                  <a:ea typeface="Consolas"/>
                  <a:cs typeface="Consolas"/>
                </a:rPr>
                <a:t>python -m pip install pyserial matplotlib</a:t>
              </a:r>
            </a:p>
          </p:txBody>
        </p:sp>
        <p:sp>
          <p:nvSpPr>
            <p:cNvPr id="21" name="TextBox 21"/>
            <p:cNvSpPr txBox="1"/>
            <p:nvPr/>
          </p:nvSpPr>
          <p:spPr>
            <a:xfrm>
              <a:off x="927354" y="5467350"/>
              <a:ext cx="5740547" cy="234696"/>
            </a:xfrm>
            <a:prstGeom prst="rect">
              <a:avLst/>
            </a:prstGeom>
            <a:noFill/>
            <a:ln>
              <a:noFill/>
            </a:ln>
          </p:spPr>
          <p:txBody>
            <a:bodyPr wrap="none" lIns="0" tIns="0" rIns="0" bIns="0" anchor="t" anchorCtr="0">
              <a:spAutoFit/>
            </a:bodyPr>
            <a:lstStyle/>
            <a:p>
              <a:pPr algn="l"/>
              <a:r>
                <a:rPr lang="vi-VN" sz="1200" dirty="0">
                  <a:solidFill>
                    <a:schemeClr val="accent5"/>
                  </a:solidFill>
                  <a:latin typeface="+mn-lt"/>
                  <a:ea typeface="+mn-ea"/>
                  <a:cs typeface="+mn-cs"/>
                </a:rPr>
                <a:t>Nếu PowerShell từ chối kích hoạt, chọn interpreter .venv trong VS Code.</a:t>
              </a:r>
            </a:p>
          </p:txBody>
        </p:sp>
      </p:grpSp>
      <p:grpSp>
        <p:nvGrpSpPr>
          <p:cNvPr id="38" name="interpreter-check"/>
          <p:cNvGrpSpPr/>
          <p:nvPr/>
        </p:nvGrpSpPr>
        <p:grpSpPr>
          <a:xfrm>
            <a:off x="7725918" y="1882775"/>
            <a:ext cx="3780282" cy="4047871"/>
            <a:chOff x="7725918" y="1882775"/>
            <a:chExt cx="3780282" cy="4047871"/>
          </a:xfrm>
        </p:grpSpPr>
        <p:sp>
          <p:nvSpPr>
            <p:cNvPr id="23" name="TextBox 23"/>
            <p:cNvSpPr txBox="1"/>
            <p:nvPr/>
          </p:nvSpPr>
          <p:spPr>
            <a:xfrm>
              <a:off x="7727442" y="1882775"/>
              <a:ext cx="2685250" cy="264033"/>
            </a:xfrm>
            <a:prstGeom prst="rect">
              <a:avLst/>
            </a:prstGeom>
            <a:noFill/>
            <a:ln>
              <a:noFill/>
            </a:ln>
          </p:spPr>
          <p:txBody>
            <a:bodyPr wrap="none" lIns="0" tIns="0" rIns="0" bIns="0" anchor="t" anchorCtr="0">
              <a:spAutoFit/>
            </a:bodyPr>
            <a:lstStyle/>
            <a:p>
              <a:pPr algn="l"/>
              <a:r>
                <a:rPr lang="vi-VN" sz="1350" b="1" dirty="0">
                  <a:solidFill>
                    <a:schemeClr val="accent5"/>
                  </a:solidFill>
                  <a:latin typeface="+mn-lt"/>
                  <a:ea typeface="+mn-ea"/>
                  <a:cs typeface="+mn-cs"/>
                </a:rPr>
                <a:t>XÁC NHẬN TRƯỚC KHI MỞ COM</a:t>
              </a:r>
            </a:p>
          </p:txBody>
        </p:sp>
        <p:sp>
          <p:nvSpPr>
            <p:cNvPr id="24" name="Line 24"/>
            <p:cNvSpPr/>
            <p:nvPr/>
          </p:nvSpPr>
          <p:spPr>
            <a:xfrm>
              <a:off x="7734300" y="2266950"/>
              <a:ext cx="3771900" cy="9525"/>
            </a:xfrm>
            <a:custGeom>
              <a:avLst/>
              <a:gdLst/>
              <a:ahLst/>
              <a:cxnLst/>
              <a:rect l="l" t="t" r="r" b="b"/>
              <a:pathLst>
                <a:path w="3771900" h="9525">
                  <a:moveTo>
                    <a:pt x="0" y="0"/>
                  </a:moveTo>
                  <a:lnTo>
                    <a:pt x="3771900" y="0"/>
                  </a:lnTo>
                </a:path>
              </a:pathLst>
            </a:custGeom>
            <a:noFill/>
            <a:ln w="19050">
              <a:solidFill>
                <a:schemeClr val="accent1"/>
              </a:solidFill>
            </a:ln>
          </p:spPr>
        </p:sp>
        <p:sp>
          <p:nvSpPr>
            <p:cNvPr id="25" name="Ellipse 25"/>
            <p:cNvSpPr/>
            <p:nvPr/>
          </p:nvSpPr>
          <p:spPr>
            <a:xfrm>
              <a:off x="7867650" y="2609850"/>
              <a:ext cx="152400" cy="152400"/>
            </a:xfrm>
            <a:prstGeom prst="ellipse">
              <a:avLst/>
            </a:prstGeom>
            <a:solidFill>
              <a:schemeClr val="accent3"/>
            </a:solidFill>
            <a:ln>
              <a:noFill/>
            </a:ln>
          </p:spPr>
        </p:sp>
        <p:sp>
          <p:nvSpPr>
            <p:cNvPr id="26" name="TextBox 26"/>
            <p:cNvSpPr txBox="1"/>
            <p:nvPr/>
          </p:nvSpPr>
          <p:spPr>
            <a:xfrm>
              <a:off x="8145018" y="2549525"/>
              <a:ext cx="3138384" cy="322707"/>
            </a:xfrm>
            <a:prstGeom prst="rect">
              <a:avLst/>
            </a:prstGeom>
            <a:noFill/>
            <a:ln>
              <a:noFill/>
            </a:ln>
          </p:spPr>
          <p:txBody>
            <a:bodyPr wrap="none" lIns="0" tIns="0" rIns="0" bIns="0" anchor="t" anchorCtr="0">
              <a:spAutoFit/>
            </a:bodyPr>
            <a:lstStyle/>
            <a:p>
              <a:pPr algn="l"/>
              <a:r>
                <a:rPr lang="vi-VN" sz="1650" b="1" dirty="0">
                  <a:solidFill>
                    <a:schemeClr val="dk1"/>
                  </a:solidFill>
                  <a:latin typeface="+mn-lt"/>
                  <a:ea typeface="+mn-ea"/>
                  <a:cs typeface="+mn-cs"/>
                </a:rPr>
                <a:t>Chọn trình thông dịch .venv</a:t>
              </a:r>
            </a:p>
          </p:txBody>
        </p:sp>
        <p:sp>
          <p:nvSpPr>
            <p:cNvPr id="27" name="TextBox 27"/>
            <p:cNvSpPr txBox="1"/>
            <p:nvPr/>
          </p:nvSpPr>
          <p:spPr>
            <a:xfrm>
              <a:off x="8146542" y="2873375"/>
              <a:ext cx="2448664" cy="264033"/>
            </a:xfrm>
            <a:prstGeom prst="rect">
              <a:avLst/>
            </a:prstGeom>
            <a:noFill/>
            <a:ln>
              <a:noFill/>
            </a:ln>
          </p:spPr>
          <p:txBody>
            <a:bodyPr wrap="none" lIns="0" tIns="0" rIns="0" bIns="0" anchor="t" anchorCtr="0">
              <a:spAutoFit/>
            </a:bodyPr>
            <a:lstStyle/>
            <a:p>
              <a:pPr algn="l"/>
              <a:r>
                <a:rPr lang="vi-VN" sz="1350" dirty="0">
                  <a:solidFill>
                    <a:schemeClr val="accent5"/>
                  </a:solidFill>
                  <a:latin typeface="+mn-lt"/>
                  <a:ea typeface="+mn-ea"/>
                  <a:cs typeface="+mn-cs"/>
                </a:rPr>
                <a:t>Python: Select Interpreter</a:t>
              </a:r>
            </a:p>
          </p:txBody>
        </p:sp>
        <p:sp>
          <p:nvSpPr>
            <p:cNvPr id="28" name="Line 28"/>
            <p:cNvSpPr/>
            <p:nvPr/>
          </p:nvSpPr>
          <p:spPr>
            <a:xfrm>
              <a:off x="7734300" y="3276600"/>
              <a:ext cx="3771900" cy="9525"/>
            </a:xfrm>
            <a:custGeom>
              <a:avLst/>
              <a:gdLst/>
              <a:ahLst/>
              <a:cxnLst/>
              <a:rect l="l" t="t" r="r" b="b"/>
              <a:pathLst>
                <a:path w="3771900" h="9525">
                  <a:moveTo>
                    <a:pt x="0" y="0"/>
                  </a:moveTo>
                  <a:lnTo>
                    <a:pt x="3771900" y="0"/>
                  </a:lnTo>
                </a:path>
              </a:pathLst>
            </a:custGeom>
            <a:noFill/>
            <a:ln w="9525">
              <a:solidFill>
                <a:schemeClr val="accent6"/>
              </a:solidFill>
            </a:ln>
          </p:spPr>
        </p:sp>
        <p:sp>
          <p:nvSpPr>
            <p:cNvPr id="29" name="Ellipse 29"/>
            <p:cNvSpPr/>
            <p:nvPr/>
          </p:nvSpPr>
          <p:spPr>
            <a:xfrm>
              <a:off x="7867650" y="3600450"/>
              <a:ext cx="152400" cy="152400"/>
            </a:xfrm>
            <a:prstGeom prst="ellipse">
              <a:avLst/>
            </a:prstGeom>
            <a:solidFill>
              <a:schemeClr val="accent3"/>
            </a:solidFill>
            <a:ln>
              <a:noFill/>
            </a:ln>
          </p:spPr>
        </p:sp>
        <p:sp>
          <p:nvSpPr>
            <p:cNvPr id="30" name="TextBox 30"/>
            <p:cNvSpPr txBox="1"/>
            <p:nvPr/>
          </p:nvSpPr>
          <p:spPr>
            <a:xfrm>
              <a:off x="8145780" y="3565525"/>
              <a:ext cx="3351593" cy="293370"/>
            </a:xfrm>
            <a:prstGeom prst="rect">
              <a:avLst/>
            </a:prstGeom>
            <a:noFill/>
            <a:ln>
              <a:noFill/>
            </a:ln>
          </p:spPr>
          <p:txBody>
            <a:bodyPr wrap="none" lIns="0" tIns="0" rIns="0" bIns="0" anchor="t" anchorCtr="0">
              <a:spAutoFit/>
            </a:bodyPr>
            <a:lstStyle/>
            <a:p>
              <a:pPr algn="l"/>
              <a:r>
                <a:rPr lang="vi-VN" sz="1500" b="1" dirty="0">
                  <a:solidFill>
                    <a:schemeClr val="dk1"/>
                  </a:solidFill>
                  <a:latin typeface="+mn-lt"/>
                  <a:ea typeface="+mn-ea"/>
                  <a:cs typeface="+mn-cs"/>
                </a:rPr>
                <a:t>Dùng đúng tên mô-đun khi import</a:t>
              </a:r>
            </a:p>
          </p:txBody>
        </p:sp>
        <p:sp>
          <p:nvSpPr>
            <p:cNvPr id="31" name="TextBox 31"/>
            <p:cNvSpPr txBox="1"/>
            <p:nvPr/>
          </p:nvSpPr>
          <p:spPr>
            <a:xfrm>
              <a:off x="8146542" y="3863975"/>
              <a:ext cx="1313136" cy="264033"/>
            </a:xfrm>
            <a:prstGeom prst="rect">
              <a:avLst/>
            </a:prstGeom>
            <a:noFill/>
            <a:ln>
              <a:noFill/>
            </a:ln>
          </p:spPr>
          <p:txBody>
            <a:bodyPr wrap="none" lIns="0" tIns="0" rIns="0" bIns="0" anchor="t" anchorCtr="0">
              <a:spAutoFit/>
            </a:bodyPr>
            <a:lstStyle/>
            <a:p>
              <a:pPr algn="l"/>
              <a:r>
                <a:rPr lang="vi-VN" sz="1350" dirty="0">
                  <a:solidFill>
                    <a:schemeClr val="accent1"/>
                  </a:solidFill>
                  <a:latin typeface="Consolas"/>
                  <a:ea typeface="Consolas"/>
                  <a:cs typeface="Consolas"/>
                </a:rPr>
                <a:t>import serial</a:t>
              </a:r>
            </a:p>
          </p:txBody>
        </p:sp>
        <p:sp>
          <p:nvSpPr>
            <p:cNvPr id="32" name="TextBox 32"/>
            <p:cNvSpPr txBox="1"/>
            <p:nvPr/>
          </p:nvSpPr>
          <p:spPr>
            <a:xfrm>
              <a:off x="8146542" y="4130675"/>
              <a:ext cx="3112332" cy="264033"/>
            </a:xfrm>
            <a:prstGeom prst="rect">
              <a:avLst/>
            </a:prstGeom>
            <a:noFill/>
            <a:ln>
              <a:noFill/>
            </a:ln>
          </p:spPr>
          <p:txBody>
            <a:bodyPr wrap="none" lIns="0" tIns="0" rIns="0" bIns="0" anchor="t" anchorCtr="0">
              <a:spAutoFit/>
            </a:bodyPr>
            <a:lstStyle/>
            <a:p>
              <a:pPr algn="l"/>
              <a:r>
                <a:rPr lang="vi-VN" sz="1350" dirty="0">
                  <a:solidFill>
                    <a:schemeClr val="accent1"/>
                  </a:solidFill>
                  <a:latin typeface="Consolas"/>
                  <a:ea typeface="Consolas"/>
                  <a:cs typeface="Consolas"/>
                </a:rPr>
                <a:t>import matplotlib.pyplot as plt</a:t>
              </a:r>
            </a:p>
          </p:txBody>
        </p:sp>
        <p:sp>
          <p:nvSpPr>
            <p:cNvPr id="33" name="Line 33"/>
            <p:cNvSpPr/>
            <p:nvPr/>
          </p:nvSpPr>
          <p:spPr>
            <a:xfrm>
              <a:off x="7734300" y="4533900"/>
              <a:ext cx="3771900" cy="9525"/>
            </a:xfrm>
            <a:custGeom>
              <a:avLst/>
              <a:gdLst/>
              <a:ahLst/>
              <a:cxnLst/>
              <a:rect l="l" t="t" r="r" b="b"/>
              <a:pathLst>
                <a:path w="3771900" h="9525">
                  <a:moveTo>
                    <a:pt x="0" y="0"/>
                  </a:moveTo>
                  <a:lnTo>
                    <a:pt x="3771900" y="0"/>
                  </a:lnTo>
                </a:path>
              </a:pathLst>
            </a:custGeom>
            <a:noFill/>
            <a:ln w="9525">
              <a:solidFill>
                <a:schemeClr val="accent6"/>
              </a:solidFill>
            </a:ln>
          </p:spPr>
        </p:sp>
        <p:sp>
          <p:nvSpPr>
            <p:cNvPr id="34" name="TextBox 34"/>
            <p:cNvSpPr txBox="1"/>
            <p:nvPr/>
          </p:nvSpPr>
          <p:spPr>
            <a:xfrm>
              <a:off x="7725918" y="4730750"/>
              <a:ext cx="3581897" cy="322707"/>
            </a:xfrm>
            <a:prstGeom prst="rect">
              <a:avLst/>
            </a:prstGeom>
            <a:noFill/>
            <a:ln>
              <a:noFill/>
            </a:ln>
          </p:spPr>
          <p:txBody>
            <a:bodyPr wrap="none" lIns="0" tIns="0" rIns="0" bIns="0" anchor="t" anchorCtr="0">
              <a:spAutoFit/>
            </a:bodyPr>
            <a:lstStyle/>
            <a:p>
              <a:pPr algn="l"/>
              <a:r>
                <a:rPr lang="vi-VN" sz="1650" b="1" dirty="0">
                  <a:solidFill>
                    <a:schemeClr val="accent1"/>
                  </a:solidFill>
                  <a:latin typeface="+mn-lt"/>
                  <a:ea typeface="+mn-ea"/>
                  <a:cs typeface="+mn-cs"/>
                </a:rPr>
                <a:t>Tên gói cài đặt khác tên mô-đun</a:t>
              </a:r>
            </a:p>
          </p:txBody>
        </p:sp>
        <p:sp>
          <p:nvSpPr>
            <p:cNvPr id="35" name="TextBox 35"/>
            <p:cNvSpPr txBox="1"/>
            <p:nvPr/>
          </p:nvSpPr>
          <p:spPr>
            <a:xfrm>
              <a:off x="7727442" y="5092700"/>
              <a:ext cx="1440351" cy="264033"/>
            </a:xfrm>
            <a:prstGeom prst="rect">
              <a:avLst/>
            </a:prstGeom>
            <a:noFill/>
            <a:ln>
              <a:noFill/>
            </a:ln>
          </p:spPr>
          <p:txBody>
            <a:bodyPr wrap="none" lIns="0" tIns="0" rIns="0" bIns="0" anchor="t" anchorCtr="0">
              <a:spAutoFit/>
            </a:bodyPr>
            <a:lstStyle/>
            <a:p>
              <a:pPr algn="l"/>
              <a:r>
                <a:rPr lang="vi-VN" sz="1350" dirty="0">
                  <a:solidFill>
                    <a:schemeClr val="dk1"/>
                  </a:solidFill>
                  <a:latin typeface="+mn-lt"/>
                  <a:ea typeface="+mn-ea"/>
                  <a:cs typeface="+mn-cs"/>
                </a:rPr>
                <a:t>pyserial → serial</a:t>
              </a:r>
            </a:p>
          </p:txBody>
        </p:sp>
        <p:sp>
          <p:nvSpPr>
            <p:cNvPr id="36" name="TextBox 36"/>
            <p:cNvSpPr txBox="1"/>
            <p:nvPr/>
          </p:nvSpPr>
          <p:spPr>
            <a:xfrm>
              <a:off x="7727442" y="5378450"/>
              <a:ext cx="2676163" cy="264033"/>
            </a:xfrm>
            <a:prstGeom prst="rect">
              <a:avLst/>
            </a:prstGeom>
            <a:noFill/>
            <a:ln>
              <a:noFill/>
            </a:ln>
          </p:spPr>
          <p:txBody>
            <a:bodyPr wrap="none" lIns="0" tIns="0" rIns="0" bIns="0" anchor="t" anchorCtr="0">
              <a:spAutoFit/>
            </a:bodyPr>
            <a:lstStyle/>
            <a:p>
              <a:pPr algn="l"/>
              <a:r>
                <a:rPr lang="vi-VN" sz="1350" dirty="0">
                  <a:solidFill>
                    <a:schemeClr val="dk1"/>
                  </a:solidFill>
                  <a:latin typeface="+mn-lt"/>
                  <a:ea typeface="+mn-ea"/>
                  <a:cs typeface="+mn-cs"/>
                </a:rPr>
                <a:t>matplotlib → matplotlib.pyplot</a:t>
              </a:r>
            </a:p>
          </p:txBody>
        </p:sp>
        <p:sp>
          <p:nvSpPr>
            <p:cNvPr id="37" name="TextBox 37"/>
            <p:cNvSpPr txBox="1"/>
            <p:nvPr/>
          </p:nvSpPr>
          <p:spPr>
            <a:xfrm>
              <a:off x="7728204" y="5695950"/>
              <a:ext cx="2765816" cy="234696"/>
            </a:xfrm>
            <a:prstGeom prst="rect">
              <a:avLst/>
            </a:prstGeom>
            <a:noFill/>
            <a:ln>
              <a:noFill/>
            </a:ln>
          </p:spPr>
          <p:txBody>
            <a:bodyPr wrap="none" lIns="0" tIns="0" rIns="0" bIns="0" anchor="t" anchorCtr="0">
              <a:spAutoFit/>
            </a:bodyPr>
            <a:lstStyle/>
            <a:p>
              <a:pPr algn="l"/>
              <a:r>
                <a:rPr lang="vi-VN" sz="1200" b="1" dirty="0">
                  <a:solidFill>
                    <a:schemeClr val="accent2"/>
                  </a:solidFill>
                  <a:latin typeface="+mn-lt"/>
                  <a:ea typeface="+mn-ea"/>
                  <a:cs typeface="+mn-cs"/>
                </a:rPr>
                <a:t>Cài gói vào đúng trình thông dịch.</a:t>
              </a:r>
            </a:p>
          </p:txBody>
        </p:sp>
      </p:grpSp>
      <p:grpSp>
        <p:nvGrpSpPr>
          <p:cNvPr id="41" name="page-footer"/>
          <p:cNvGrpSpPr/>
          <p:nvPr/>
        </p:nvGrpSpPr>
        <p:grpSpPr>
          <a:xfrm>
            <a:off x="679704" y="6429375"/>
            <a:ext cx="10832592" cy="234696"/>
            <a:chOff x="679704" y="6429375"/>
            <a:chExt cx="10832592" cy="234696"/>
          </a:xfrm>
        </p:grpSpPr>
        <p:sp>
          <p:nvSpPr>
            <p:cNvPr id="39" name="TextBox 39"/>
            <p:cNvSpPr txBox="1"/>
            <p:nvPr/>
          </p:nvSpPr>
          <p:spPr>
            <a:xfrm>
              <a:off x="679704" y="6429375"/>
              <a:ext cx="2495702" cy="234696"/>
            </a:xfrm>
            <a:prstGeom prst="rect">
              <a:avLst/>
            </a:prstGeom>
            <a:noFill/>
            <a:ln>
              <a:noFill/>
            </a:ln>
          </p:spPr>
          <p:txBody>
            <a:bodyPr wrap="none" lIns="0" tIns="0" rIns="0" bIns="0" anchor="t" anchorCtr="0">
              <a:spAutoFit/>
            </a:bodyPr>
            <a:lstStyle/>
            <a:p>
              <a:pPr algn="l"/>
              <a:r>
                <a:rPr lang="vi-VN" sz="1200" dirty="0">
                  <a:solidFill>
                    <a:schemeClr val="accent5"/>
                  </a:solidFill>
                  <a:latin typeface="+mn-lt"/>
                  <a:ea typeface="+mn-ea"/>
                  <a:cs typeface="+mn-cs"/>
                </a:rPr>
                <a:t>MÔI TRƯỜNG · VENV VÀ THƯ VIỆN</a:t>
              </a:r>
            </a:p>
          </p:txBody>
        </p:sp>
        <p:sp>
          <p:nvSpPr>
            <p:cNvPr id="40" name="TextBox 40"/>
            <p:cNvSpPr txBox="1"/>
            <p:nvPr/>
          </p:nvSpPr>
          <p:spPr>
            <a:xfrm>
              <a:off x="10958932" y="6429375"/>
              <a:ext cx="553364" cy="234696"/>
            </a:xfrm>
            <a:prstGeom prst="rect">
              <a:avLst/>
            </a:prstGeom>
            <a:noFill/>
            <a:ln>
              <a:noFill/>
            </a:ln>
          </p:spPr>
          <p:txBody>
            <a:bodyPr wrap="none" lIns="0" tIns="0" rIns="0" bIns="0" anchor="t" anchorCtr="0">
              <a:spAutoFit/>
            </a:bodyPr>
            <a:lstStyle/>
            <a:p>
              <a:pPr algn="r"/>
              <a:r>
                <a:rPr lang="vi-VN" sz="1200" dirty="0">
                  <a:solidFill>
                    <a:schemeClr val="accent5"/>
                  </a:solidFill>
                  <a:latin typeface="+mn-lt"/>
                  <a:ea typeface="+mn-ea"/>
                  <a:cs typeface="+mn-cs"/>
                </a:rPr>
                <a:t>06 / 25</a:t>
              </a:r>
            </a:p>
          </p:txBody>
        </p:sp>
      </p:gr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page-title"/>
          <p:cNvGrpSpPr/>
          <p:nvPr/>
        </p:nvGrpSpPr>
        <p:grpSpPr>
          <a:xfrm>
            <a:off x="669798" y="520700"/>
            <a:ext cx="10836402" cy="955675"/>
            <a:chOff x="669798" y="520700"/>
            <a:chExt cx="10836402" cy="955675"/>
          </a:xfrm>
        </p:grpSpPr>
        <p:sp>
          <p:nvSpPr>
            <p:cNvPr id="2" name="TextBox 2"/>
            <p:cNvSpPr txBox="1"/>
            <p:nvPr/>
          </p:nvSpPr>
          <p:spPr>
            <a:xfrm>
              <a:off x="678942" y="520700"/>
              <a:ext cx="2604600" cy="264033"/>
            </a:xfrm>
            <a:prstGeom prst="rect">
              <a:avLst/>
            </a:prstGeom>
            <a:noFill/>
            <a:ln>
              <a:noFill/>
            </a:ln>
          </p:spPr>
          <p:txBody>
            <a:bodyPr wrap="none" lIns="0" tIns="0" rIns="0" bIns="0" anchor="t" anchorCtr="0">
              <a:spAutoFit/>
            </a:bodyPr>
            <a:lstStyle/>
            <a:p>
              <a:pPr algn="l"/>
              <a:r>
                <a:rPr lang="vi-VN" sz="1350" b="1" dirty="0">
                  <a:solidFill>
                    <a:schemeClr val="accent3"/>
                  </a:solidFill>
                  <a:latin typeface="+mn-lt"/>
                  <a:ea typeface="+mn-ea"/>
                  <a:cs typeface="+mn-cs"/>
                </a:rPr>
                <a:t>02 · MÔI TRƯỜNG THỰC HÀNH</a:t>
              </a:r>
            </a:p>
          </p:txBody>
        </p:sp>
        <p:sp>
          <p:nvSpPr>
            <p:cNvPr id="3" name="TextBox 3"/>
            <p:cNvSpPr txBox="1"/>
            <p:nvPr/>
          </p:nvSpPr>
          <p:spPr>
            <a:xfrm>
              <a:off x="669798" y="838200"/>
              <a:ext cx="10510698" cy="616077"/>
            </a:xfrm>
            <a:prstGeom prst="rect">
              <a:avLst/>
            </a:prstGeom>
            <a:noFill/>
            <a:ln>
              <a:noFill/>
            </a:ln>
          </p:spPr>
          <p:txBody>
            <a:bodyPr wrap="none" lIns="0" tIns="0" rIns="0" bIns="0" anchor="t" anchorCtr="0">
              <a:spAutoFit/>
            </a:bodyPr>
            <a:lstStyle/>
            <a:p>
              <a:pPr algn="l"/>
              <a:r>
                <a:rPr lang="vi-VN" sz="3150" b="1" dirty="0">
                  <a:solidFill>
                    <a:schemeClr val="accent1"/>
                  </a:solidFill>
                  <a:latin typeface="+mn-lt"/>
                  <a:ea typeface="+mn-ea"/>
                  <a:cs typeface="+mn-cs"/>
                </a:rPr>
                <a:t>Kiểm thử môi trường và xác minh trình thông dịch</a:t>
              </a:r>
            </a:p>
          </p:txBody>
        </p:sp>
        <p:sp>
          <p:nvSpPr>
            <p:cNvPr id="4" name="Line 4"/>
            <p:cNvSpPr/>
            <p:nvPr/>
          </p:nvSpPr>
          <p:spPr>
            <a:xfrm>
              <a:off x="685800" y="1466850"/>
              <a:ext cx="10820400" cy="9525"/>
            </a:xfrm>
            <a:custGeom>
              <a:avLst/>
              <a:gdLst/>
              <a:ahLst/>
              <a:cxnLst/>
              <a:rect l="l" t="t" r="r" b="b"/>
              <a:pathLst>
                <a:path w="10820400" h="9525">
                  <a:moveTo>
                    <a:pt x="0" y="0"/>
                  </a:moveTo>
                  <a:lnTo>
                    <a:pt x="10820400" y="0"/>
                  </a:lnTo>
                </a:path>
              </a:pathLst>
            </a:custGeom>
            <a:noFill/>
            <a:ln w="14288">
              <a:solidFill>
                <a:schemeClr val="accent6"/>
              </a:solidFill>
            </a:ln>
          </p:spPr>
        </p:sp>
      </p:grpSp>
      <p:grpSp>
        <p:nvGrpSpPr>
          <p:cNvPr id="14" name="test-code"/>
          <p:cNvGrpSpPr/>
          <p:nvPr/>
        </p:nvGrpSpPr>
        <p:grpSpPr>
          <a:xfrm>
            <a:off x="678561" y="1968500"/>
            <a:ext cx="5281803" cy="3712083"/>
            <a:chOff x="678561" y="1968500"/>
            <a:chExt cx="5281803" cy="3712083"/>
          </a:xfrm>
        </p:grpSpPr>
        <p:sp>
          <p:nvSpPr>
            <p:cNvPr id="6" name="TextBox 6"/>
            <p:cNvSpPr txBox="1"/>
            <p:nvPr/>
          </p:nvSpPr>
          <p:spPr>
            <a:xfrm>
              <a:off x="678942" y="1968500"/>
              <a:ext cx="3282385" cy="264033"/>
            </a:xfrm>
            <a:prstGeom prst="rect">
              <a:avLst/>
            </a:prstGeom>
            <a:noFill/>
            <a:ln>
              <a:noFill/>
            </a:ln>
          </p:spPr>
          <p:txBody>
            <a:bodyPr wrap="none" lIns="0" tIns="0" rIns="0" bIns="0" anchor="t" anchorCtr="0">
              <a:spAutoFit/>
            </a:bodyPr>
            <a:lstStyle/>
            <a:p>
              <a:pPr algn="l"/>
              <a:r>
                <a:rPr lang="vi-VN" sz="1350" b="1" dirty="0">
                  <a:solidFill>
                    <a:schemeClr val="accent5"/>
                  </a:solidFill>
                  <a:latin typeface="+mn-lt"/>
                  <a:ea typeface="+mn-ea"/>
                  <a:cs typeface="+mn-cs"/>
                </a:rPr>
                <a:t>TỆP KIỂM THỬ: kiem_tra_python.py</a:t>
              </a:r>
            </a:p>
          </p:txBody>
        </p:sp>
        <p:sp>
          <p:nvSpPr>
            <p:cNvPr id="7" name="Rectangle 7"/>
            <p:cNvSpPr/>
            <p:nvPr/>
          </p:nvSpPr>
          <p:spPr>
            <a:xfrm>
              <a:off x="685800" y="2343150"/>
              <a:ext cx="5143500" cy="2343150"/>
            </a:xfrm>
            <a:prstGeom prst="roundRect">
              <a:avLst>
                <a:gd name="adj" fmla="val 2439"/>
              </a:avLst>
            </a:prstGeom>
            <a:solidFill>
              <a:schemeClr val="lt2"/>
            </a:solidFill>
            <a:ln>
              <a:noFill/>
            </a:ln>
          </p:spPr>
        </p:sp>
        <p:sp>
          <p:nvSpPr>
            <p:cNvPr id="8" name="TextBox 8"/>
            <p:cNvSpPr txBox="1"/>
            <p:nvPr/>
          </p:nvSpPr>
          <p:spPr>
            <a:xfrm>
              <a:off x="926592" y="2616200"/>
              <a:ext cx="1013270" cy="264033"/>
            </a:xfrm>
            <a:prstGeom prst="rect">
              <a:avLst/>
            </a:prstGeom>
            <a:noFill/>
            <a:ln>
              <a:noFill/>
            </a:ln>
          </p:spPr>
          <p:txBody>
            <a:bodyPr wrap="none" lIns="0" tIns="0" rIns="0" bIns="0" anchor="t" anchorCtr="0">
              <a:spAutoFit/>
            </a:bodyPr>
            <a:lstStyle/>
            <a:p>
              <a:pPr algn="l"/>
              <a:r>
                <a:rPr lang="vi-VN" sz="1350" dirty="0">
                  <a:solidFill>
                    <a:schemeClr val="accent1"/>
                  </a:solidFill>
                  <a:latin typeface="Consolas"/>
                  <a:ea typeface="Consolas"/>
                  <a:cs typeface="Consolas"/>
                </a:rPr>
                <a:t>import sys</a:t>
              </a:r>
            </a:p>
          </p:txBody>
        </p:sp>
        <p:sp>
          <p:nvSpPr>
            <p:cNvPr id="9" name="TextBox 9"/>
            <p:cNvSpPr txBox="1"/>
            <p:nvPr/>
          </p:nvSpPr>
          <p:spPr>
            <a:xfrm>
              <a:off x="926592" y="2997200"/>
              <a:ext cx="2520044" cy="264033"/>
            </a:xfrm>
            <a:prstGeom prst="rect">
              <a:avLst/>
            </a:prstGeom>
            <a:noFill/>
            <a:ln>
              <a:noFill/>
            </a:ln>
          </p:spPr>
          <p:txBody>
            <a:bodyPr wrap="none" lIns="0" tIns="0" rIns="0" bIns="0" anchor="t" anchorCtr="0">
              <a:spAutoFit/>
            </a:bodyPr>
            <a:lstStyle/>
            <a:p>
              <a:pPr algn="l"/>
              <a:r>
                <a:rPr lang="vi-VN" sz="1350" dirty="0">
                  <a:solidFill>
                    <a:schemeClr val="dk1"/>
                  </a:solidFill>
                  <a:latin typeface="Consolas"/>
                  <a:ea typeface="Consolas"/>
                  <a:cs typeface="Consolas"/>
                </a:rPr>
                <a:t>print("Python dang chay")</a:t>
              </a:r>
            </a:p>
          </p:txBody>
        </p:sp>
        <p:sp>
          <p:nvSpPr>
            <p:cNvPr id="10" name="TextBox 10"/>
            <p:cNvSpPr txBox="1"/>
            <p:nvPr/>
          </p:nvSpPr>
          <p:spPr>
            <a:xfrm>
              <a:off x="926592" y="3378200"/>
              <a:ext cx="2112778" cy="264033"/>
            </a:xfrm>
            <a:prstGeom prst="rect">
              <a:avLst/>
            </a:prstGeom>
            <a:noFill/>
            <a:ln>
              <a:noFill/>
            </a:ln>
          </p:spPr>
          <p:txBody>
            <a:bodyPr wrap="none" lIns="0" tIns="0" rIns="0" bIns="0" anchor="t" anchorCtr="0">
              <a:spAutoFit/>
            </a:bodyPr>
            <a:lstStyle/>
            <a:p>
              <a:pPr algn="l"/>
              <a:r>
                <a:rPr lang="vi-VN" sz="1350" dirty="0">
                  <a:solidFill>
                    <a:schemeClr val="dk1"/>
                  </a:solidFill>
                  <a:latin typeface="Consolas"/>
                  <a:ea typeface="Consolas"/>
                  <a:cs typeface="Consolas"/>
                </a:rPr>
                <a:t>print(sys.executable)</a:t>
              </a:r>
            </a:p>
          </p:txBody>
        </p:sp>
        <p:sp>
          <p:nvSpPr>
            <p:cNvPr id="11" name="TextBox 11"/>
            <p:cNvSpPr txBox="1"/>
            <p:nvPr/>
          </p:nvSpPr>
          <p:spPr>
            <a:xfrm>
              <a:off x="926592" y="4006850"/>
              <a:ext cx="5033772" cy="264033"/>
            </a:xfrm>
            <a:prstGeom prst="rect">
              <a:avLst/>
            </a:prstGeom>
            <a:noFill/>
            <a:ln>
              <a:noFill/>
            </a:ln>
          </p:spPr>
          <p:txBody>
            <a:bodyPr wrap="none" lIns="0" tIns="0" rIns="0" bIns="0" anchor="t" anchorCtr="0">
              <a:spAutoFit/>
            </a:bodyPr>
            <a:lstStyle/>
            <a:p>
              <a:pPr algn="l"/>
              <a:r>
                <a:rPr lang="vi-VN" sz="1350" dirty="0">
                  <a:solidFill>
                    <a:schemeClr val="accent5"/>
                  </a:solidFill>
                  <a:latin typeface="+mn-lt"/>
                  <a:ea typeface="+mn-ea"/>
                  <a:cs typeface="+mn-cs"/>
                </a:rPr>
                <a:t>Chạy Run Python File và kiểm tra kết quả trong Terminal.</a:t>
              </a:r>
            </a:p>
          </p:txBody>
        </p:sp>
        <p:sp>
          <p:nvSpPr>
            <p:cNvPr id="12" name="TextBox 12"/>
            <p:cNvSpPr txBox="1"/>
            <p:nvPr/>
          </p:nvSpPr>
          <p:spPr>
            <a:xfrm>
              <a:off x="678561" y="5041900"/>
              <a:ext cx="4900805" cy="278702"/>
            </a:xfrm>
            <a:prstGeom prst="rect">
              <a:avLst/>
            </a:prstGeom>
            <a:noFill/>
            <a:ln>
              <a:noFill/>
            </a:ln>
          </p:spPr>
          <p:txBody>
            <a:bodyPr wrap="none" lIns="0" tIns="0" rIns="0" bIns="0" anchor="t" anchorCtr="0">
              <a:spAutoFit/>
            </a:bodyPr>
            <a:lstStyle/>
            <a:p>
              <a:pPr algn="l"/>
              <a:r>
                <a:rPr lang="vi-VN" sz="1420" b="1" dirty="0">
                  <a:solidFill>
                    <a:schemeClr val="accent1"/>
                  </a:solidFill>
                  <a:latin typeface="+mn-lt"/>
                  <a:ea typeface="+mn-ea"/>
                  <a:cs typeface="+mn-cs"/>
                </a:rPr>
                <a:t>Kiểm thử môi trường trước khi truy cập cổng COM.</a:t>
              </a:r>
            </a:p>
          </p:txBody>
        </p:sp>
        <p:sp>
          <p:nvSpPr>
            <p:cNvPr id="13" name="TextBox 13"/>
            <p:cNvSpPr txBox="1"/>
            <p:nvPr/>
          </p:nvSpPr>
          <p:spPr>
            <a:xfrm>
              <a:off x="678942" y="5416550"/>
              <a:ext cx="3843286" cy="264033"/>
            </a:xfrm>
            <a:prstGeom prst="rect">
              <a:avLst/>
            </a:prstGeom>
            <a:noFill/>
            <a:ln>
              <a:noFill/>
            </a:ln>
          </p:spPr>
          <p:txBody>
            <a:bodyPr wrap="none" lIns="0" tIns="0" rIns="0" bIns="0" anchor="t" anchorCtr="0">
              <a:spAutoFit/>
            </a:bodyPr>
            <a:lstStyle/>
            <a:p>
              <a:pPr algn="l"/>
              <a:r>
                <a:rPr lang="vi-VN" sz="1350" dirty="0">
                  <a:solidFill>
                    <a:schemeClr val="accent5"/>
                  </a:solidFill>
                  <a:latin typeface="+mn-lt"/>
                  <a:ea typeface="+mn-ea"/>
                  <a:cs typeface="+mn-cs"/>
                </a:rPr>
                <a:t>Thiếu mô-đun? Kiểm tra interpreter và gói.</a:t>
              </a:r>
            </a:p>
          </p:txBody>
        </p:sp>
      </p:grpSp>
      <p:grpSp>
        <p:nvGrpSpPr>
          <p:cNvPr id="27" name="python-output"/>
          <p:cNvGrpSpPr/>
          <p:nvPr/>
        </p:nvGrpSpPr>
        <p:grpSpPr>
          <a:xfrm>
            <a:off x="6316218" y="1885950"/>
            <a:ext cx="5189982" cy="3987546"/>
            <a:chOff x="6316218" y="1885950"/>
            <a:chExt cx="5189982" cy="3987546"/>
          </a:xfrm>
        </p:grpSpPr>
        <p:sp>
          <p:nvSpPr>
            <p:cNvPr id="15" name="Rectangle 15"/>
            <p:cNvSpPr/>
            <p:nvPr/>
          </p:nvSpPr>
          <p:spPr>
            <a:xfrm>
              <a:off x="6324600" y="1885950"/>
              <a:ext cx="5181600" cy="2971800"/>
            </a:xfrm>
            <a:prstGeom prst="roundRect">
              <a:avLst>
                <a:gd name="adj" fmla="val 1923"/>
              </a:avLst>
            </a:prstGeom>
            <a:solidFill>
              <a:schemeClr val="accent1"/>
            </a:solidFill>
            <a:ln>
              <a:noFill/>
            </a:ln>
          </p:spPr>
        </p:sp>
        <p:sp>
          <p:nvSpPr>
            <p:cNvPr id="16" name="TextBox 16"/>
            <p:cNvSpPr txBox="1"/>
            <p:nvPr/>
          </p:nvSpPr>
          <p:spPr>
            <a:xfrm>
              <a:off x="6584442" y="2082800"/>
              <a:ext cx="3007850" cy="264033"/>
            </a:xfrm>
            <a:prstGeom prst="rect">
              <a:avLst/>
            </a:prstGeom>
            <a:noFill/>
            <a:ln>
              <a:noFill/>
            </a:ln>
          </p:spPr>
          <p:txBody>
            <a:bodyPr wrap="none" lIns="0" tIns="0" rIns="0" bIns="0" anchor="t" anchorCtr="0">
              <a:spAutoFit/>
            </a:bodyPr>
            <a:lstStyle/>
            <a:p>
              <a:pPr algn="l"/>
              <a:r>
                <a:rPr lang="vi-VN" sz="1350" b="1" dirty="0">
                  <a:solidFill>
                    <a:srgbClr val="EEE7D9"/>
                  </a:solidFill>
                  <a:latin typeface="+mn-lt"/>
                  <a:ea typeface="+mn-ea"/>
                  <a:cs typeface="+mn-cs"/>
                </a:rPr>
                <a:t>INTEGRATED TERMINAL · KẾT QUẢ</a:t>
              </a:r>
            </a:p>
          </p:txBody>
        </p:sp>
        <p:sp>
          <p:nvSpPr>
            <p:cNvPr id="17" name="Line 17"/>
            <p:cNvSpPr/>
            <p:nvPr/>
          </p:nvSpPr>
          <p:spPr>
            <a:xfrm>
              <a:off x="6591300" y="2400300"/>
              <a:ext cx="4648200" cy="9525"/>
            </a:xfrm>
            <a:custGeom>
              <a:avLst/>
              <a:gdLst/>
              <a:ahLst/>
              <a:cxnLst/>
              <a:rect l="l" t="t" r="r" b="b"/>
              <a:pathLst>
                <a:path w="4648200" h="9525">
                  <a:moveTo>
                    <a:pt x="0" y="0"/>
                  </a:moveTo>
                  <a:lnTo>
                    <a:pt x="4648200" y="0"/>
                  </a:lnTo>
                </a:path>
              </a:pathLst>
            </a:custGeom>
            <a:noFill/>
            <a:ln w="19050">
              <a:solidFill>
                <a:schemeClr val="accent3"/>
              </a:solidFill>
            </a:ln>
          </p:spPr>
        </p:sp>
        <p:sp>
          <p:nvSpPr>
            <p:cNvPr id="18" name="TextBox 18"/>
            <p:cNvSpPr txBox="1"/>
            <p:nvPr/>
          </p:nvSpPr>
          <p:spPr>
            <a:xfrm>
              <a:off x="6584442" y="2616200"/>
              <a:ext cx="1619468" cy="264033"/>
            </a:xfrm>
            <a:prstGeom prst="rect">
              <a:avLst/>
            </a:prstGeom>
            <a:noFill/>
            <a:ln>
              <a:noFill/>
            </a:ln>
          </p:spPr>
          <p:txBody>
            <a:bodyPr wrap="none" lIns="0" tIns="0" rIns="0" bIns="0" anchor="t" anchorCtr="0">
              <a:spAutoFit/>
            </a:bodyPr>
            <a:lstStyle/>
            <a:p>
              <a:pPr algn="l"/>
              <a:r>
                <a:rPr lang="vi-VN" sz="1350" dirty="0">
                  <a:solidFill>
                    <a:srgbClr val="FFFDF7"/>
                  </a:solidFill>
                  <a:latin typeface="Consolas"/>
                  <a:ea typeface="Consolas"/>
                  <a:cs typeface="Consolas"/>
                </a:rPr>
                <a:t>Python dang chay</a:t>
              </a:r>
            </a:p>
          </p:txBody>
        </p:sp>
        <p:sp>
          <p:nvSpPr>
            <p:cNvPr id="19" name="TextBox 19"/>
            <p:cNvSpPr txBox="1"/>
            <p:nvPr/>
          </p:nvSpPr>
          <p:spPr>
            <a:xfrm>
              <a:off x="6584442" y="2921000"/>
              <a:ext cx="2661590" cy="264033"/>
            </a:xfrm>
            <a:prstGeom prst="rect">
              <a:avLst/>
            </a:prstGeom>
            <a:noFill/>
            <a:ln>
              <a:noFill/>
            </a:ln>
          </p:spPr>
          <p:txBody>
            <a:bodyPr wrap="none" lIns="0" tIns="0" rIns="0" bIns="0" anchor="t" anchorCtr="0">
              <a:spAutoFit/>
            </a:bodyPr>
            <a:lstStyle/>
            <a:p>
              <a:pPr algn="l"/>
              <a:r>
                <a:rPr lang="vi-VN" sz="1350" dirty="0">
                  <a:solidFill>
                    <a:srgbClr val="FFFDF7"/>
                  </a:solidFill>
                  <a:latin typeface="Consolas"/>
                  <a:ea typeface="Consolas"/>
                  <a:cs typeface="Consolas"/>
                </a:rPr>
                <a:t>C:\...\Buoi2_VSCode\.venv\</a:t>
              </a:r>
            </a:p>
          </p:txBody>
        </p:sp>
        <p:sp>
          <p:nvSpPr>
            <p:cNvPr id="20" name="TextBox 20"/>
            <p:cNvSpPr txBox="1"/>
            <p:nvPr/>
          </p:nvSpPr>
          <p:spPr>
            <a:xfrm>
              <a:off x="6584442" y="3206750"/>
              <a:ext cx="1819277" cy="264033"/>
            </a:xfrm>
            <a:prstGeom prst="rect">
              <a:avLst/>
            </a:prstGeom>
            <a:noFill/>
            <a:ln>
              <a:noFill/>
            </a:ln>
          </p:spPr>
          <p:txBody>
            <a:bodyPr wrap="none" lIns="0" tIns="0" rIns="0" bIns="0" anchor="t" anchorCtr="0">
              <a:spAutoFit/>
            </a:bodyPr>
            <a:lstStyle/>
            <a:p>
              <a:pPr algn="l"/>
              <a:r>
                <a:rPr lang="vi-VN" sz="1350" dirty="0">
                  <a:solidFill>
                    <a:srgbClr val="FFFDF7"/>
                  </a:solidFill>
                  <a:latin typeface="Consolas"/>
                  <a:ea typeface="Consolas"/>
                  <a:cs typeface="Consolas"/>
                </a:rPr>
                <a:t>Scripts\python.exe</a:t>
              </a:r>
            </a:p>
          </p:txBody>
        </p:sp>
        <p:sp>
          <p:nvSpPr>
            <p:cNvPr id="21" name="Ellipse 21"/>
            <p:cNvSpPr/>
            <p:nvPr/>
          </p:nvSpPr>
          <p:spPr>
            <a:xfrm>
              <a:off x="6629400" y="3657600"/>
              <a:ext cx="152400" cy="152400"/>
            </a:xfrm>
            <a:prstGeom prst="ellipse">
              <a:avLst/>
            </a:prstGeom>
            <a:solidFill>
              <a:schemeClr val="accent3"/>
            </a:solidFill>
            <a:ln>
              <a:noFill/>
            </a:ln>
          </p:spPr>
        </p:sp>
        <p:sp>
          <p:nvSpPr>
            <p:cNvPr id="22" name="TextBox 22"/>
            <p:cNvSpPr txBox="1"/>
            <p:nvPr/>
          </p:nvSpPr>
          <p:spPr>
            <a:xfrm>
              <a:off x="6906768" y="3606800"/>
              <a:ext cx="2415820" cy="322707"/>
            </a:xfrm>
            <a:prstGeom prst="rect">
              <a:avLst/>
            </a:prstGeom>
            <a:noFill/>
            <a:ln>
              <a:noFill/>
            </a:ln>
          </p:spPr>
          <p:txBody>
            <a:bodyPr wrap="none" lIns="0" tIns="0" rIns="0" bIns="0" anchor="t" anchorCtr="0">
              <a:spAutoFit/>
            </a:bodyPr>
            <a:lstStyle/>
            <a:p>
              <a:pPr algn="l"/>
              <a:r>
                <a:rPr lang="vi-VN" sz="1650" b="1" dirty="0">
                  <a:solidFill>
                    <a:srgbClr val="FFFDF7"/>
                  </a:solidFill>
                  <a:latin typeface="+mn-lt"/>
                  <a:ea typeface="+mn-ea"/>
                  <a:cs typeface="+mn-cs"/>
                </a:rPr>
                <a:t>Đường dẫn chứa .venv</a:t>
              </a:r>
            </a:p>
          </p:txBody>
        </p:sp>
        <p:sp>
          <p:nvSpPr>
            <p:cNvPr id="23" name="TextBox 23"/>
            <p:cNvSpPr txBox="1"/>
            <p:nvPr/>
          </p:nvSpPr>
          <p:spPr>
            <a:xfrm>
              <a:off x="6908292" y="3930650"/>
              <a:ext cx="3257721" cy="264033"/>
            </a:xfrm>
            <a:prstGeom prst="rect">
              <a:avLst/>
            </a:prstGeom>
            <a:noFill/>
            <a:ln>
              <a:noFill/>
            </a:ln>
          </p:spPr>
          <p:txBody>
            <a:bodyPr wrap="none" lIns="0" tIns="0" rIns="0" bIns="0" anchor="t" anchorCtr="0">
              <a:spAutoFit/>
            </a:bodyPr>
            <a:lstStyle/>
            <a:p>
              <a:pPr algn="l"/>
              <a:r>
                <a:rPr lang="vi-VN" sz="1350" dirty="0">
                  <a:solidFill>
                    <a:srgbClr val="EEE7D9"/>
                  </a:solidFill>
                  <a:latin typeface="+mn-lt"/>
                  <a:ea typeface="+mn-ea"/>
                  <a:cs typeface="+mn-cs"/>
                </a:rPr>
                <a:t>→ trình thông dịch dự án đã được chọn</a:t>
              </a:r>
            </a:p>
          </p:txBody>
        </p:sp>
        <p:sp>
          <p:nvSpPr>
            <p:cNvPr id="24" name="Line 24"/>
            <p:cNvSpPr/>
            <p:nvPr/>
          </p:nvSpPr>
          <p:spPr>
            <a:xfrm>
              <a:off x="6324600" y="5105400"/>
              <a:ext cx="5181600" cy="9525"/>
            </a:xfrm>
            <a:custGeom>
              <a:avLst/>
              <a:gdLst/>
              <a:ahLst/>
              <a:cxnLst/>
              <a:rect l="l" t="t" r="r" b="b"/>
              <a:pathLst>
                <a:path w="5181600" h="9525">
                  <a:moveTo>
                    <a:pt x="0" y="0"/>
                  </a:moveTo>
                  <a:lnTo>
                    <a:pt x="5181600" y="0"/>
                  </a:lnTo>
                </a:path>
              </a:pathLst>
            </a:custGeom>
            <a:noFill/>
            <a:ln w="9525">
              <a:solidFill>
                <a:schemeClr val="accent6"/>
              </a:solidFill>
            </a:ln>
          </p:spPr>
        </p:sp>
        <p:sp>
          <p:nvSpPr>
            <p:cNvPr id="25" name="TextBox 25"/>
            <p:cNvSpPr txBox="1"/>
            <p:nvPr/>
          </p:nvSpPr>
          <p:spPr>
            <a:xfrm>
              <a:off x="6316218" y="5283200"/>
              <a:ext cx="4569637" cy="322707"/>
            </a:xfrm>
            <a:prstGeom prst="rect">
              <a:avLst/>
            </a:prstGeom>
            <a:noFill/>
            <a:ln>
              <a:noFill/>
            </a:ln>
          </p:spPr>
          <p:txBody>
            <a:bodyPr wrap="none" lIns="0" tIns="0" rIns="0" bIns="0" anchor="t" anchorCtr="0">
              <a:spAutoFit/>
            </a:bodyPr>
            <a:lstStyle/>
            <a:p>
              <a:pPr algn="l"/>
              <a:r>
                <a:rPr lang="vi-VN" sz="1650" b="1" dirty="0">
                  <a:solidFill>
                    <a:schemeClr val="accent2"/>
                  </a:solidFill>
                  <a:latin typeface="+mn-lt"/>
                  <a:ea typeface="+mn-ea"/>
                  <a:cs typeface="+mn-cs"/>
                </a:rPr>
                <a:t>Không thấy .venv? Chọn lại interpreter.</a:t>
              </a:r>
            </a:p>
          </p:txBody>
        </p:sp>
        <p:sp>
          <p:nvSpPr>
            <p:cNvPr id="26" name="TextBox 26"/>
            <p:cNvSpPr txBox="1"/>
            <p:nvPr/>
          </p:nvSpPr>
          <p:spPr>
            <a:xfrm>
              <a:off x="6318504" y="5638800"/>
              <a:ext cx="3790175" cy="234696"/>
            </a:xfrm>
            <a:prstGeom prst="rect">
              <a:avLst/>
            </a:prstGeom>
            <a:noFill/>
            <a:ln>
              <a:noFill/>
            </a:ln>
          </p:spPr>
          <p:txBody>
            <a:bodyPr wrap="none" lIns="0" tIns="0" rIns="0" bIns="0" anchor="t" anchorCtr="0">
              <a:spAutoFit/>
            </a:bodyPr>
            <a:lstStyle/>
            <a:p>
              <a:pPr algn="l"/>
              <a:r>
                <a:rPr lang="vi-VN" sz="1200" dirty="0">
                  <a:solidFill>
                    <a:schemeClr val="accent5"/>
                  </a:solidFill>
                  <a:latin typeface="+mn-lt"/>
                  <a:ea typeface="+mn-ea"/>
                  <a:cs typeface="+mn-cs"/>
                </a:rPr>
                <a:t>Đường dẫn hiển thị là ví dụ; mỗi máy có thể khác.</a:t>
              </a:r>
            </a:p>
          </p:txBody>
        </p:sp>
      </p:grpSp>
      <p:grpSp>
        <p:nvGrpSpPr>
          <p:cNvPr id="30" name="page-footer"/>
          <p:cNvGrpSpPr/>
          <p:nvPr/>
        </p:nvGrpSpPr>
        <p:grpSpPr>
          <a:xfrm>
            <a:off x="679704" y="6429375"/>
            <a:ext cx="10832592" cy="234696"/>
            <a:chOff x="679704" y="6429375"/>
            <a:chExt cx="10832592" cy="234696"/>
          </a:xfrm>
        </p:grpSpPr>
        <p:sp>
          <p:nvSpPr>
            <p:cNvPr id="28" name="TextBox 28"/>
            <p:cNvSpPr txBox="1"/>
            <p:nvPr/>
          </p:nvSpPr>
          <p:spPr>
            <a:xfrm>
              <a:off x="679704" y="6429375"/>
              <a:ext cx="2871216" cy="234696"/>
            </a:xfrm>
            <a:prstGeom prst="rect">
              <a:avLst/>
            </a:prstGeom>
            <a:noFill/>
            <a:ln>
              <a:noFill/>
            </a:ln>
          </p:spPr>
          <p:txBody>
            <a:bodyPr wrap="none" lIns="0" tIns="0" rIns="0" bIns="0" anchor="t" anchorCtr="0">
              <a:spAutoFit/>
            </a:bodyPr>
            <a:lstStyle/>
            <a:p>
              <a:pPr algn="l"/>
              <a:r>
                <a:rPr lang="vi-VN" sz="1200" dirty="0">
                  <a:solidFill>
                    <a:schemeClr val="accent5"/>
                  </a:solidFill>
                  <a:latin typeface="+mn-lt"/>
                  <a:ea typeface="+mn-ea"/>
                  <a:cs typeface="+mn-cs"/>
                </a:rPr>
                <a:t>MÔI TRƯỜNG · EDIT → RUN → KIỂM TRA</a:t>
              </a:r>
            </a:p>
          </p:txBody>
        </p:sp>
        <p:sp>
          <p:nvSpPr>
            <p:cNvPr id="29" name="TextBox 29"/>
            <p:cNvSpPr txBox="1"/>
            <p:nvPr/>
          </p:nvSpPr>
          <p:spPr>
            <a:xfrm>
              <a:off x="10958932" y="6429375"/>
              <a:ext cx="553364" cy="234696"/>
            </a:xfrm>
            <a:prstGeom prst="rect">
              <a:avLst/>
            </a:prstGeom>
            <a:noFill/>
            <a:ln>
              <a:noFill/>
            </a:ln>
          </p:spPr>
          <p:txBody>
            <a:bodyPr wrap="none" lIns="0" tIns="0" rIns="0" bIns="0" anchor="t" anchorCtr="0">
              <a:spAutoFit/>
            </a:bodyPr>
            <a:lstStyle/>
            <a:p>
              <a:pPr algn="r"/>
              <a:r>
                <a:rPr lang="vi-VN" sz="1200" dirty="0">
                  <a:solidFill>
                    <a:schemeClr val="accent5"/>
                  </a:solidFill>
                  <a:latin typeface="+mn-lt"/>
                  <a:ea typeface="+mn-ea"/>
                  <a:cs typeface="+mn-cs"/>
                </a:rPr>
                <a:t>07 / 25</a:t>
              </a:r>
            </a:p>
          </p:txBody>
        </p:sp>
      </p:gr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page-title"/>
          <p:cNvGrpSpPr/>
          <p:nvPr/>
        </p:nvGrpSpPr>
        <p:grpSpPr>
          <a:xfrm>
            <a:off x="669798" y="520700"/>
            <a:ext cx="10836402" cy="955675"/>
            <a:chOff x="669798" y="520700"/>
            <a:chExt cx="10836402" cy="955675"/>
          </a:xfrm>
        </p:grpSpPr>
        <p:sp>
          <p:nvSpPr>
            <p:cNvPr id="2" name="TextBox 2"/>
            <p:cNvSpPr txBox="1"/>
            <p:nvPr/>
          </p:nvSpPr>
          <p:spPr>
            <a:xfrm>
              <a:off x="678942" y="520700"/>
              <a:ext cx="1727530" cy="264033"/>
            </a:xfrm>
            <a:prstGeom prst="rect">
              <a:avLst/>
            </a:prstGeom>
            <a:noFill/>
            <a:ln>
              <a:noFill/>
            </a:ln>
          </p:spPr>
          <p:txBody>
            <a:bodyPr wrap="none" lIns="0" tIns="0" rIns="0" bIns="0" anchor="t" anchorCtr="0">
              <a:spAutoFit/>
            </a:bodyPr>
            <a:lstStyle/>
            <a:p>
              <a:pPr algn="l"/>
              <a:r>
                <a:rPr lang="vi-VN" sz="1350" b="1" dirty="0">
                  <a:solidFill>
                    <a:schemeClr val="accent3"/>
                  </a:solidFill>
                  <a:latin typeface="+mn-lt"/>
                  <a:ea typeface="+mn-ea"/>
                  <a:cs typeface="+mn-cs"/>
                </a:rPr>
                <a:t>03 · COM / SERIAL</a:t>
              </a:r>
            </a:p>
          </p:txBody>
        </p:sp>
        <p:sp>
          <p:nvSpPr>
            <p:cNvPr id="3" name="TextBox 3"/>
            <p:cNvSpPr txBox="1"/>
            <p:nvPr/>
          </p:nvSpPr>
          <p:spPr>
            <a:xfrm>
              <a:off x="669798" y="838200"/>
              <a:ext cx="8223868" cy="616077"/>
            </a:xfrm>
            <a:prstGeom prst="rect">
              <a:avLst/>
            </a:prstGeom>
            <a:noFill/>
            <a:ln>
              <a:noFill/>
            </a:ln>
          </p:spPr>
          <p:txBody>
            <a:bodyPr wrap="none" lIns="0" tIns="0" rIns="0" bIns="0" anchor="t" anchorCtr="0">
              <a:spAutoFit/>
            </a:bodyPr>
            <a:lstStyle/>
            <a:p>
              <a:pPr algn="l"/>
              <a:r>
                <a:rPr lang="vi-VN" sz="3150" b="1" dirty="0">
                  <a:solidFill>
                    <a:schemeClr val="accent1"/>
                  </a:solidFill>
                  <a:latin typeface="+mn-lt"/>
                  <a:ea typeface="+mn-ea"/>
                  <a:cs typeface="+mn-cs"/>
                </a:rPr>
                <a:t>Bước 1 — Liệt kê và xác minh cổng COM</a:t>
              </a:r>
            </a:p>
          </p:txBody>
        </p:sp>
        <p:sp>
          <p:nvSpPr>
            <p:cNvPr id="4" name="Line 4"/>
            <p:cNvSpPr/>
            <p:nvPr/>
          </p:nvSpPr>
          <p:spPr>
            <a:xfrm>
              <a:off x="685800" y="1466850"/>
              <a:ext cx="10820400" cy="9525"/>
            </a:xfrm>
            <a:custGeom>
              <a:avLst/>
              <a:gdLst/>
              <a:ahLst/>
              <a:cxnLst/>
              <a:rect l="l" t="t" r="r" b="b"/>
              <a:pathLst>
                <a:path w="10820400" h="9525">
                  <a:moveTo>
                    <a:pt x="0" y="0"/>
                  </a:moveTo>
                  <a:lnTo>
                    <a:pt x="10820400" y="0"/>
                  </a:lnTo>
                </a:path>
              </a:pathLst>
            </a:custGeom>
            <a:noFill/>
            <a:ln w="14288">
              <a:solidFill>
                <a:schemeClr val="accent6"/>
              </a:solidFill>
            </a:ln>
          </p:spPr>
        </p:sp>
      </p:grpSp>
      <p:grpSp>
        <p:nvGrpSpPr>
          <p:cNvPr id="24" name="list-ports-code"/>
          <p:cNvGrpSpPr/>
          <p:nvPr/>
        </p:nvGrpSpPr>
        <p:grpSpPr>
          <a:xfrm>
            <a:off x="677418" y="1847850"/>
            <a:ext cx="5053854" cy="3927983"/>
            <a:chOff x="677418" y="1847850"/>
            <a:chExt cx="5053854" cy="3927983"/>
          </a:xfrm>
        </p:grpSpPr>
        <p:grpSp>
          <p:nvGrpSpPr>
            <p:cNvPr id="12" name="Group 12"/>
            <p:cNvGrpSpPr/>
            <p:nvPr/>
          </p:nvGrpSpPr>
          <p:grpSpPr>
            <a:xfrm>
              <a:off x="723900" y="1847850"/>
              <a:ext cx="228599" cy="228599"/>
              <a:chOff x="723900" y="1847850"/>
              <a:chExt cx="228599" cy="228599"/>
            </a:xfrm>
          </p:grpSpPr>
          <p:sp>
            <p:nvSpPr>
              <p:cNvPr id="6" name="Freeform 6"/>
              <p:cNvSpPr/>
              <p:nvPr/>
            </p:nvSpPr>
            <p:spPr>
              <a:xfrm>
                <a:off x="739332" y="1962150"/>
                <a:ext cx="98867" cy="98867"/>
              </a:xfrm>
              <a:custGeom>
                <a:avLst/>
                <a:gdLst/>
                <a:ahLst/>
                <a:cxnLst/>
                <a:rect l="l" t="t" r="r" b="b"/>
                <a:pathLst>
                  <a:path w="98867" h="98867">
                    <a:moveTo>
                      <a:pt x="35367" y="0"/>
                    </a:moveTo>
                    <a:lnTo>
                      <a:pt x="98867" y="63500"/>
                    </a:lnTo>
                    <a:lnTo>
                      <a:pt x="79817" y="82550"/>
                    </a:lnTo>
                    <a:cubicBezTo>
                      <a:pt x="68537" y="94202"/>
                      <a:pt x="51851" y="98867"/>
                      <a:pt x="36164" y="94755"/>
                    </a:cubicBezTo>
                    <a:cubicBezTo>
                      <a:pt x="20476" y="90642"/>
                      <a:pt x="8225" y="78391"/>
                      <a:pt x="4113" y="62703"/>
                    </a:cubicBezTo>
                    <a:cubicBezTo>
                      <a:pt x="0" y="47016"/>
                      <a:pt x="4665" y="30330"/>
                      <a:pt x="16317" y="19050"/>
                    </a:cubicBezTo>
                    <a:lnTo>
                      <a:pt x="35367" y="0"/>
                    </a:lnTo>
                  </a:path>
                </a:pathLst>
              </a:custGeom>
              <a:noFill/>
              <a:ln w="25400">
                <a:solidFill>
                  <a:schemeClr val="accent1"/>
                </a:solidFill>
              </a:ln>
            </p:spPr>
          </p:sp>
          <p:sp>
            <p:nvSpPr>
              <p:cNvPr id="7" name="Freeform 7"/>
              <p:cNvSpPr/>
              <p:nvPr/>
            </p:nvSpPr>
            <p:spPr>
              <a:xfrm>
                <a:off x="838200" y="1863282"/>
                <a:ext cx="98867" cy="98867"/>
              </a:xfrm>
              <a:custGeom>
                <a:avLst/>
                <a:gdLst/>
                <a:ahLst/>
                <a:cxnLst/>
                <a:rect l="l" t="t" r="r" b="b"/>
                <a:pathLst>
                  <a:path w="98867" h="98867">
                    <a:moveTo>
                      <a:pt x="63500" y="98867"/>
                    </a:moveTo>
                    <a:lnTo>
                      <a:pt x="0" y="35367"/>
                    </a:lnTo>
                    <a:lnTo>
                      <a:pt x="19050" y="16317"/>
                    </a:lnTo>
                    <a:cubicBezTo>
                      <a:pt x="30330" y="4665"/>
                      <a:pt x="47016" y="0"/>
                      <a:pt x="62703" y="4113"/>
                    </a:cubicBezTo>
                    <a:cubicBezTo>
                      <a:pt x="78391" y="8225"/>
                      <a:pt x="90642" y="20476"/>
                      <a:pt x="94755" y="36164"/>
                    </a:cubicBezTo>
                    <a:cubicBezTo>
                      <a:pt x="98867" y="51851"/>
                      <a:pt x="94202" y="68537"/>
                      <a:pt x="82550" y="79817"/>
                    </a:cubicBezTo>
                    <a:lnTo>
                      <a:pt x="63500" y="98867"/>
                    </a:lnTo>
                  </a:path>
                </a:pathLst>
              </a:custGeom>
              <a:noFill/>
              <a:ln w="25400">
                <a:solidFill>
                  <a:schemeClr val="accent1"/>
                </a:solidFill>
              </a:ln>
            </p:spPr>
          </p:sp>
          <p:sp>
            <p:nvSpPr>
              <p:cNvPr id="8" name="Freeform 8"/>
              <p:cNvSpPr/>
              <p:nvPr/>
            </p:nvSpPr>
            <p:spPr>
              <a:xfrm>
                <a:off x="723900" y="2044699"/>
                <a:ext cx="31750" cy="31750"/>
              </a:xfrm>
              <a:custGeom>
                <a:avLst/>
                <a:gdLst/>
                <a:ahLst/>
                <a:cxnLst/>
                <a:rect l="l" t="t" r="r" b="b"/>
                <a:pathLst>
                  <a:path w="31750" h="31750">
                    <a:moveTo>
                      <a:pt x="0" y="31750"/>
                    </a:moveTo>
                    <a:lnTo>
                      <a:pt x="31750" y="0"/>
                    </a:lnTo>
                  </a:path>
                </a:pathLst>
              </a:custGeom>
              <a:noFill/>
              <a:ln w="25400">
                <a:solidFill>
                  <a:schemeClr val="accent1"/>
                </a:solidFill>
              </a:ln>
            </p:spPr>
          </p:sp>
          <p:sp>
            <p:nvSpPr>
              <p:cNvPr id="9" name="Freeform 9"/>
              <p:cNvSpPr/>
              <p:nvPr/>
            </p:nvSpPr>
            <p:spPr>
              <a:xfrm>
                <a:off x="920749" y="1847850"/>
                <a:ext cx="31750" cy="31750"/>
              </a:xfrm>
              <a:custGeom>
                <a:avLst/>
                <a:gdLst/>
                <a:ahLst/>
                <a:cxnLst/>
                <a:rect l="l" t="t" r="r" b="b"/>
                <a:pathLst>
                  <a:path w="31750" h="31750">
                    <a:moveTo>
                      <a:pt x="0" y="31750"/>
                    </a:moveTo>
                    <a:lnTo>
                      <a:pt x="31750" y="0"/>
                    </a:lnTo>
                  </a:path>
                </a:pathLst>
              </a:custGeom>
              <a:noFill/>
              <a:ln w="25400">
                <a:solidFill>
                  <a:schemeClr val="accent1"/>
                </a:solidFill>
              </a:ln>
            </p:spPr>
          </p:sp>
          <p:sp>
            <p:nvSpPr>
              <p:cNvPr id="10" name="Freeform 10"/>
              <p:cNvSpPr/>
              <p:nvPr/>
            </p:nvSpPr>
            <p:spPr>
              <a:xfrm>
                <a:off x="787400" y="1949450"/>
                <a:ext cx="25400" cy="25400"/>
              </a:xfrm>
              <a:custGeom>
                <a:avLst/>
                <a:gdLst/>
                <a:ahLst/>
                <a:cxnLst/>
                <a:rect l="l" t="t" r="r" b="b"/>
                <a:pathLst>
                  <a:path w="25400" h="25400">
                    <a:moveTo>
                      <a:pt x="25400" y="0"/>
                    </a:moveTo>
                    <a:lnTo>
                      <a:pt x="0" y="25400"/>
                    </a:lnTo>
                  </a:path>
                </a:pathLst>
              </a:custGeom>
              <a:noFill/>
              <a:ln w="25400">
                <a:solidFill>
                  <a:schemeClr val="accent1"/>
                </a:solidFill>
              </a:ln>
            </p:spPr>
          </p:sp>
          <p:sp>
            <p:nvSpPr>
              <p:cNvPr id="11" name="Freeform 11"/>
              <p:cNvSpPr/>
              <p:nvPr/>
            </p:nvSpPr>
            <p:spPr>
              <a:xfrm>
                <a:off x="825500" y="1987550"/>
                <a:ext cx="25400" cy="25400"/>
              </a:xfrm>
              <a:custGeom>
                <a:avLst/>
                <a:gdLst/>
                <a:ahLst/>
                <a:cxnLst/>
                <a:rect l="l" t="t" r="r" b="b"/>
                <a:pathLst>
                  <a:path w="25400" h="25400">
                    <a:moveTo>
                      <a:pt x="25400" y="0"/>
                    </a:moveTo>
                    <a:lnTo>
                      <a:pt x="0" y="25400"/>
                    </a:lnTo>
                  </a:path>
                </a:pathLst>
              </a:custGeom>
              <a:noFill/>
              <a:ln w="25400">
                <a:solidFill>
                  <a:schemeClr val="accent1"/>
                </a:solidFill>
              </a:ln>
            </p:spPr>
          </p:sp>
        </p:grpSp>
        <p:sp>
          <p:nvSpPr>
            <p:cNvPr id="13" name="TextBox 13"/>
            <p:cNvSpPr txBox="1"/>
            <p:nvPr/>
          </p:nvSpPr>
          <p:spPr>
            <a:xfrm>
              <a:off x="1117092" y="1882775"/>
              <a:ext cx="3068338" cy="264033"/>
            </a:xfrm>
            <a:prstGeom prst="rect">
              <a:avLst/>
            </a:prstGeom>
            <a:noFill/>
            <a:ln>
              <a:noFill/>
            </a:ln>
          </p:spPr>
          <p:txBody>
            <a:bodyPr wrap="none" lIns="0" tIns="0" rIns="0" bIns="0" anchor="t" anchorCtr="0">
              <a:spAutoFit/>
            </a:bodyPr>
            <a:lstStyle/>
            <a:p>
              <a:pPr algn="l"/>
              <a:r>
                <a:rPr lang="vi-VN" sz="1350" b="1" dirty="0">
                  <a:solidFill>
                    <a:schemeClr val="accent5"/>
                  </a:solidFill>
                  <a:latin typeface="+mn-lt"/>
                  <a:ea typeface="+mn-ea"/>
                  <a:cs typeface="+mn-cs"/>
                </a:rPr>
                <a:t>PYTHON · LIỆT KÊ CỔNG KHẢ DỤNG</a:t>
              </a:r>
            </a:p>
          </p:txBody>
        </p:sp>
        <p:sp>
          <p:nvSpPr>
            <p:cNvPr id="14" name="Rectangle 14"/>
            <p:cNvSpPr/>
            <p:nvPr/>
          </p:nvSpPr>
          <p:spPr>
            <a:xfrm>
              <a:off x="685800" y="2266950"/>
              <a:ext cx="4953000" cy="2190750"/>
            </a:xfrm>
            <a:prstGeom prst="roundRect">
              <a:avLst>
                <a:gd name="adj" fmla="val 2609"/>
              </a:avLst>
            </a:prstGeom>
            <a:solidFill>
              <a:schemeClr val="lt2"/>
            </a:solidFill>
            <a:ln>
              <a:noFill/>
            </a:ln>
          </p:spPr>
        </p:sp>
        <p:sp>
          <p:nvSpPr>
            <p:cNvPr id="15" name="TextBox 15"/>
            <p:cNvSpPr txBox="1"/>
            <p:nvPr/>
          </p:nvSpPr>
          <p:spPr>
            <a:xfrm>
              <a:off x="907542" y="2482850"/>
              <a:ext cx="3512153" cy="264033"/>
            </a:xfrm>
            <a:prstGeom prst="rect">
              <a:avLst/>
            </a:prstGeom>
            <a:noFill/>
            <a:ln>
              <a:noFill/>
            </a:ln>
          </p:spPr>
          <p:txBody>
            <a:bodyPr wrap="none" lIns="0" tIns="0" rIns="0" bIns="0" anchor="t" anchorCtr="0">
              <a:spAutoFit/>
            </a:bodyPr>
            <a:lstStyle/>
            <a:p>
              <a:pPr algn="l"/>
              <a:r>
                <a:rPr lang="vi-VN" sz="1350" dirty="0">
                  <a:solidFill>
                    <a:schemeClr val="accent1"/>
                  </a:solidFill>
                  <a:latin typeface="Consolas"/>
                  <a:ea typeface="Consolas"/>
                  <a:cs typeface="Consolas"/>
                </a:rPr>
                <a:t>from serial.tools import list_ports</a:t>
              </a:r>
            </a:p>
          </p:txBody>
        </p:sp>
        <p:sp>
          <p:nvSpPr>
            <p:cNvPr id="16" name="TextBox 16"/>
            <p:cNvSpPr txBox="1"/>
            <p:nvPr/>
          </p:nvSpPr>
          <p:spPr>
            <a:xfrm>
              <a:off x="907542" y="2863850"/>
              <a:ext cx="3412198" cy="264033"/>
            </a:xfrm>
            <a:prstGeom prst="rect">
              <a:avLst/>
            </a:prstGeom>
            <a:noFill/>
            <a:ln>
              <a:noFill/>
            </a:ln>
          </p:spPr>
          <p:txBody>
            <a:bodyPr wrap="none" lIns="0" tIns="0" rIns="0" bIns="0" anchor="t" anchorCtr="0">
              <a:spAutoFit/>
            </a:bodyPr>
            <a:lstStyle/>
            <a:p>
              <a:pPr algn="l"/>
              <a:r>
                <a:rPr lang="vi-VN" sz="1350" dirty="0">
                  <a:solidFill>
                    <a:schemeClr val="dk1"/>
                  </a:solidFill>
                  <a:latin typeface="Consolas"/>
                  <a:ea typeface="Consolas"/>
                  <a:cs typeface="Consolas"/>
                </a:rPr>
                <a:t>for port in list_ports.comports():</a:t>
              </a:r>
            </a:p>
          </p:txBody>
        </p:sp>
        <p:sp>
          <p:nvSpPr>
            <p:cNvPr id="17" name="TextBox 17"/>
            <p:cNvSpPr txBox="1"/>
            <p:nvPr/>
          </p:nvSpPr>
          <p:spPr>
            <a:xfrm>
              <a:off x="1288542" y="3149600"/>
              <a:ext cx="2312689" cy="264033"/>
            </a:xfrm>
            <a:prstGeom prst="rect">
              <a:avLst/>
            </a:prstGeom>
            <a:noFill/>
            <a:ln>
              <a:noFill/>
            </a:ln>
          </p:spPr>
          <p:txBody>
            <a:bodyPr wrap="none" lIns="0" tIns="0" rIns="0" bIns="0" anchor="t" anchorCtr="0">
              <a:spAutoFit/>
            </a:bodyPr>
            <a:lstStyle/>
            <a:p>
              <a:pPr algn="l"/>
              <a:r>
                <a:rPr lang="vi-VN" sz="1350" dirty="0">
                  <a:solidFill>
                    <a:schemeClr val="dk1"/>
                  </a:solidFill>
                  <a:latin typeface="Consolas"/>
                  <a:ea typeface="Consolas"/>
                  <a:cs typeface="Consolas"/>
                </a:rPr>
                <a:t>print(port.device, "-",</a:t>
              </a:r>
            </a:p>
          </p:txBody>
        </p:sp>
        <p:sp>
          <p:nvSpPr>
            <p:cNvPr id="18" name="TextBox 18"/>
            <p:cNvSpPr txBox="1"/>
            <p:nvPr/>
          </p:nvSpPr>
          <p:spPr>
            <a:xfrm>
              <a:off x="1669542" y="3435350"/>
              <a:ext cx="1712957" cy="264033"/>
            </a:xfrm>
            <a:prstGeom prst="rect">
              <a:avLst/>
            </a:prstGeom>
            <a:noFill/>
            <a:ln>
              <a:noFill/>
            </a:ln>
          </p:spPr>
          <p:txBody>
            <a:bodyPr wrap="none" lIns="0" tIns="0" rIns="0" bIns="0" anchor="t" anchorCtr="0">
              <a:spAutoFit/>
            </a:bodyPr>
            <a:lstStyle/>
            <a:p>
              <a:pPr algn="l"/>
              <a:r>
                <a:rPr lang="vi-VN" sz="1350" dirty="0">
                  <a:solidFill>
                    <a:schemeClr val="dk1"/>
                  </a:solidFill>
                  <a:latin typeface="Consolas"/>
                  <a:ea typeface="Consolas"/>
                  <a:cs typeface="Consolas"/>
                </a:rPr>
                <a:t>port.description)</a:t>
              </a:r>
            </a:p>
          </p:txBody>
        </p:sp>
        <p:sp>
          <p:nvSpPr>
            <p:cNvPr id="19" name="TextBox 19"/>
            <p:cNvSpPr txBox="1"/>
            <p:nvPr/>
          </p:nvSpPr>
          <p:spPr>
            <a:xfrm>
              <a:off x="907542" y="3930650"/>
              <a:ext cx="3418209" cy="264033"/>
            </a:xfrm>
            <a:prstGeom prst="rect">
              <a:avLst/>
            </a:prstGeom>
            <a:noFill/>
            <a:ln>
              <a:noFill/>
            </a:ln>
          </p:spPr>
          <p:txBody>
            <a:bodyPr wrap="none" lIns="0" tIns="0" rIns="0" bIns="0" anchor="t" anchorCtr="0">
              <a:spAutoFit/>
            </a:bodyPr>
            <a:lstStyle/>
            <a:p>
              <a:pPr algn="l"/>
              <a:r>
                <a:rPr lang="vi-VN" sz="1350" dirty="0">
                  <a:solidFill>
                    <a:schemeClr val="accent5"/>
                  </a:solidFill>
                  <a:latin typeface="+mn-lt"/>
                  <a:ea typeface="+mn-ea"/>
                  <a:cs typeface="+mn-cs"/>
                </a:rPr>
                <a:t>Chạy chương trình và đối chiếu cổng với</a:t>
              </a:r>
            </a:p>
          </p:txBody>
        </p:sp>
        <p:sp>
          <p:nvSpPr>
            <p:cNvPr id="20" name="TextBox 20"/>
            <p:cNvSpPr txBox="1"/>
            <p:nvPr/>
          </p:nvSpPr>
          <p:spPr>
            <a:xfrm>
              <a:off x="907542" y="4197350"/>
              <a:ext cx="3372979" cy="264033"/>
            </a:xfrm>
            <a:prstGeom prst="rect">
              <a:avLst/>
            </a:prstGeom>
            <a:noFill/>
            <a:ln>
              <a:noFill/>
            </a:ln>
          </p:spPr>
          <p:txBody>
            <a:bodyPr wrap="none" lIns="0" tIns="0" rIns="0" bIns="0" anchor="t" anchorCtr="0">
              <a:spAutoFit/>
            </a:bodyPr>
            <a:lstStyle/>
            <a:p>
              <a:pPr algn="l"/>
              <a:r>
                <a:rPr lang="vi-VN" sz="1350" dirty="0">
                  <a:solidFill>
                    <a:schemeClr val="accent5"/>
                  </a:solidFill>
                  <a:latin typeface="+mn-lt"/>
                  <a:ea typeface="+mn-ea"/>
                  <a:cs typeface="+mn-cs"/>
                </a:rPr>
                <a:t>Device Manager → Ports (COM &amp; LPT).</a:t>
              </a:r>
            </a:p>
          </p:txBody>
        </p:sp>
        <p:sp>
          <p:nvSpPr>
            <p:cNvPr id="21" name="TextBox 21"/>
            <p:cNvSpPr txBox="1"/>
            <p:nvPr/>
          </p:nvSpPr>
          <p:spPr>
            <a:xfrm>
              <a:off x="677418" y="4749800"/>
              <a:ext cx="5053854" cy="322707"/>
            </a:xfrm>
            <a:prstGeom prst="rect">
              <a:avLst/>
            </a:prstGeom>
            <a:noFill/>
            <a:ln>
              <a:noFill/>
            </a:ln>
          </p:spPr>
          <p:txBody>
            <a:bodyPr wrap="none" lIns="0" tIns="0" rIns="0" bIns="0" anchor="t" anchorCtr="0">
              <a:spAutoFit/>
            </a:bodyPr>
            <a:lstStyle/>
            <a:p>
              <a:pPr algn="l"/>
              <a:r>
                <a:rPr lang="vi-VN" sz="1650" b="1" dirty="0">
                  <a:solidFill>
                    <a:schemeClr val="accent1"/>
                  </a:solidFill>
                  <a:latin typeface="+mn-lt"/>
                  <a:ea typeface="+mn-ea"/>
                  <a:cs typeface="+mn-cs"/>
                </a:rPr>
                <a:t>Không cố định tên cổng COM trong mã nguồn.</a:t>
              </a:r>
            </a:p>
          </p:txBody>
        </p:sp>
        <p:sp>
          <p:nvSpPr>
            <p:cNvPr id="22" name="TextBox 22"/>
            <p:cNvSpPr txBox="1"/>
            <p:nvPr/>
          </p:nvSpPr>
          <p:spPr>
            <a:xfrm>
              <a:off x="678942" y="5130800"/>
              <a:ext cx="3800532" cy="264033"/>
            </a:xfrm>
            <a:prstGeom prst="rect">
              <a:avLst/>
            </a:prstGeom>
            <a:noFill/>
            <a:ln>
              <a:noFill/>
            </a:ln>
          </p:spPr>
          <p:txBody>
            <a:bodyPr wrap="none" lIns="0" tIns="0" rIns="0" bIns="0" anchor="t" anchorCtr="0">
              <a:spAutoFit/>
            </a:bodyPr>
            <a:lstStyle/>
            <a:p>
              <a:pPr algn="l"/>
              <a:r>
                <a:rPr lang="vi-VN" sz="1350" dirty="0">
                  <a:solidFill>
                    <a:schemeClr val="dk1"/>
                  </a:solidFill>
                  <a:latin typeface="+mn-lt"/>
                  <a:ea typeface="+mn-ea"/>
                  <a:cs typeface="+mn-cs"/>
                </a:rPr>
                <a:t>Kiểm tra cáp dữ liệu, driver và mô tả cổng.</a:t>
              </a:r>
            </a:p>
          </p:txBody>
        </p:sp>
        <p:sp>
          <p:nvSpPr>
            <p:cNvPr id="23" name="TextBox 23"/>
            <p:cNvSpPr txBox="1"/>
            <p:nvPr/>
          </p:nvSpPr>
          <p:spPr>
            <a:xfrm>
              <a:off x="678942" y="5511800"/>
              <a:ext cx="3875499" cy="264033"/>
            </a:xfrm>
            <a:prstGeom prst="rect">
              <a:avLst/>
            </a:prstGeom>
            <a:noFill/>
            <a:ln>
              <a:noFill/>
            </a:ln>
          </p:spPr>
          <p:txBody>
            <a:bodyPr wrap="none" lIns="0" tIns="0" rIns="0" bIns="0" anchor="t" anchorCtr="0">
              <a:spAutoFit/>
            </a:bodyPr>
            <a:lstStyle/>
            <a:p>
              <a:pPr algn="l"/>
              <a:r>
                <a:rPr lang="vi-VN" sz="1350" dirty="0">
                  <a:solidFill>
                    <a:schemeClr val="accent2"/>
                  </a:solidFill>
                  <a:latin typeface="+mn-lt"/>
                  <a:ea typeface="+mn-ea"/>
                  <a:cs typeface="+mn-cs"/>
                </a:rPr>
                <a:t>Mỗi cổng COM chỉ được mở bởi một ứng dụng.</a:t>
              </a:r>
            </a:p>
          </p:txBody>
        </p:sp>
      </p:grpSp>
      <p:grpSp>
        <p:nvGrpSpPr>
          <p:cNvPr id="42" name="hercules-check"/>
          <p:cNvGrpSpPr/>
          <p:nvPr/>
        </p:nvGrpSpPr>
        <p:grpSpPr>
          <a:xfrm>
            <a:off x="5993892" y="1882775"/>
            <a:ext cx="5512308" cy="4007358"/>
            <a:chOff x="5993892" y="1882775"/>
            <a:chExt cx="5512308" cy="4007358"/>
          </a:xfrm>
        </p:grpSpPr>
        <p:sp>
          <p:nvSpPr>
            <p:cNvPr id="25" name="TextBox 25"/>
            <p:cNvSpPr txBox="1"/>
            <p:nvPr/>
          </p:nvSpPr>
          <p:spPr>
            <a:xfrm>
              <a:off x="5993892" y="1882775"/>
              <a:ext cx="4691421" cy="264033"/>
            </a:xfrm>
            <a:prstGeom prst="rect">
              <a:avLst/>
            </a:prstGeom>
            <a:noFill/>
            <a:ln>
              <a:noFill/>
            </a:ln>
          </p:spPr>
          <p:txBody>
            <a:bodyPr wrap="none" lIns="0" tIns="0" rIns="0" bIns="0" anchor="t" anchorCtr="0">
              <a:spAutoFit/>
            </a:bodyPr>
            <a:lstStyle/>
            <a:p>
              <a:pPr algn="l"/>
              <a:r>
                <a:rPr lang="vi-VN" sz="1350" b="1" dirty="0">
                  <a:solidFill>
                    <a:schemeClr val="accent5"/>
                  </a:solidFill>
                  <a:latin typeface="+mn-lt"/>
                  <a:ea typeface="+mn-ea"/>
                  <a:cs typeface="+mn-cs"/>
                </a:rPr>
                <a:t>HERCULES · XÁC MINH KẾT NỐI TRƯỚC KHI LẬP TRÌNH</a:t>
              </a:r>
            </a:p>
          </p:txBody>
        </p:sp>
        <p:sp>
          <p:nvSpPr>
            <p:cNvPr id="26" name="Rectangle 26"/>
            <p:cNvSpPr/>
            <p:nvPr/>
          </p:nvSpPr>
          <p:spPr>
            <a:xfrm>
              <a:off x="6000750" y="2266950"/>
              <a:ext cx="5505450" cy="3200400"/>
            </a:xfrm>
            <a:prstGeom prst="roundRect">
              <a:avLst>
                <a:gd name="adj" fmla="val 1786"/>
              </a:avLst>
            </a:prstGeom>
            <a:solidFill>
              <a:srgbClr val="FFFDF7"/>
            </a:solidFill>
            <a:ln w="14288">
              <a:solidFill>
                <a:schemeClr val="accent6"/>
              </a:solidFill>
            </a:ln>
          </p:spPr>
        </p:sp>
        <p:sp>
          <p:nvSpPr>
            <p:cNvPr id="27" name="Rectangle 27"/>
            <p:cNvSpPr/>
            <p:nvPr/>
          </p:nvSpPr>
          <p:spPr>
            <a:xfrm>
              <a:off x="6000750" y="2266950"/>
              <a:ext cx="5505450" cy="361950"/>
            </a:xfrm>
            <a:prstGeom prst="roundRect">
              <a:avLst>
                <a:gd name="adj" fmla="val 15789"/>
              </a:avLst>
            </a:prstGeom>
            <a:solidFill>
              <a:schemeClr val="accent1"/>
            </a:solidFill>
            <a:ln>
              <a:noFill/>
            </a:ln>
          </p:spPr>
        </p:sp>
        <p:sp>
          <p:nvSpPr>
            <p:cNvPr id="28" name="TextBox 28"/>
            <p:cNvSpPr txBox="1"/>
            <p:nvPr/>
          </p:nvSpPr>
          <p:spPr>
            <a:xfrm>
              <a:off x="6203442" y="2339975"/>
              <a:ext cx="2462845" cy="264033"/>
            </a:xfrm>
            <a:prstGeom prst="rect">
              <a:avLst/>
            </a:prstGeom>
            <a:noFill/>
            <a:ln>
              <a:noFill/>
            </a:ln>
          </p:spPr>
          <p:txBody>
            <a:bodyPr wrap="none" lIns="0" tIns="0" rIns="0" bIns="0" anchor="t" anchorCtr="0">
              <a:spAutoFit/>
            </a:bodyPr>
            <a:lstStyle/>
            <a:p>
              <a:pPr algn="l"/>
              <a:r>
                <a:rPr lang="vi-VN" sz="1350" b="1" dirty="0">
                  <a:solidFill>
                    <a:srgbClr val="FFFDF7"/>
                  </a:solidFill>
                  <a:latin typeface="+mn-lt"/>
                  <a:ea typeface="+mn-ea"/>
                  <a:cs typeface="+mn-cs"/>
                </a:rPr>
                <a:t>Serial · giao diện mô phỏng</a:t>
              </a:r>
            </a:p>
          </p:txBody>
        </p:sp>
        <p:sp>
          <p:nvSpPr>
            <p:cNvPr id="29" name="TextBox 29"/>
            <p:cNvSpPr txBox="1"/>
            <p:nvPr/>
          </p:nvSpPr>
          <p:spPr>
            <a:xfrm>
              <a:off x="6203442" y="2825750"/>
              <a:ext cx="407365" cy="264033"/>
            </a:xfrm>
            <a:prstGeom prst="rect">
              <a:avLst/>
            </a:prstGeom>
            <a:noFill/>
            <a:ln>
              <a:noFill/>
            </a:ln>
          </p:spPr>
          <p:txBody>
            <a:bodyPr wrap="none" lIns="0" tIns="0" rIns="0" bIns="0" anchor="t" anchorCtr="0">
              <a:spAutoFit/>
            </a:bodyPr>
            <a:lstStyle/>
            <a:p>
              <a:pPr algn="l"/>
              <a:r>
                <a:rPr lang="vi-VN" sz="1350" dirty="0">
                  <a:solidFill>
                    <a:schemeClr val="accent5"/>
                  </a:solidFill>
                  <a:latin typeface="+mn-lt"/>
                  <a:ea typeface="+mn-ea"/>
                  <a:cs typeface="+mn-cs"/>
                </a:rPr>
                <a:t>COM</a:t>
              </a:r>
            </a:p>
          </p:txBody>
        </p:sp>
        <p:sp>
          <p:nvSpPr>
            <p:cNvPr id="30" name="TextBox 30"/>
            <p:cNvSpPr txBox="1"/>
            <p:nvPr/>
          </p:nvSpPr>
          <p:spPr>
            <a:xfrm>
              <a:off x="7327392" y="2825750"/>
              <a:ext cx="3138538" cy="264033"/>
            </a:xfrm>
            <a:prstGeom prst="rect">
              <a:avLst/>
            </a:prstGeom>
            <a:noFill/>
            <a:ln>
              <a:noFill/>
            </a:ln>
          </p:spPr>
          <p:txBody>
            <a:bodyPr wrap="none" lIns="0" tIns="0" rIns="0" bIns="0" anchor="t" anchorCtr="0">
              <a:spAutoFit/>
            </a:bodyPr>
            <a:lstStyle/>
            <a:p>
              <a:pPr algn="l"/>
              <a:r>
                <a:rPr lang="vi-VN" sz="1350" b="1" dirty="0">
                  <a:solidFill>
                    <a:schemeClr val="dk1"/>
                  </a:solidFill>
                  <a:latin typeface="+mn-lt"/>
                  <a:ea typeface="+mn-ea"/>
                  <a:cs typeface="+mn-cs"/>
                </a:rPr>
                <a:t>COM4 (ví dụ; chọn cổng khả dụng)</a:t>
              </a:r>
            </a:p>
          </p:txBody>
        </p:sp>
        <p:sp>
          <p:nvSpPr>
            <p:cNvPr id="31" name="TextBox 31"/>
            <p:cNvSpPr txBox="1"/>
            <p:nvPr/>
          </p:nvSpPr>
          <p:spPr>
            <a:xfrm>
              <a:off x="6203442" y="3168650"/>
              <a:ext cx="1036630" cy="264033"/>
            </a:xfrm>
            <a:prstGeom prst="rect">
              <a:avLst/>
            </a:prstGeom>
            <a:noFill/>
            <a:ln>
              <a:noFill/>
            </a:ln>
          </p:spPr>
          <p:txBody>
            <a:bodyPr wrap="none" lIns="0" tIns="0" rIns="0" bIns="0" anchor="t" anchorCtr="0">
              <a:spAutoFit/>
            </a:bodyPr>
            <a:lstStyle/>
            <a:p>
              <a:pPr algn="l"/>
              <a:r>
                <a:rPr lang="vi-VN" sz="1350" dirty="0">
                  <a:solidFill>
                    <a:schemeClr val="accent5"/>
                  </a:solidFill>
                  <a:latin typeface="+mn-lt"/>
                  <a:ea typeface="+mn-ea"/>
                  <a:cs typeface="+mn-cs"/>
                </a:rPr>
                <a:t>Baud / Data</a:t>
              </a:r>
            </a:p>
          </p:txBody>
        </p:sp>
        <p:sp>
          <p:nvSpPr>
            <p:cNvPr id="32" name="TextBox 32"/>
            <p:cNvSpPr txBox="1"/>
            <p:nvPr/>
          </p:nvSpPr>
          <p:spPr>
            <a:xfrm>
              <a:off x="7327392" y="3168650"/>
              <a:ext cx="722490" cy="264033"/>
            </a:xfrm>
            <a:prstGeom prst="rect">
              <a:avLst/>
            </a:prstGeom>
            <a:noFill/>
            <a:ln>
              <a:noFill/>
            </a:ln>
          </p:spPr>
          <p:txBody>
            <a:bodyPr wrap="none" lIns="0" tIns="0" rIns="0" bIns="0" anchor="t" anchorCtr="0">
              <a:spAutoFit/>
            </a:bodyPr>
            <a:lstStyle/>
            <a:p>
              <a:pPr algn="l"/>
              <a:r>
                <a:rPr lang="vi-VN" sz="1350" dirty="0">
                  <a:solidFill>
                    <a:schemeClr val="dk1"/>
                  </a:solidFill>
                  <a:latin typeface="+mn-lt"/>
                  <a:ea typeface="+mn-ea"/>
                  <a:cs typeface="+mn-cs"/>
                </a:rPr>
                <a:t>9600 / 8</a:t>
              </a:r>
            </a:p>
          </p:txBody>
        </p:sp>
        <p:sp>
          <p:nvSpPr>
            <p:cNvPr id="33" name="TextBox 33"/>
            <p:cNvSpPr txBox="1"/>
            <p:nvPr/>
          </p:nvSpPr>
          <p:spPr>
            <a:xfrm>
              <a:off x="6203442" y="3511550"/>
              <a:ext cx="1190000" cy="264033"/>
            </a:xfrm>
            <a:prstGeom prst="rect">
              <a:avLst/>
            </a:prstGeom>
            <a:noFill/>
            <a:ln>
              <a:noFill/>
            </a:ln>
          </p:spPr>
          <p:txBody>
            <a:bodyPr wrap="none" lIns="0" tIns="0" rIns="0" bIns="0" anchor="t" anchorCtr="0">
              <a:spAutoFit/>
            </a:bodyPr>
            <a:lstStyle/>
            <a:p>
              <a:pPr algn="l"/>
              <a:r>
                <a:rPr lang="vi-VN" sz="1350" dirty="0">
                  <a:solidFill>
                    <a:schemeClr val="accent5"/>
                  </a:solidFill>
                  <a:latin typeface="+mn-lt"/>
                  <a:ea typeface="+mn-ea"/>
                  <a:cs typeface="+mn-cs"/>
                </a:rPr>
                <a:t>Parity / Stop</a:t>
              </a:r>
            </a:p>
          </p:txBody>
        </p:sp>
        <p:sp>
          <p:nvSpPr>
            <p:cNvPr id="34" name="TextBox 34"/>
            <p:cNvSpPr txBox="1"/>
            <p:nvPr/>
          </p:nvSpPr>
          <p:spPr>
            <a:xfrm>
              <a:off x="7327392" y="3511550"/>
              <a:ext cx="732520" cy="264033"/>
            </a:xfrm>
            <a:prstGeom prst="rect">
              <a:avLst/>
            </a:prstGeom>
            <a:noFill/>
            <a:ln>
              <a:noFill/>
            </a:ln>
          </p:spPr>
          <p:txBody>
            <a:bodyPr wrap="none" lIns="0" tIns="0" rIns="0" bIns="0" anchor="t" anchorCtr="0">
              <a:spAutoFit/>
            </a:bodyPr>
            <a:lstStyle/>
            <a:p>
              <a:pPr algn="l"/>
              <a:r>
                <a:rPr lang="vi-VN" sz="1350" dirty="0">
                  <a:solidFill>
                    <a:schemeClr val="dk1"/>
                  </a:solidFill>
                  <a:latin typeface="+mn-lt"/>
                  <a:ea typeface="+mn-ea"/>
                  <a:cs typeface="+mn-cs"/>
                </a:rPr>
                <a:t>None / 1</a:t>
              </a:r>
            </a:p>
          </p:txBody>
        </p:sp>
        <p:sp>
          <p:nvSpPr>
            <p:cNvPr id="35" name="TextBox 35"/>
            <p:cNvSpPr txBox="1"/>
            <p:nvPr/>
          </p:nvSpPr>
          <p:spPr>
            <a:xfrm>
              <a:off x="6203442" y="3854450"/>
              <a:ext cx="1355175" cy="264033"/>
            </a:xfrm>
            <a:prstGeom prst="rect">
              <a:avLst/>
            </a:prstGeom>
            <a:noFill/>
            <a:ln>
              <a:noFill/>
            </a:ln>
          </p:spPr>
          <p:txBody>
            <a:bodyPr wrap="none" lIns="0" tIns="0" rIns="0" bIns="0" anchor="t" anchorCtr="0">
              <a:spAutoFit/>
            </a:bodyPr>
            <a:lstStyle/>
            <a:p>
              <a:pPr algn="l"/>
              <a:r>
                <a:rPr lang="vi-VN" sz="1350" dirty="0">
                  <a:solidFill>
                    <a:schemeClr val="accent5"/>
                  </a:solidFill>
                  <a:latin typeface="+mn-lt"/>
                  <a:ea typeface="+mn-ea"/>
                  <a:cs typeface="+mn-cs"/>
                </a:rPr>
                <a:t>Flow / TX TERM</a:t>
              </a:r>
            </a:p>
          </p:txBody>
        </p:sp>
        <p:sp>
          <p:nvSpPr>
            <p:cNvPr id="36" name="TextBox 36"/>
            <p:cNvSpPr txBox="1"/>
            <p:nvPr/>
          </p:nvSpPr>
          <p:spPr>
            <a:xfrm>
              <a:off x="7898892" y="3854450"/>
              <a:ext cx="906628" cy="264033"/>
            </a:xfrm>
            <a:prstGeom prst="rect">
              <a:avLst/>
            </a:prstGeom>
            <a:noFill/>
            <a:ln>
              <a:noFill/>
            </a:ln>
          </p:spPr>
          <p:txBody>
            <a:bodyPr wrap="none" lIns="0" tIns="0" rIns="0" bIns="0" anchor="t" anchorCtr="0">
              <a:spAutoFit/>
            </a:bodyPr>
            <a:lstStyle/>
            <a:p>
              <a:pPr algn="l"/>
              <a:r>
                <a:rPr lang="vi-VN" sz="1350" dirty="0">
                  <a:solidFill>
                    <a:schemeClr val="dk1"/>
                  </a:solidFill>
                  <a:latin typeface="+mn-lt"/>
                  <a:ea typeface="+mn-ea"/>
                  <a:cs typeface="+mn-cs"/>
                </a:rPr>
                <a:t>NONE / CR</a:t>
              </a:r>
            </a:p>
          </p:txBody>
        </p:sp>
        <p:sp>
          <p:nvSpPr>
            <p:cNvPr id="37" name="Line 37"/>
            <p:cNvSpPr/>
            <p:nvPr/>
          </p:nvSpPr>
          <p:spPr>
            <a:xfrm>
              <a:off x="6210300" y="4191000"/>
              <a:ext cx="5067300" cy="9525"/>
            </a:xfrm>
            <a:custGeom>
              <a:avLst/>
              <a:gdLst/>
              <a:ahLst/>
              <a:cxnLst/>
              <a:rect l="l" t="t" r="r" b="b"/>
              <a:pathLst>
                <a:path w="5067300" h="9525">
                  <a:moveTo>
                    <a:pt x="0" y="0"/>
                  </a:moveTo>
                  <a:lnTo>
                    <a:pt x="5067300" y="0"/>
                  </a:lnTo>
                </a:path>
              </a:pathLst>
            </a:custGeom>
            <a:noFill/>
            <a:ln w="9525">
              <a:solidFill>
                <a:schemeClr val="accent6"/>
              </a:solidFill>
            </a:ln>
          </p:spPr>
        </p:sp>
        <p:sp>
          <p:nvSpPr>
            <p:cNvPr id="38" name="TextBox 38"/>
            <p:cNvSpPr txBox="1"/>
            <p:nvPr/>
          </p:nvSpPr>
          <p:spPr>
            <a:xfrm>
              <a:off x="6203442" y="4368800"/>
              <a:ext cx="1148788" cy="264033"/>
            </a:xfrm>
            <a:prstGeom prst="rect">
              <a:avLst/>
            </a:prstGeom>
            <a:noFill/>
            <a:ln>
              <a:noFill/>
            </a:ln>
          </p:spPr>
          <p:txBody>
            <a:bodyPr wrap="none" lIns="0" tIns="0" rIns="0" bIns="0" anchor="t" anchorCtr="0">
              <a:spAutoFit/>
            </a:bodyPr>
            <a:lstStyle/>
            <a:p>
              <a:pPr algn="l"/>
              <a:r>
                <a:rPr lang="vi-VN" sz="1350" dirty="0">
                  <a:solidFill>
                    <a:schemeClr val="accent1"/>
                  </a:solidFill>
                  <a:latin typeface="Consolas"/>
                  <a:ea typeface="Consolas"/>
                  <a:cs typeface="Consolas"/>
                </a:rPr>
                <a:t>Send: *IDN?</a:t>
              </a:r>
            </a:p>
          </p:txBody>
        </p:sp>
        <p:sp>
          <p:nvSpPr>
            <p:cNvPr id="39" name="TextBox 39"/>
            <p:cNvSpPr txBox="1"/>
            <p:nvPr/>
          </p:nvSpPr>
          <p:spPr>
            <a:xfrm>
              <a:off x="6203442" y="4673600"/>
              <a:ext cx="4427235" cy="264033"/>
            </a:xfrm>
            <a:prstGeom prst="rect">
              <a:avLst/>
            </a:prstGeom>
            <a:noFill/>
            <a:ln>
              <a:noFill/>
            </a:ln>
          </p:spPr>
          <p:txBody>
            <a:bodyPr wrap="none" lIns="0" tIns="0" rIns="0" bIns="0" anchor="t" anchorCtr="0">
              <a:spAutoFit/>
            </a:bodyPr>
            <a:lstStyle/>
            <a:p>
              <a:pPr algn="l"/>
              <a:r>
                <a:rPr lang="vi-VN" sz="1350" dirty="0">
                  <a:solidFill>
                    <a:schemeClr val="accent3"/>
                  </a:solidFill>
                  <a:latin typeface="+mn-lt"/>
                  <a:ea typeface="+mn-ea"/>
                  <a:cs typeface="+mn-cs"/>
                </a:rPr>
                <a:t>Phản hồi hợp lệ xác nhận cấu hình và đường truyền.</a:t>
              </a:r>
            </a:p>
          </p:txBody>
        </p:sp>
        <p:sp>
          <p:nvSpPr>
            <p:cNvPr id="40" name="TextBox 40"/>
            <p:cNvSpPr txBox="1"/>
            <p:nvPr/>
          </p:nvSpPr>
          <p:spPr>
            <a:xfrm>
              <a:off x="6204204" y="5048250"/>
              <a:ext cx="2860916" cy="234696"/>
            </a:xfrm>
            <a:prstGeom prst="rect">
              <a:avLst/>
            </a:prstGeom>
            <a:noFill/>
            <a:ln>
              <a:noFill/>
            </a:ln>
          </p:spPr>
          <p:txBody>
            <a:bodyPr wrap="none" lIns="0" tIns="0" rIns="0" bIns="0" anchor="t" anchorCtr="0">
              <a:spAutoFit/>
            </a:bodyPr>
            <a:lstStyle/>
            <a:p>
              <a:pPr algn="l"/>
              <a:r>
                <a:rPr lang="vi-VN" sz="1200" dirty="0">
                  <a:solidFill>
                    <a:schemeClr val="accent5"/>
                  </a:solidFill>
                  <a:latin typeface="+mn-lt"/>
                  <a:ea typeface="+mn-ea"/>
                  <a:cs typeface="+mn-cs"/>
                </a:rPr>
                <a:t>Nội dung phản hồi phụ thuộc thiết bị.</a:t>
              </a:r>
            </a:p>
          </p:txBody>
        </p:sp>
        <p:sp>
          <p:nvSpPr>
            <p:cNvPr id="41" name="TextBox 41"/>
            <p:cNvSpPr txBox="1"/>
            <p:nvPr/>
          </p:nvSpPr>
          <p:spPr>
            <a:xfrm>
              <a:off x="5993892" y="5626100"/>
              <a:ext cx="4956877" cy="264033"/>
            </a:xfrm>
            <a:prstGeom prst="rect">
              <a:avLst/>
            </a:prstGeom>
            <a:noFill/>
            <a:ln>
              <a:noFill/>
            </a:ln>
          </p:spPr>
          <p:txBody>
            <a:bodyPr wrap="none" lIns="0" tIns="0" rIns="0" bIns="0" anchor="t" anchorCtr="0">
              <a:spAutoFit/>
            </a:bodyPr>
            <a:lstStyle/>
            <a:p>
              <a:pPr algn="l"/>
              <a:r>
                <a:rPr lang="vi-VN" sz="1350" b="1" dirty="0">
                  <a:solidFill>
                    <a:schemeClr val="accent2"/>
                  </a:solidFill>
                  <a:latin typeface="+mn-lt"/>
                  <a:ea typeface="+mn-ea"/>
                  <a:cs typeface="+mn-cs"/>
                </a:rPr>
                <a:t>Ngắt kết nối Hercules trước khi mở cổng bằng Python.</a:t>
              </a:r>
            </a:p>
          </p:txBody>
        </p:sp>
      </p:grpSp>
      <p:grpSp>
        <p:nvGrpSpPr>
          <p:cNvPr id="45" name="page-footer"/>
          <p:cNvGrpSpPr/>
          <p:nvPr/>
        </p:nvGrpSpPr>
        <p:grpSpPr>
          <a:xfrm>
            <a:off x="679704" y="6429375"/>
            <a:ext cx="10832592" cy="234696"/>
            <a:chOff x="679704" y="6429375"/>
            <a:chExt cx="10832592" cy="234696"/>
          </a:xfrm>
        </p:grpSpPr>
        <p:sp>
          <p:nvSpPr>
            <p:cNvPr id="43" name="TextBox 43"/>
            <p:cNvSpPr txBox="1"/>
            <p:nvPr/>
          </p:nvSpPr>
          <p:spPr>
            <a:xfrm>
              <a:off x="679704" y="6429375"/>
              <a:ext cx="4074566" cy="234696"/>
            </a:xfrm>
            <a:prstGeom prst="rect">
              <a:avLst/>
            </a:prstGeom>
            <a:noFill/>
            <a:ln>
              <a:noFill/>
            </a:ln>
          </p:spPr>
          <p:txBody>
            <a:bodyPr wrap="none" lIns="0" tIns="0" rIns="0" bIns="0" anchor="t" anchorCtr="0">
              <a:spAutoFit/>
            </a:bodyPr>
            <a:lstStyle/>
            <a:p>
              <a:pPr algn="l"/>
              <a:r>
                <a:rPr lang="vi-VN" sz="1200" dirty="0">
                  <a:solidFill>
                    <a:schemeClr val="accent5"/>
                  </a:solidFill>
                  <a:latin typeface="+mn-lt"/>
                  <a:ea typeface="+mn-ea"/>
                  <a:cs typeface="+mn-cs"/>
                </a:rPr>
                <a:t>SERIAL · XÁC ĐỊNH CỔNG VÀ KIỂM TRA BẰNG HERCULES</a:t>
              </a:r>
            </a:p>
          </p:txBody>
        </p:sp>
        <p:sp>
          <p:nvSpPr>
            <p:cNvPr id="44" name="TextBox 44"/>
            <p:cNvSpPr txBox="1"/>
            <p:nvPr/>
          </p:nvSpPr>
          <p:spPr>
            <a:xfrm>
              <a:off x="10958932" y="6429375"/>
              <a:ext cx="553364" cy="234696"/>
            </a:xfrm>
            <a:prstGeom prst="rect">
              <a:avLst/>
            </a:prstGeom>
            <a:noFill/>
            <a:ln>
              <a:noFill/>
            </a:ln>
          </p:spPr>
          <p:txBody>
            <a:bodyPr wrap="none" lIns="0" tIns="0" rIns="0" bIns="0" anchor="t" anchorCtr="0">
              <a:spAutoFit/>
            </a:bodyPr>
            <a:lstStyle/>
            <a:p>
              <a:pPr algn="r"/>
              <a:r>
                <a:rPr lang="vi-VN" sz="1200" dirty="0">
                  <a:solidFill>
                    <a:schemeClr val="accent5"/>
                  </a:solidFill>
                  <a:latin typeface="+mn-lt"/>
                  <a:ea typeface="+mn-ea"/>
                  <a:cs typeface="+mn-cs"/>
                </a:rPr>
                <a:t>08 / 25</a:t>
              </a:r>
            </a:p>
          </p:txBody>
        </p:sp>
      </p:gr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page-title"/>
          <p:cNvGrpSpPr/>
          <p:nvPr/>
        </p:nvGrpSpPr>
        <p:grpSpPr>
          <a:xfrm>
            <a:off x="669798" y="520700"/>
            <a:ext cx="10836402" cy="955675"/>
            <a:chOff x="669798" y="520700"/>
            <a:chExt cx="10836402" cy="955675"/>
          </a:xfrm>
        </p:grpSpPr>
        <p:sp>
          <p:nvSpPr>
            <p:cNvPr id="2" name="TextBox 2"/>
            <p:cNvSpPr txBox="1"/>
            <p:nvPr/>
          </p:nvSpPr>
          <p:spPr>
            <a:xfrm>
              <a:off x="678942" y="520700"/>
              <a:ext cx="1727530" cy="264033"/>
            </a:xfrm>
            <a:prstGeom prst="rect">
              <a:avLst/>
            </a:prstGeom>
            <a:noFill/>
            <a:ln>
              <a:noFill/>
            </a:ln>
          </p:spPr>
          <p:txBody>
            <a:bodyPr wrap="none" lIns="0" tIns="0" rIns="0" bIns="0" anchor="t" anchorCtr="0">
              <a:spAutoFit/>
            </a:bodyPr>
            <a:lstStyle/>
            <a:p>
              <a:pPr algn="l"/>
              <a:r>
                <a:rPr lang="vi-VN" sz="1350" b="1" dirty="0">
                  <a:solidFill>
                    <a:schemeClr val="accent3"/>
                  </a:solidFill>
                  <a:latin typeface="+mn-lt"/>
                  <a:ea typeface="+mn-ea"/>
                  <a:cs typeface="+mn-cs"/>
                </a:rPr>
                <a:t>03 · COM / SERIAL</a:t>
              </a:r>
            </a:p>
          </p:txBody>
        </p:sp>
        <p:sp>
          <p:nvSpPr>
            <p:cNvPr id="3" name="TextBox 3"/>
            <p:cNvSpPr txBox="1"/>
            <p:nvPr/>
          </p:nvSpPr>
          <p:spPr>
            <a:xfrm>
              <a:off x="669798" y="838200"/>
              <a:ext cx="7165991" cy="616077"/>
            </a:xfrm>
            <a:prstGeom prst="rect">
              <a:avLst/>
            </a:prstGeom>
            <a:noFill/>
            <a:ln>
              <a:noFill/>
            </a:ln>
          </p:spPr>
          <p:txBody>
            <a:bodyPr wrap="none" lIns="0" tIns="0" rIns="0" bIns="0" anchor="t" anchorCtr="0">
              <a:spAutoFit/>
            </a:bodyPr>
            <a:lstStyle/>
            <a:p>
              <a:pPr algn="l"/>
              <a:r>
                <a:rPr lang="vi-VN" sz="3150" b="1" dirty="0">
                  <a:solidFill>
                    <a:schemeClr val="accent1"/>
                  </a:solidFill>
                  <a:latin typeface="+mn-lt"/>
                  <a:ea typeface="+mn-ea"/>
                  <a:cs typeface="+mn-cs"/>
                </a:rPr>
                <a:t>Bước 2 — Thiết lập thông số serial</a:t>
              </a:r>
            </a:p>
          </p:txBody>
        </p:sp>
        <p:sp>
          <p:nvSpPr>
            <p:cNvPr id="4" name="Line 4"/>
            <p:cNvSpPr/>
            <p:nvPr/>
          </p:nvSpPr>
          <p:spPr>
            <a:xfrm>
              <a:off x="685800" y="1466850"/>
              <a:ext cx="10820400" cy="9525"/>
            </a:xfrm>
            <a:custGeom>
              <a:avLst/>
              <a:gdLst/>
              <a:ahLst/>
              <a:cxnLst/>
              <a:rect l="l" t="t" r="r" b="b"/>
              <a:pathLst>
                <a:path w="10820400" h="9525">
                  <a:moveTo>
                    <a:pt x="0" y="0"/>
                  </a:moveTo>
                  <a:lnTo>
                    <a:pt x="10820400" y="0"/>
                  </a:lnTo>
                </a:path>
              </a:pathLst>
            </a:custGeom>
            <a:noFill/>
            <a:ln w="14288">
              <a:solidFill>
                <a:schemeClr val="accent6"/>
              </a:solidFill>
            </a:ln>
          </p:spPr>
        </p:sp>
      </p:grpSp>
      <p:grpSp>
        <p:nvGrpSpPr>
          <p:cNvPr id="30" name="serial-settings"/>
          <p:cNvGrpSpPr/>
          <p:nvPr/>
        </p:nvGrpSpPr>
        <p:grpSpPr>
          <a:xfrm>
            <a:off x="685800" y="1809750"/>
            <a:ext cx="10857629" cy="3337433"/>
            <a:chOff x="685800" y="1809750"/>
            <a:chExt cx="10857629" cy="3337433"/>
          </a:xfrm>
        </p:grpSpPr>
        <p:grpSp>
          <p:nvGrpSpPr>
            <p:cNvPr id="29" name="serial-settings-grid"/>
            <p:cNvGrpSpPr/>
            <p:nvPr/>
          </p:nvGrpSpPr>
          <p:grpSpPr>
            <a:xfrm>
              <a:off x="685800" y="1809750"/>
              <a:ext cx="10857629" cy="3337433"/>
              <a:chOff x="685800" y="1809750"/>
              <a:chExt cx="10857629" cy="3337433"/>
            </a:xfrm>
          </p:grpSpPr>
          <p:sp>
            <p:nvSpPr>
              <p:cNvPr id="6" name="Rectangle 6"/>
              <p:cNvSpPr/>
              <p:nvPr/>
            </p:nvSpPr>
            <p:spPr>
              <a:xfrm>
                <a:off x="685800" y="1809750"/>
                <a:ext cx="10820400" cy="419100"/>
              </a:xfrm>
              <a:prstGeom prst="rect">
                <a:avLst/>
              </a:prstGeom>
              <a:solidFill>
                <a:schemeClr val="lt2"/>
              </a:solidFill>
              <a:ln>
                <a:noFill/>
              </a:ln>
            </p:spPr>
          </p:sp>
          <p:sp>
            <p:nvSpPr>
              <p:cNvPr id="7" name="TextBox 7"/>
              <p:cNvSpPr txBox="1"/>
              <p:nvPr/>
            </p:nvSpPr>
            <p:spPr>
              <a:xfrm>
                <a:off x="869442" y="1920875"/>
                <a:ext cx="931111" cy="264033"/>
              </a:xfrm>
              <a:prstGeom prst="rect">
                <a:avLst/>
              </a:prstGeom>
              <a:noFill/>
              <a:ln>
                <a:noFill/>
              </a:ln>
            </p:spPr>
            <p:txBody>
              <a:bodyPr wrap="none" lIns="0" tIns="0" rIns="0" bIns="0" anchor="t" anchorCtr="0">
                <a:spAutoFit/>
              </a:bodyPr>
              <a:lstStyle/>
              <a:p>
                <a:pPr algn="l"/>
                <a:r>
                  <a:rPr lang="vi-VN" sz="1350" b="1" dirty="0">
                    <a:solidFill>
                      <a:schemeClr val="accent1"/>
                    </a:solidFill>
                    <a:latin typeface="+mn-lt"/>
                    <a:ea typeface="+mn-ea"/>
                    <a:cs typeface="+mn-cs"/>
                  </a:rPr>
                  <a:t>THÔNG SỐ</a:t>
                </a:r>
              </a:p>
            </p:txBody>
          </p:sp>
          <p:sp>
            <p:nvSpPr>
              <p:cNvPr id="8" name="TextBox 8"/>
              <p:cNvSpPr txBox="1"/>
              <p:nvPr/>
            </p:nvSpPr>
            <p:spPr>
              <a:xfrm>
                <a:off x="2564892" y="1920875"/>
                <a:ext cx="1757774" cy="264033"/>
              </a:xfrm>
              <a:prstGeom prst="rect">
                <a:avLst/>
              </a:prstGeom>
              <a:noFill/>
              <a:ln>
                <a:noFill/>
              </a:ln>
            </p:spPr>
            <p:txBody>
              <a:bodyPr wrap="none" lIns="0" tIns="0" rIns="0" bIns="0" anchor="t" anchorCtr="0">
                <a:spAutoFit/>
              </a:bodyPr>
              <a:lstStyle/>
              <a:p>
                <a:pPr algn="l"/>
                <a:r>
                  <a:rPr lang="vi-VN" sz="1350" b="1" dirty="0">
                    <a:solidFill>
                      <a:schemeClr val="accent1"/>
                    </a:solidFill>
                    <a:latin typeface="+mn-lt"/>
                    <a:ea typeface="+mn-ea"/>
                    <a:cs typeface="+mn-cs"/>
                  </a:rPr>
                  <a:t>GIÁ TRỊ VÀ GIỚI HẠN</a:t>
                </a:r>
              </a:p>
            </p:txBody>
          </p:sp>
          <p:sp>
            <p:nvSpPr>
              <p:cNvPr id="9" name="TextBox 9"/>
              <p:cNvSpPr txBox="1"/>
              <p:nvPr/>
            </p:nvSpPr>
            <p:spPr>
              <a:xfrm>
                <a:off x="8756142" y="1920875"/>
                <a:ext cx="689160" cy="264033"/>
              </a:xfrm>
              <a:prstGeom prst="rect">
                <a:avLst/>
              </a:prstGeom>
              <a:noFill/>
              <a:ln>
                <a:noFill/>
              </a:ln>
            </p:spPr>
            <p:txBody>
              <a:bodyPr wrap="none" lIns="0" tIns="0" rIns="0" bIns="0" anchor="t" anchorCtr="0">
                <a:spAutoFit/>
              </a:bodyPr>
              <a:lstStyle/>
              <a:p>
                <a:pPr algn="l"/>
                <a:r>
                  <a:rPr lang="vi-VN" sz="1350" b="1" dirty="0">
                    <a:solidFill>
                      <a:schemeClr val="accent1"/>
                    </a:solidFill>
                    <a:latin typeface="+mn-lt"/>
                    <a:ea typeface="+mn-ea"/>
                    <a:cs typeface="+mn-cs"/>
                  </a:rPr>
                  <a:t>GHI CHÚ</a:t>
                </a:r>
              </a:p>
            </p:txBody>
          </p:sp>
          <p:sp>
            <p:nvSpPr>
              <p:cNvPr id="10" name="Line 10"/>
              <p:cNvSpPr/>
              <p:nvPr/>
            </p:nvSpPr>
            <p:spPr>
              <a:xfrm>
                <a:off x="685800" y="2228850"/>
                <a:ext cx="10820400" cy="9525"/>
              </a:xfrm>
              <a:custGeom>
                <a:avLst/>
                <a:gdLst/>
                <a:ahLst/>
                <a:cxnLst/>
                <a:rect l="l" t="t" r="r" b="b"/>
                <a:pathLst>
                  <a:path w="10820400" h="9525">
                    <a:moveTo>
                      <a:pt x="0" y="0"/>
                    </a:moveTo>
                    <a:lnTo>
                      <a:pt x="10820400" y="0"/>
                    </a:lnTo>
                  </a:path>
                </a:pathLst>
              </a:custGeom>
              <a:noFill/>
              <a:ln w="19050">
                <a:solidFill>
                  <a:schemeClr val="accent1"/>
                </a:solidFill>
              </a:ln>
            </p:spPr>
          </p:sp>
          <p:sp>
            <p:nvSpPr>
              <p:cNvPr id="11" name="TextBox 11"/>
              <p:cNvSpPr txBox="1"/>
              <p:nvPr/>
            </p:nvSpPr>
            <p:spPr>
              <a:xfrm>
                <a:off x="869442" y="2406650"/>
                <a:ext cx="1079449" cy="264033"/>
              </a:xfrm>
              <a:prstGeom prst="rect">
                <a:avLst/>
              </a:prstGeom>
              <a:noFill/>
              <a:ln>
                <a:noFill/>
              </a:ln>
            </p:spPr>
            <p:txBody>
              <a:bodyPr wrap="none" lIns="0" tIns="0" rIns="0" bIns="0" anchor="t" anchorCtr="0">
                <a:spAutoFit/>
              </a:bodyPr>
              <a:lstStyle/>
              <a:p>
                <a:pPr algn="l"/>
                <a:r>
                  <a:rPr lang="vi-VN" sz="1350" b="1" dirty="0">
                    <a:solidFill>
                      <a:schemeClr val="dk1"/>
                    </a:solidFill>
                    <a:latin typeface="+mn-lt"/>
                    <a:ea typeface="+mn-ea"/>
                    <a:cs typeface="+mn-cs"/>
                  </a:rPr>
                  <a:t>Tốc độ baud</a:t>
                </a:r>
              </a:p>
            </p:txBody>
          </p:sp>
          <p:sp>
            <p:nvSpPr>
              <p:cNvPr id="12" name="TextBox 12"/>
              <p:cNvSpPr txBox="1"/>
              <p:nvPr/>
            </p:nvSpPr>
            <p:spPr>
              <a:xfrm>
                <a:off x="2564892" y="2406650"/>
                <a:ext cx="3966496" cy="264033"/>
              </a:xfrm>
              <a:prstGeom prst="rect">
                <a:avLst/>
              </a:prstGeom>
              <a:noFill/>
              <a:ln>
                <a:noFill/>
              </a:ln>
            </p:spPr>
            <p:txBody>
              <a:bodyPr wrap="none" lIns="0" tIns="0" rIns="0" bIns="0" anchor="t" anchorCtr="0">
                <a:spAutoFit/>
              </a:bodyPr>
              <a:lstStyle/>
              <a:p>
                <a:pPr algn="l"/>
                <a:r>
                  <a:rPr lang="vi-VN" sz="1350" dirty="0">
                    <a:solidFill>
                      <a:schemeClr val="dk1"/>
                    </a:solidFill>
                    <a:latin typeface="+mn-lt"/>
                    <a:ea typeface="+mn-ea"/>
                    <a:cs typeface="+mn-cs"/>
                  </a:rPr>
                  <a:t>300 · 600 · 1200 · 2400 · 4800 · 9600 · 19.2k</a:t>
                </a:r>
              </a:p>
            </p:txBody>
          </p:sp>
          <p:sp>
            <p:nvSpPr>
              <p:cNvPr id="13" name="TextBox 13"/>
              <p:cNvSpPr txBox="1"/>
              <p:nvPr/>
            </p:nvSpPr>
            <p:spPr>
              <a:xfrm>
                <a:off x="8756142" y="2406650"/>
                <a:ext cx="2787287" cy="264033"/>
              </a:xfrm>
              <a:prstGeom prst="rect">
                <a:avLst/>
              </a:prstGeom>
              <a:noFill/>
              <a:ln>
                <a:noFill/>
              </a:ln>
            </p:spPr>
            <p:txBody>
              <a:bodyPr wrap="none" lIns="0" tIns="0" rIns="0" bIns="0" anchor="t" anchorCtr="0">
                <a:spAutoFit/>
              </a:bodyPr>
              <a:lstStyle/>
              <a:p>
                <a:pPr algn="l"/>
                <a:r>
                  <a:rPr lang="vi-VN" sz="1350" dirty="0">
                    <a:solidFill>
                      <a:schemeClr val="accent2"/>
                    </a:solidFill>
                    <a:latin typeface="+mn-lt"/>
                    <a:ea typeface="+mn-ea"/>
                    <a:cs typeface="+mn-cs"/>
                  </a:rPr>
                  <a:t>Mặc định: 4800; học phần: 9600</a:t>
                </a:r>
              </a:p>
            </p:txBody>
          </p:sp>
          <p:sp>
            <p:nvSpPr>
              <p:cNvPr id="14" name="Line 14"/>
              <p:cNvSpPr/>
              <p:nvPr/>
            </p:nvSpPr>
            <p:spPr>
              <a:xfrm>
                <a:off x="685800" y="2724150"/>
                <a:ext cx="10820400" cy="9525"/>
              </a:xfrm>
              <a:custGeom>
                <a:avLst/>
                <a:gdLst/>
                <a:ahLst/>
                <a:cxnLst/>
                <a:rect l="l" t="t" r="r" b="b"/>
                <a:pathLst>
                  <a:path w="10820400" h="9525">
                    <a:moveTo>
                      <a:pt x="0" y="0"/>
                    </a:moveTo>
                    <a:lnTo>
                      <a:pt x="10820400" y="0"/>
                    </a:lnTo>
                  </a:path>
                </a:pathLst>
              </a:custGeom>
              <a:noFill/>
              <a:ln w="9525">
                <a:solidFill>
                  <a:schemeClr val="accent6"/>
                </a:solidFill>
              </a:ln>
            </p:spPr>
          </p:sp>
          <p:sp>
            <p:nvSpPr>
              <p:cNvPr id="15" name="TextBox 15"/>
              <p:cNvSpPr txBox="1"/>
              <p:nvPr/>
            </p:nvSpPr>
            <p:spPr>
              <a:xfrm>
                <a:off x="869442" y="2901950"/>
                <a:ext cx="1193322" cy="264033"/>
              </a:xfrm>
              <a:prstGeom prst="rect">
                <a:avLst/>
              </a:prstGeom>
              <a:noFill/>
              <a:ln>
                <a:noFill/>
              </a:ln>
            </p:spPr>
            <p:txBody>
              <a:bodyPr wrap="none" lIns="0" tIns="0" rIns="0" bIns="0" anchor="t" anchorCtr="0">
                <a:spAutoFit/>
              </a:bodyPr>
              <a:lstStyle/>
              <a:p>
                <a:pPr algn="l"/>
                <a:r>
                  <a:rPr lang="vi-VN" sz="1350" b="1" dirty="0">
                    <a:solidFill>
                      <a:schemeClr val="dk1"/>
                    </a:solidFill>
                    <a:latin typeface="+mn-lt"/>
                    <a:ea typeface="+mn-ea"/>
                    <a:cs typeface="+mn-cs"/>
                  </a:rPr>
                  <a:t>Khung dữ liệu</a:t>
                </a:r>
              </a:p>
            </p:txBody>
          </p:sp>
          <p:sp>
            <p:nvSpPr>
              <p:cNvPr id="16" name="TextBox 16"/>
              <p:cNvSpPr txBox="1"/>
              <p:nvPr/>
            </p:nvSpPr>
            <p:spPr>
              <a:xfrm>
                <a:off x="2564892" y="2901950"/>
                <a:ext cx="3792052" cy="264033"/>
              </a:xfrm>
              <a:prstGeom prst="rect">
                <a:avLst/>
              </a:prstGeom>
              <a:noFill/>
              <a:ln>
                <a:noFill/>
              </a:ln>
            </p:spPr>
            <p:txBody>
              <a:bodyPr wrap="none" lIns="0" tIns="0" rIns="0" bIns="0" anchor="t" anchorCtr="0">
                <a:spAutoFit/>
              </a:bodyPr>
              <a:lstStyle/>
              <a:p>
                <a:pPr algn="l"/>
                <a:r>
                  <a:rPr lang="vi-VN" sz="1350" dirty="0">
                    <a:solidFill>
                      <a:schemeClr val="dk1"/>
                    </a:solidFill>
                    <a:latin typeface="+mn-lt"/>
                    <a:ea typeface="+mn-ea"/>
                    <a:cs typeface="+mn-cs"/>
                  </a:rPr>
                  <a:t>8 data bits · parity None · 1 stop bit = 8N1</a:t>
                </a:r>
              </a:p>
            </p:txBody>
          </p:sp>
          <p:sp>
            <p:nvSpPr>
              <p:cNvPr id="17" name="Line 17"/>
              <p:cNvSpPr/>
              <p:nvPr/>
            </p:nvSpPr>
            <p:spPr>
              <a:xfrm>
                <a:off x="685800" y="3219450"/>
                <a:ext cx="10820400" cy="9525"/>
              </a:xfrm>
              <a:custGeom>
                <a:avLst/>
                <a:gdLst/>
                <a:ahLst/>
                <a:cxnLst/>
                <a:rect l="l" t="t" r="r" b="b"/>
                <a:pathLst>
                  <a:path w="10820400" h="9525">
                    <a:moveTo>
                      <a:pt x="0" y="0"/>
                    </a:moveTo>
                    <a:lnTo>
                      <a:pt x="10820400" y="0"/>
                    </a:lnTo>
                  </a:path>
                </a:pathLst>
              </a:custGeom>
              <a:noFill/>
              <a:ln w="9525">
                <a:solidFill>
                  <a:schemeClr val="accent6"/>
                </a:solidFill>
              </a:ln>
            </p:spPr>
          </p:sp>
          <p:sp>
            <p:nvSpPr>
              <p:cNvPr id="18" name="TextBox 18"/>
              <p:cNvSpPr txBox="1"/>
              <p:nvPr/>
            </p:nvSpPr>
            <p:spPr>
              <a:xfrm>
                <a:off x="869442" y="3397250"/>
                <a:ext cx="1460261" cy="264033"/>
              </a:xfrm>
              <a:prstGeom prst="rect">
                <a:avLst/>
              </a:prstGeom>
              <a:noFill/>
              <a:ln>
                <a:noFill/>
              </a:ln>
            </p:spPr>
            <p:txBody>
              <a:bodyPr wrap="none" lIns="0" tIns="0" rIns="0" bIns="0" anchor="t" anchorCtr="0">
                <a:spAutoFit/>
              </a:bodyPr>
              <a:lstStyle/>
              <a:p>
                <a:pPr algn="l"/>
                <a:r>
                  <a:rPr lang="vi-VN" sz="1350" b="1" dirty="0">
                    <a:solidFill>
                      <a:schemeClr val="dk1"/>
                    </a:solidFill>
                    <a:latin typeface="+mn-lt"/>
                    <a:ea typeface="+mn-ea"/>
                    <a:cs typeface="+mn-cs"/>
                  </a:rPr>
                  <a:t>Điều khiển luồng</a:t>
                </a:r>
              </a:p>
            </p:txBody>
          </p:sp>
          <p:sp>
            <p:nvSpPr>
              <p:cNvPr id="19" name="TextBox 19"/>
              <p:cNvSpPr txBox="1"/>
              <p:nvPr/>
            </p:nvSpPr>
            <p:spPr>
              <a:xfrm>
                <a:off x="2564892" y="3397250"/>
                <a:ext cx="4015418" cy="264033"/>
              </a:xfrm>
              <a:prstGeom prst="rect">
                <a:avLst/>
              </a:prstGeom>
              <a:noFill/>
              <a:ln>
                <a:noFill/>
              </a:ln>
            </p:spPr>
            <p:txBody>
              <a:bodyPr wrap="none" lIns="0" tIns="0" rIns="0" bIns="0" anchor="t" anchorCtr="0">
                <a:spAutoFit/>
              </a:bodyPr>
              <a:lstStyle/>
              <a:p>
                <a:pPr algn="l"/>
                <a:r>
                  <a:rPr lang="vi-VN" sz="1350" dirty="0">
                    <a:solidFill>
                      <a:schemeClr val="dk1"/>
                    </a:solidFill>
                    <a:latin typeface="+mn-lt"/>
                    <a:ea typeface="+mn-ea"/>
                    <a:cs typeface="+mn-cs"/>
                  </a:rPr>
                  <a:t>Chọn NONE; tài liệu thiết bị liệt kê XON/XOFF</a:t>
                </a:r>
              </a:p>
            </p:txBody>
          </p:sp>
          <p:sp>
            <p:nvSpPr>
              <p:cNvPr id="20" name="Line 20"/>
              <p:cNvSpPr/>
              <p:nvPr/>
            </p:nvSpPr>
            <p:spPr>
              <a:xfrm>
                <a:off x="685800" y="3714750"/>
                <a:ext cx="10820400" cy="9525"/>
              </a:xfrm>
              <a:custGeom>
                <a:avLst/>
                <a:gdLst/>
                <a:ahLst/>
                <a:cxnLst/>
                <a:rect l="l" t="t" r="r" b="b"/>
                <a:pathLst>
                  <a:path w="10820400" h="9525">
                    <a:moveTo>
                      <a:pt x="0" y="0"/>
                    </a:moveTo>
                    <a:lnTo>
                      <a:pt x="10820400" y="0"/>
                    </a:lnTo>
                  </a:path>
                </a:pathLst>
              </a:custGeom>
              <a:noFill/>
              <a:ln w="9525">
                <a:solidFill>
                  <a:schemeClr val="accent6"/>
                </a:solidFill>
              </a:ln>
            </p:spPr>
          </p:sp>
          <p:sp>
            <p:nvSpPr>
              <p:cNvPr id="21" name="TextBox 21"/>
              <p:cNvSpPr txBox="1"/>
              <p:nvPr/>
            </p:nvSpPr>
            <p:spPr>
              <a:xfrm>
                <a:off x="869442" y="3892550"/>
                <a:ext cx="910948" cy="264033"/>
              </a:xfrm>
              <a:prstGeom prst="rect">
                <a:avLst/>
              </a:prstGeom>
              <a:noFill/>
              <a:ln>
                <a:noFill/>
              </a:ln>
            </p:spPr>
            <p:txBody>
              <a:bodyPr wrap="none" lIns="0" tIns="0" rIns="0" bIns="0" anchor="t" anchorCtr="0">
                <a:spAutoFit/>
              </a:bodyPr>
              <a:lstStyle/>
              <a:p>
                <a:pPr algn="l"/>
                <a:r>
                  <a:rPr lang="vi-VN" sz="1350" b="1" dirty="0">
                    <a:solidFill>
                      <a:schemeClr val="dk1"/>
                    </a:solidFill>
                    <a:latin typeface="+mn-lt"/>
                    <a:ea typeface="+mn-ea"/>
                    <a:cs typeface="+mn-cs"/>
                  </a:rPr>
                  <a:t>RTS / CTS</a:t>
                </a:r>
              </a:p>
            </p:txBody>
          </p:sp>
          <p:sp>
            <p:nvSpPr>
              <p:cNvPr id="22" name="TextBox 22"/>
              <p:cNvSpPr txBox="1"/>
              <p:nvPr/>
            </p:nvSpPr>
            <p:spPr>
              <a:xfrm>
                <a:off x="2564892" y="3892550"/>
                <a:ext cx="3085751" cy="264033"/>
              </a:xfrm>
              <a:prstGeom prst="rect">
                <a:avLst/>
              </a:prstGeom>
              <a:noFill/>
              <a:ln>
                <a:noFill/>
              </a:ln>
            </p:spPr>
            <p:txBody>
              <a:bodyPr wrap="none" lIns="0" tIns="0" rIns="0" bIns="0" anchor="t" anchorCtr="0">
                <a:spAutoFit/>
              </a:bodyPr>
              <a:lstStyle/>
              <a:p>
                <a:pPr algn="l"/>
                <a:r>
                  <a:rPr lang="vi-VN" sz="1350" dirty="0">
                    <a:solidFill>
                      <a:schemeClr val="accent2"/>
                    </a:solidFill>
                    <a:latin typeface="+mn-lt"/>
                    <a:ea typeface="+mn-ea"/>
                    <a:cs typeface="+mn-cs"/>
                  </a:rPr>
                  <a:t>Bắt tay RTS/CTS không được hỗ trợ</a:t>
                </a:r>
              </a:p>
            </p:txBody>
          </p:sp>
          <p:sp>
            <p:nvSpPr>
              <p:cNvPr id="23" name="Line 23"/>
              <p:cNvSpPr/>
              <p:nvPr/>
            </p:nvSpPr>
            <p:spPr>
              <a:xfrm>
                <a:off x="685800" y="4210050"/>
                <a:ext cx="10820400" cy="9525"/>
              </a:xfrm>
              <a:custGeom>
                <a:avLst/>
                <a:gdLst/>
                <a:ahLst/>
                <a:cxnLst/>
                <a:rect l="l" t="t" r="r" b="b"/>
                <a:pathLst>
                  <a:path w="10820400" h="9525">
                    <a:moveTo>
                      <a:pt x="0" y="0"/>
                    </a:moveTo>
                    <a:lnTo>
                      <a:pt x="10820400" y="0"/>
                    </a:lnTo>
                  </a:path>
                </a:pathLst>
              </a:custGeom>
              <a:noFill/>
              <a:ln w="9525">
                <a:solidFill>
                  <a:schemeClr val="accent6"/>
                </a:solidFill>
              </a:ln>
            </p:spPr>
          </p:sp>
          <p:sp>
            <p:nvSpPr>
              <p:cNvPr id="24" name="TextBox 24"/>
              <p:cNvSpPr txBox="1"/>
              <p:nvPr/>
            </p:nvSpPr>
            <p:spPr>
              <a:xfrm>
                <a:off x="869442" y="4387850"/>
                <a:ext cx="1346766" cy="264033"/>
              </a:xfrm>
              <a:prstGeom prst="rect">
                <a:avLst/>
              </a:prstGeom>
              <a:noFill/>
              <a:ln>
                <a:noFill/>
              </a:ln>
            </p:spPr>
            <p:txBody>
              <a:bodyPr wrap="none" lIns="0" tIns="0" rIns="0" bIns="0" anchor="t" anchorCtr="0">
                <a:spAutoFit/>
              </a:bodyPr>
              <a:lstStyle/>
              <a:p>
                <a:pPr algn="l"/>
                <a:r>
                  <a:rPr lang="vi-VN" sz="1350" b="1" dirty="0">
                    <a:solidFill>
                      <a:schemeClr val="dk1"/>
                    </a:solidFill>
                    <a:latin typeface="+mn-lt"/>
                    <a:ea typeface="+mn-ea"/>
                    <a:cs typeface="+mn-cs"/>
                  </a:rPr>
                  <a:t>Ký tự kết thúc</a:t>
                </a:r>
              </a:p>
            </p:txBody>
          </p:sp>
          <p:sp>
            <p:nvSpPr>
              <p:cNvPr id="25" name="TextBox 25"/>
              <p:cNvSpPr txBox="1"/>
              <p:nvPr/>
            </p:nvSpPr>
            <p:spPr>
              <a:xfrm>
                <a:off x="2564892" y="4387850"/>
                <a:ext cx="3817334" cy="264033"/>
              </a:xfrm>
              <a:prstGeom prst="rect">
                <a:avLst/>
              </a:prstGeom>
              <a:noFill/>
              <a:ln>
                <a:noFill/>
              </a:ln>
            </p:spPr>
            <p:txBody>
              <a:bodyPr wrap="none" lIns="0" tIns="0" rIns="0" bIns="0" anchor="t" anchorCtr="0">
                <a:spAutoFit/>
              </a:bodyPr>
              <a:lstStyle/>
              <a:p>
                <a:pPr algn="l"/>
                <a:r>
                  <a:rPr lang="vi-VN" sz="1350" dirty="0">
                    <a:solidFill>
                      <a:schemeClr val="dk1"/>
                    </a:solidFill>
                    <a:latin typeface="+mn-lt"/>
                    <a:ea typeface="+mn-ea"/>
                    <a:cs typeface="+mn-cs"/>
                  </a:rPr>
                  <a:t>TX TERM: LF / CR / LFCR; học phần chọn CR</a:t>
                </a:r>
              </a:p>
            </p:txBody>
          </p:sp>
          <p:sp>
            <p:nvSpPr>
              <p:cNvPr id="26" name="Line 26"/>
              <p:cNvSpPr/>
              <p:nvPr/>
            </p:nvSpPr>
            <p:spPr>
              <a:xfrm>
                <a:off x="685800" y="4705350"/>
                <a:ext cx="10820400" cy="9525"/>
              </a:xfrm>
              <a:custGeom>
                <a:avLst/>
                <a:gdLst/>
                <a:ahLst/>
                <a:cxnLst/>
                <a:rect l="l" t="t" r="r" b="b"/>
                <a:pathLst>
                  <a:path w="10820400" h="9525">
                    <a:moveTo>
                      <a:pt x="0" y="0"/>
                    </a:moveTo>
                    <a:lnTo>
                      <a:pt x="10820400" y="0"/>
                    </a:lnTo>
                  </a:path>
                </a:pathLst>
              </a:custGeom>
              <a:noFill/>
              <a:ln w="9525">
                <a:solidFill>
                  <a:schemeClr val="accent6"/>
                </a:solidFill>
              </a:ln>
            </p:spPr>
          </p:sp>
          <p:sp>
            <p:nvSpPr>
              <p:cNvPr id="27" name="TextBox 27"/>
              <p:cNvSpPr txBox="1"/>
              <p:nvPr/>
            </p:nvSpPr>
            <p:spPr>
              <a:xfrm>
                <a:off x="869442" y="4883150"/>
                <a:ext cx="1937881" cy="264033"/>
              </a:xfrm>
              <a:prstGeom prst="rect">
                <a:avLst/>
              </a:prstGeom>
              <a:noFill/>
              <a:ln>
                <a:noFill/>
              </a:ln>
            </p:spPr>
            <p:txBody>
              <a:bodyPr wrap="none" lIns="0" tIns="0" rIns="0" bIns="0" anchor="t" anchorCtr="0">
                <a:spAutoFit/>
              </a:bodyPr>
              <a:lstStyle/>
              <a:p>
                <a:pPr algn="l"/>
                <a:r>
                  <a:rPr lang="vi-VN" sz="1350" b="1" dirty="0">
                    <a:solidFill>
                      <a:schemeClr val="dk1"/>
                    </a:solidFill>
                    <a:latin typeface="+mn-lt"/>
                    <a:ea typeface="+mn-ea"/>
                    <a:cs typeface="+mn-cs"/>
                  </a:rPr>
                  <a:t>Cáp cho thiết bị thật</a:t>
                </a:r>
              </a:p>
            </p:txBody>
          </p:sp>
          <p:sp>
            <p:nvSpPr>
              <p:cNvPr id="28" name="TextBox 28"/>
              <p:cNvSpPr txBox="1"/>
              <p:nvPr/>
            </p:nvSpPr>
            <p:spPr>
              <a:xfrm>
                <a:off x="2564892" y="4883150"/>
                <a:ext cx="4204254" cy="264033"/>
              </a:xfrm>
              <a:prstGeom prst="rect">
                <a:avLst/>
              </a:prstGeom>
              <a:noFill/>
              <a:ln>
                <a:noFill/>
              </a:ln>
            </p:spPr>
            <p:txBody>
              <a:bodyPr wrap="none" lIns="0" tIns="0" rIns="0" bIns="0" anchor="t" anchorCtr="0">
                <a:spAutoFit/>
              </a:bodyPr>
              <a:lstStyle/>
              <a:p>
                <a:pPr algn="l"/>
                <a:r>
                  <a:rPr lang="vi-VN" sz="1350" dirty="0">
                    <a:solidFill>
                      <a:schemeClr val="dk1"/>
                    </a:solidFill>
                    <a:latin typeface="+mn-lt"/>
                    <a:ea typeface="+mn-ea"/>
                    <a:cs typeface="+mn-cs"/>
                  </a:rPr>
                  <a:t>Keithley DB9: cáp thẳng, không dùng null modem</a:t>
                </a:r>
              </a:p>
            </p:txBody>
          </p:sp>
        </p:grpSp>
      </p:grpSp>
      <p:grpSp>
        <p:nvGrpSpPr>
          <p:cNvPr id="36" name="serial-code"/>
          <p:cNvGrpSpPr/>
          <p:nvPr/>
        </p:nvGrpSpPr>
        <p:grpSpPr>
          <a:xfrm>
            <a:off x="685800" y="5219700"/>
            <a:ext cx="10820400" cy="838200"/>
            <a:chOff x="685800" y="5219700"/>
            <a:chExt cx="10820400" cy="838200"/>
          </a:xfrm>
        </p:grpSpPr>
        <p:sp>
          <p:nvSpPr>
            <p:cNvPr id="31" name="Rectangle 31"/>
            <p:cNvSpPr/>
            <p:nvPr/>
          </p:nvSpPr>
          <p:spPr>
            <a:xfrm>
              <a:off x="685800" y="5219700"/>
              <a:ext cx="10820400" cy="838200"/>
            </a:xfrm>
            <a:prstGeom prst="roundRect">
              <a:avLst>
                <a:gd name="adj" fmla="val 6818"/>
              </a:avLst>
            </a:prstGeom>
            <a:solidFill>
              <a:schemeClr val="accent1"/>
            </a:solidFill>
            <a:ln>
              <a:noFill/>
            </a:ln>
          </p:spPr>
        </p:sp>
        <p:sp>
          <p:nvSpPr>
            <p:cNvPr id="32" name="TextBox 32"/>
            <p:cNvSpPr txBox="1"/>
            <p:nvPr/>
          </p:nvSpPr>
          <p:spPr>
            <a:xfrm>
              <a:off x="889254" y="5270500"/>
              <a:ext cx="2062150" cy="234696"/>
            </a:xfrm>
            <a:prstGeom prst="rect">
              <a:avLst/>
            </a:prstGeom>
            <a:noFill/>
            <a:ln>
              <a:noFill/>
            </a:ln>
          </p:spPr>
          <p:txBody>
            <a:bodyPr wrap="none" lIns="0" tIns="0" rIns="0" bIns="0" anchor="t" anchorCtr="0">
              <a:spAutoFit/>
            </a:bodyPr>
            <a:lstStyle/>
            <a:p>
              <a:pPr algn="l"/>
              <a:r>
                <a:rPr lang="vi-VN" sz="1200" dirty="0">
                  <a:solidFill>
                    <a:srgbClr val="FFFDF7"/>
                  </a:solidFill>
                  <a:latin typeface="Consolas"/>
                  <a:ea typeface="Consolas"/>
                  <a:cs typeface="Consolas"/>
                </a:rPr>
                <a:t>device = serial.Serial(</a:t>
              </a:r>
            </a:p>
          </p:txBody>
        </p:sp>
        <p:sp>
          <p:nvSpPr>
            <p:cNvPr id="33" name="TextBox 33"/>
            <p:cNvSpPr txBox="1"/>
            <p:nvPr/>
          </p:nvSpPr>
          <p:spPr>
            <a:xfrm>
              <a:off x="1270254" y="5451475"/>
              <a:ext cx="3502894" cy="234696"/>
            </a:xfrm>
            <a:prstGeom prst="rect">
              <a:avLst/>
            </a:prstGeom>
            <a:noFill/>
            <a:ln>
              <a:noFill/>
            </a:ln>
          </p:spPr>
          <p:txBody>
            <a:bodyPr wrap="none" lIns="0" tIns="0" rIns="0" bIns="0" anchor="t" anchorCtr="0">
              <a:spAutoFit/>
            </a:bodyPr>
            <a:lstStyle/>
            <a:p>
              <a:pPr algn="l"/>
              <a:r>
                <a:rPr lang="vi-VN" sz="1200" dirty="0">
                  <a:solidFill>
                    <a:srgbClr val="FFFDF7"/>
                  </a:solidFill>
                  <a:latin typeface="Consolas"/>
                  <a:ea typeface="Consolas"/>
                  <a:cs typeface="Consolas"/>
                </a:rPr>
                <a:t>port="COM4", baudrate=9600, bytesize=8,</a:t>
              </a:r>
            </a:p>
          </p:txBody>
        </p:sp>
        <p:sp>
          <p:nvSpPr>
            <p:cNvPr id="34" name="TextBox 34"/>
            <p:cNvSpPr txBox="1"/>
            <p:nvPr/>
          </p:nvSpPr>
          <p:spPr>
            <a:xfrm>
              <a:off x="1270254" y="5632450"/>
              <a:ext cx="3040837" cy="234696"/>
            </a:xfrm>
            <a:prstGeom prst="rect">
              <a:avLst/>
            </a:prstGeom>
            <a:noFill/>
            <a:ln>
              <a:noFill/>
            </a:ln>
          </p:spPr>
          <p:txBody>
            <a:bodyPr wrap="none" lIns="0" tIns="0" rIns="0" bIns="0" anchor="t" anchorCtr="0">
              <a:spAutoFit/>
            </a:bodyPr>
            <a:lstStyle/>
            <a:p>
              <a:pPr algn="l"/>
              <a:r>
                <a:rPr lang="vi-VN" sz="1200" dirty="0">
                  <a:solidFill>
                    <a:srgbClr val="FFFDF7"/>
                  </a:solidFill>
                  <a:latin typeface="Consolas"/>
                  <a:ea typeface="Consolas"/>
                  <a:cs typeface="Consolas"/>
                </a:rPr>
                <a:t>parity="N", stopbits=1, timeout=1,</a:t>
              </a:r>
            </a:p>
          </p:txBody>
        </p:sp>
        <p:sp>
          <p:nvSpPr>
            <p:cNvPr id="35" name="TextBox 35"/>
            <p:cNvSpPr txBox="1"/>
            <p:nvPr/>
          </p:nvSpPr>
          <p:spPr>
            <a:xfrm>
              <a:off x="1270254" y="5813425"/>
              <a:ext cx="5406301" cy="234696"/>
            </a:xfrm>
            <a:prstGeom prst="rect">
              <a:avLst/>
            </a:prstGeom>
            <a:noFill/>
            <a:ln>
              <a:noFill/>
            </a:ln>
          </p:spPr>
          <p:txBody>
            <a:bodyPr wrap="none" lIns="0" tIns="0" rIns="0" bIns="0" anchor="t" anchorCtr="0">
              <a:spAutoFit/>
            </a:bodyPr>
            <a:lstStyle/>
            <a:p>
              <a:pPr algn="l"/>
              <a:r>
                <a:rPr lang="vi-VN" sz="1200" dirty="0">
                  <a:solidFill>
                    <a:srgbClr val="FFFDF7"/>
                  </a:solidFill>
                  <a:latin typeface="Consolas"/>
                  <a:ea typeface="Consolas"/>
                  <a:cs typeface="Consolas"/>
                </a:rPr>
                <a:t>xonxoff=False, rtscts=False, dsrdtr=False) # 8N1 · Flow NONE</a:t>
              </a:r>
            </a:p>
          </p:txBody>
        </p:sp>
      </p:grpSp>
      <p:grpSp>
        <p:nvGrpSpPr>
          <p:cNvPr id="39" name="page-footer"/>
          <p:cNvGrpSpPr/>
          <p:nvPr/>
        </p:nvGrpSpPr>
        <p:grpSpPr>
          <a:xfrm>
            <a:off x="679704" y="6429375"/>
            <a:ext cx="10832592" cy="234696"/>
            <a:chOff x="679704" y="6429375"/>
            <a:chExt cx="10832592" cy="234696"/>
          </a:xfrm>
        </p:grpSpPr>
        <p:sp>
          <p:nvSpPr>
            <p:cNvPr id="37" name="TextBox 37"/>
            <p:cNvSpPr txBox="1"/>
            <p:nvPr/>
          </p:nvSpPr>
          <p:spPr>
            <a:xfrm>
              <a:off x="679704" y="6429375"/>
              <a:ext cx="3041904" cy="234696"/>
            </a:xfrm>
            <a:prstGeom prst="rect">
              <a:avLst/>
            </a:prstGeom>
            <a:noFill/>
            <a:ln>
              <a:noFill/>
            </a:ln>
          </p:spPr>
          <p:txBody>
            <a:bodyPr wrap="none" lIns="0" tIns="0" rIns="0" bIns="0" anchor="t" anchorCtr="0">
              <a:spAutoFit/>
            </a:bodyPr>
            <a:lstStyle/>
            <a:p>
              <a:pPr algn="l"/>
              <a:r>
                <a:rPr lang="vi-VN" sz="1200" dirty="0">
                  <a:solidFill>
                    <a:schemeClr val="accent5"/>
                  </a:solidFill>
                  <a:latin typeface="+mn-lt"/>
                  <a:ea typeface="+mn-ea"/>
                  <a:cs typeface="+mn-cs"/>
                </a:rPr>
                <a:t>SERIAL · CẤU HÌNH PHẢI KHỚP Ở HAI ĐẦU</a:t>
              </a:r>
            </a:p>
          </p:txBody>
        </p:sp>
        <p:sp>
          <p:nvSpPr>
            <p:cNvPr id="38" name="TextBox 38"/>
            <p:cNvSpPr txBox="1"/>
            <p:nvPr/>
          </p:nvSpPr>
          <p:spPr>
            <a:xfrm>
              <a:off x="10958932" y="6429375"/>
              <a:ext cx="553364" cy="234696"/>
            </a:xfrm>
            <a:prstGeom prst="rect">
              <a:avLst/>
            </a:prstGeom>
            <a:noFill/>
            <a:ln>
              <a:noFill/>
            </a:ln>
          </p:spPr>
          <p:txBody>
            <a:bodyPr wrap="none" lIns="0" tIns="0" rIns="0" bIns="0" anchor="t" anchorCtr="0">
              <a:spAutoFit/>
            </a:bodyPr>
            <a:lstStyle/>
            <a:p>
              <a:pPr algn="r"/>
              <a:r>
                <a:rPr lang="vi-VN" sz="1200" dirty="0">
                  <a:solidFill>
                    <a:schemeClr val="accent5"/>
                  </a:solidFill>
                  <a:latin typeface="+mn-lt"/>
                  <a:ea typeface="+mn-ea"/>
                  <a:cs typeface="+mn-cs"/>
                </a:rPr>
                <a:t>09 / 25</a:t>
              </a:r>
            </a:p>
          </p:txBody>
        </p:sp>
      </p:grpSp>
    </p:spTree>
  </p:cSld>
  <p:clrMapOvr>
    <a:masterClrMapping/>
  </p:clrMapOvr>
  <p:transition xmlns:p14="http://schemas.microsoft.com/office/powerpoint/2010/main" p14:dur="400">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page-title"/>
          <p:cNvGrpSpPr/>
          <p:nvPr/>
        </p:nvGrpSpPr>
        <p:grpSpPr>
          <a:xfrm>
            <a:off x="669798" y="520700"/>
            <a:ext cx="10836402" cy="955675"/>
            <a:chOff x="669798" y="520700"/>
            <a:chExt cx="10836402" cy="955675"/>
          </a:xfrm>
        </p:grpSpPr>
        <p:sp>
          <p:nvSpPr>
            <p:cNvPr id="2" name="TextBox 2"/>
            <p:cNvSpPr txBox="1"/>
            <p:nvPr/>
          </p:nvSpPr>
          <p:spPr>
            <a:xfrm>
              <a:off x="678942" y="520700"/>
              <a:ext cx="1727530" cy="264033"/>
            </a:xfrm>
            <a:prstGeom prst="rect">
              <a:avLst/>
            </a:prstGeom>
            <a:noFill/>
            <a:ln>
              <a:noFill/>
            </a:ln>
          </p:spPr>
          <p:txBody>
            <a:bodyPr wrap="none" lIns="0" tIns="0" rIns="0" bIns="0" anchor="t" anchorCtr="0">
              <a:spAutoFit/>
            </a:bodyPr>
            <a:lstStyle/>
            <a:p>
              <a:pPr algn="l"/>
              <a:r>
                <a:rPr lang="vi-VN" sz="1350" b="1" dirty="0">
                  <a:solidFill>
                    <a:schemeClr val="accent3"/>
                  </a:solidFill>
                  <a:latin typeface="+mn-lt"/>
                  <a:ea typeface="+mn-ea"/>
                  <a:cs typeface="+mn-cs"/>
                </a:rPr>
                <a:t>03 · COM / SERIAL</a:t>
              </a:r>
            </a:p>
          </p:txBody>
        </p:sp>
        <p:sp>
          <p:nvSpPr>
            <p:cNvPr id="3" name="TextBox 3"/>
            <p:cNvSpPr txBox="1"/>
            <p:nvPr/>
          </p:nvSpPr>
          <p:spPr>
            <a:xfrm>
              <a:off x="669798" y="838200"/>
              <a:ext cx="7212066" cy="616077"/>
            </a:xfrm>
            <a:prstGeom prst="rect">
              <a:avLst/>
            </a:prstGeom>
            <a:noFill/>
            <a:ln>
              <a:noFill/>
            </a:ln>
          </p:spPr>
          <p:txBody>
            <a:bodyPr wrap="none" lIns="0" tIns="0" rIns="0" bIns="0" anchor="t" anchorCtr="0">
              <a:spAutoFit/>
            </a:bodyPr>
            <a:lstStyle/>
            <a:p>
              <a:pPr algn="l"/>
              <a:r>
                <a:rPr lang="vi-VN" sz="3150" b="1" dirty="0">
                  <a:solidFill>
                    <a:schemeClr val="accent1"/>
                  </a:solidFill>
                  <a:latin typeface="+mn-lt"/>
                  <a:ea typeface="+mn-ea"/>
                  <a:cs typeface="+mn-cs"/>
                </a:rPr>
                <a:t>Bước 3 — Mở cổng serial bằng with</a:t>
              </a:r>
            </a:p>
          </p:txBody>
        </p:sp>
        <p:sp>
          <p:nvSpPr>
            <p:cNvPr id="4" name="Line 4"/>
            <p:cNvSpPr/>
            <p:nvPr/>
          </p:nvSpPr>
          <p:spPr>
            <a:xfrm>
              <a:off x="685800" y="1466850"/>
              <a:ext cx="10820400" cy="9525"/>
            </a:xfrm>
            <a:custGeom>
              <a:avLst/>
              <a:gdLst/>
              <a:ahLst/>
              <a:cxnLst/>
              <a:rect l="l" t="t" r="r" b="b"/>
              <a:pathLst>
                <a:path w="10820400" h="9525">
                  <a:moveTo>
                    <a:pt x="0" y="0"/>
                  </a:moveTo>
                  <a:lnTo>
                    <a:pt x="10820400" y="0"/>
                  </a:lnTo>
                </a:path>
              </a:pathLst>
            </a:custGeom>
            <a:noFill/>
            <a:ln w="14288">
              <a:solidFill>
                <a:schemeClr val="accent6"/>
              </a:solidFill>
            </a:ln>
          </p:spPr>
        </p:sp>
      </p:grpSp>
      <p:grpSp>
        <p:nvGrpSpPr>
          <p:cNvPr id="21" name="safe-open-code"/>
          <p:cNvGrpSpPr/>
          <p:nvPr/>
        </p:nvGrpSpPr>
        <p:grpSpPr>
          <a:xfrm>
            <a:off x="678942" y="1911350"/>
            <a:ext cx="6731508" cy="4207383"/>
            <a:chOff x="678942" y="1911350"/>
            <a:chExt cx="6731508" cy="4207383"/>
          </a:xfrm>
        </p:grpSpPr>
        <p:sp>
          <p:nvSpPr>
            <p:cNvPr id="6" name="TextBox 6"/>
            <p:cNvSpPr txBox="1"/>
            <p:nvPr/>
          </p:nvSpPr>
          <p:spPr>
            <a:xfrm>
              <a:off x="678942" y="1911350"/>
              <a:ext cx="4681975" cy="264033"/>
            </a:xfrm>
            <a:prstGeom prst="rect">
              <a:avLst/>
            </a:prstGeom>
            <a:noFill/>
            <a:ln>
              <a:noFill/>
            </a:ln>
          </p:spPr>
          <p:txBody>
            <a:bodyPr wrap="none" lIns="0" tIns="0" rIns="0" bIns="0" anchor="t" anchorCtr="0">
              <a:spAutoFit/>
            </a:bodyPr>
            <a:lstStyle/>
            <a:p>
              <a:pPr algn="l"/>
              <a:r>
                <a:rPr lang="vi-VN" sz="1350" b="1" dirty="0">
                  <a:solidFill>
                    <a:schemeClr val="accent5"/>
                  </a:solidFill>
                  <a:latin typeface="+mn-lt"/>
                  <a:ea typeface="+mn-ea"/>
                  <a:cs typeface="+mn-cs"/>
                </a:rPr>
                <a:t>MỞ CỔNG MỘT LẦN · TỰ ĐÓNG KHI THOÁT KHỎI with</a:t>
              </a:r>
            </a:p>
          </p:txBody>
        </p:sp>
        <p:sp>
          <p:nvSpPr>
            <p:cNvPr id="7" name="Rectangle 7"/>
            <p:cNvSpPr/>
            <p:nvPr/>
          </p:nvSpPr>
          <p:spPr>
            <a:xfrm>
              <a:off x="685800" y="2266950"/>
              <a:ext cx="6724650" cy="3829050"/>
            </a:xfrm>
            <a:prstGeom prst="roundRect">
              <a:avLst>
                <a:gd name="adj" fmla="val 1493"/>
              </a:avLst>
            </a:prstGeom>
            <a:solidFill>
              <a:schemeClr val="lt2"/>
            </a:solidFill>
            <a:ln>
              <a:noFill/>
            </a:ln>
          </p:spPr>
        </p:sp>
        <p:sp>
          <p:nvSpPr>
            <p:cNvPr id="8" name="TextBox 8"/>
            <p:cNvSpPr txBox="1"/>
            <p:nvPr/>
          </p:nvSpPr>
          <p:spPr>
            <a:xfrm>
              <a:off x="907542" y="2425700"/>
              <a:ext cx="1912868" cy="264033"/>
            </a:xfrm>
            <a:prstGeom prst="rect">
              <a:avLst/>
            </a:prstGeom>
            <a:noFill/>
            <a:ln>
              <a:noFill/>
            </a:ln>
          </p:spPr>
          <p:txBody>
            <a:bodyPr wrap="none" lIns="0" tIns="0" rIns="0" bIns="0" anchor="t" anchorCtr="0">
              <a:spAutoFit/>
            </a:bodyPr>
            <a:lstStyle/>
            <a:p>
              <a:pPr algn="l"/>
              <a:r>
                <a:rPr lang="vi-VN" sz="1350" dirty="0">
                  <a:solidFill>
                    <a:schemeClr val="accent1"/>
                  </a:solidFill>
                  <a:latin typeface="Consolas"/>
                  <a:ea typeface="Consolas"/>
                  <a:cs typeface="Consolas"/>
                </a:rPr>
                <a:t>import serial, time</a:t>
              </a:r>
            </a:p>
          </p:txBody>
        </p:sp>
        <p:sp>
          <p:nvSpPr>
            <p:cNvPr id="9" name="TextBox 9"/>
            <p:cNvSpPr txBox="1"/>
            <p:nvPr/>
          </p:nvSpPr>
          <p:spPr>
            <a:xfrm>
              <a:off x="907542" y="2711450"/>
              <a:ext cx="413537" cy="264033"/>
            </a:xfrm>
            <a:prstGeom prst="rect">
              <a:avLst/>
            </a:prstGeom>
            <a:noFill/>
            <a:ln>
              <a:noFill/>
            </a:ln>
          </p:spPr>
          <p:txBody>
            <a:bodyPr wrap="none" lIns="0" tIns="0" rIns="0" bIns="0" anchor="t" anchorCtr="0">
              <a:spAutoFit/>
            </a:bodyPr>
            <a:lstStyle/>
            <a:p>
              <a:pPr algn="l"/>
              <a:r>
                <a:rPr lang="vi-VN" sz="1350" dirty="0">
                  <a:solidFill>
                    <a:schemeClr val="dk1"/>
                  </a:solidFill>
                  <a:latin typeface="Consolas"/>
                  <a:ea typeface="Consolas"/>
                  <a:cs typeface="Consolas"/>
                </a:rPr>
                <a:t>try:</a:t>
              </a:r>
            </a:p>
          </p:txBody>
        </p:sp>
        <p:sp>
          <p:nvSpPr>
            <p:cNvPr id="10" name="TextBox 10"/>
            <p:cNvSpPr txBox="1"/>
            <p:nvPr/>
          </p:nvSpPr>
          <p:spPr>
            <a:xfrm>
              <a:off x="1288542" y="2997200"/>
              <a:ext cx="1919586" cy="264033"/>
            </a:xfrm>
            <a:prstGeom prst="rect">
              <a:avLst/>
            </a:prstGeom>
            <a:noFill/>
            <a:ln>
              <a:noFill/>
            </a:ln>
          </p:spPr>
          <p:txBody>
            <a:bodyPr wrap="none" lIns="0" tIns="0" rIns="0" bIns="0" anchor="t" anchorCtr="0">
              <a:spAutoFit/>
            </a:bodyPr>
            <a:lstStyle/>
            <a:p>
              <a:pPr algn="l"/>
              <a:r>
                <a:rPr lang="vi-VN" sz="1350" dirty="0">
                  <a:solidFill>
                    <a:schemeClr val="dk1"/>
                  </a:solidFill>
                  <a:latin typeface="Consolas"/>
                  <a:ea typeface="Consolas"/>
                  <a:cs typeface="Consolas"/>
                </a:rPr>
                <a:t>with serial.Serial(</a:t>
              </a:r>
            </a:p>
          </p:txBody>
        </p:sp>
        <p:sp>
          <p:nvSpPr>
            <p:cNvPr id="11" name="TextBox 11"/>
            <p:cNvSpPr txBox="1"/>
            <p:nvPr/>
          </p:nvSpPr>
          <p:spPr>
            <a:xfrm>
              <a:off x="1669542" y="3282950"/>
              <a:ext cx="2743063" cy="264033"/>
            </a:xfrm>
            <a:prstGeom prst="rect">
              <a:avLst/>
            </a:prstGeom>
            <a:noFill/>
            <a:ln>
              <a:noFill/>
            </a:ln>
          </p:spPr>
          <p:txBody>
            <a:bodyPr wrap="none" lIns="0" tIns="0" rIns="0" bIns="0" anchor="t" anchorCtr="0">
              <a:spAutoFit/>
            </a:bodyPr>
            <a:lstStyle/>
            <a:p>
              <a:pPr algn="l"/>
              <a:r>
                <a:rPr lang="vi-VN" sz="1350" dirty="0">
                  <a:solidFill>
                    <a:schemeClr val="dk1"/>
                  </a:solidFill>
                  <a:latin typeface="Consolas"/>
                  <a:ea typeface="Consolas"/>
                  <a:cs typeface="Consolas"/>
                </a:rPr>
                <a:t>port="COM4", baudrate=9600,</a:t>
              </a:r>
            </a:p>
          </p:txBody>
        </p:sp>
        <p:sp>
          <p:nvSpPr>
            <p:cNvPr id="12" name="TextBox 12"/>
            <p:cNvSpPr txBox="1"/>
            <p:nvPr/>
          </p:nvSpPr>
          <p:spPr>
            <a:xfrm>
              <a:off x="1669542" y="3568700"/>
              <a:ext cx="3520763" cy="264033"/>
            </a:xfrm>
            <a:prstGeom prst="rect">
              <a:avLst/>
            </a:prstGeom>
            <a:noFill/>
            <a:ln>
              <a:noFill/>
            </a:ln>
          </p:spPr>
          <p:txBody>
            <a:bodyPr wrap="none" lIns="0" tIns="0" rIns="0" bIns="0" anchor="t" anchorCtr="0">
              <a:spAutoFit/>
            </a:bodyPr>
            <a:lstStyle/>
            <a:p>
              <a:pPr algn="l"/>
              <a:r>
                <a:rPr lang="vi-VN" sz="1350" dirty="0">
                  <a:solidFill>
                    <a:schemeClr val="dk1"/>
                  </a:solidFill>
                  <a:latin typeface="Consolas"/>
                  <a:ea typeface="Consolas"/>
                  <a:cs typeface="Consolas"/>
                </a:rPr>
                <a:t>bytesize=8, parity="N", stopbits=1,</a:t>
              </a:r>
            </a:p>
          </p:txBody>
        </p:sp>
        <p:sp>
          <p:nvSpPr>
            <p:cNvPr id="13" name="TextBox 13"/>
            <p:cNvSpPr txBox="1"/>
            <p:nvPr/>
          </p:nvSpPr>
          <p:spPr>
            <a:xfrm>
              <a:off x="1669542" y="3854450"/>
              <a:ext cx="2520044" cy="264033"/>
            </a:xfrm>
            <a:prstGeom prst="rect">
              <a:avLst/>
            </a:prstGeom>
            <a:noFill/>
            <a:ln>
              <a:noFill/>
            </a:ln>
          </p:spPr>
          <p:txBody>
            <a:bodyPr wrap="none" lIns="0" tIns="0" rIns="0" bIns="0" anchor="t" anchorCtr="0">
              <a:spAutoFit/>
            </a:bodyPr>
            <a:lstStyle/>
            <a:p>
              <a:pPr algn="l"/>
              <a:r>
                <a:rPr lang="vi-VN" sz="1350" dirty="0">
                  <a:solidFill>
                    <a:schemeClr val="dk1"/>
                  </a:solidFill>
                  <a:latin typeface="Consolas"/>
                  <a:ea typeface="Consolas"/>
                  <a:cs typeface="Consolas"/>
                </a:rPr>
                <a:t>timeout=1, xonxoff=False,</a:t>
              </a:r>
            </a:p>
          </p:txBody>
        </p:sp>
        <p:sp>
          <p:nvSpPr>
            <p:cNvPr id="14" name="TextBox 14"/>
            <p:cNvSpPr txBox="1"/>
            <p:nvPr/>
          </p:nvSpPr>
          <p:spPr>
            <a:xfrm>
              <a:off x="1669542" y="4140200"/>
              <a:ext cx="2625928" cy="264033"/>
            </a:xfrm>
            <a:prstGeom prst="rect">
              <a:avLst/>
            </a:prstGeom>
            <a:noFill/>
            <a:ln>
              <a:noFill/>
            </a:ln>
          </p:spPr>
          <p:txBody>
            <a:bodyPr wrap="none" lIns="0" tIns="0" rIns="0" bIns="0" anchor="t" anchorCtr="0">
              <a:spAutoFit/>
            </a:bodyPr>
            <a:lstStyle/>
            <a:p>
              <a:pPr algn="l"/>
              <a:r>
                <a:rPr lang="vi-VN" sz="1350" dirty="0">
                  <a:solidFill>
                    <a:schemeClr val="dk1"/>
                  </a:solidFill>
                  <a:latin typeface="Consolas"/>
                  <a:ea typeface="Consolas"/>
                  <a:cs typeface="Consolas"/>
                </a:rPr>
                <a:t>rtscts=False, dsrdtr=False</a:t>
              </a:r>
            </a:p>
          </p:txBody>
        </p:sp>
        <p:sp>
          <p:nvSpPr>
            <p:cNvPr id="15" name="TextBox 15"/>
            <p:cNvSpPr txBox="1"/>
            <p:nvPr/>
          </p:nvSpPr>
          <p:spPr>
            <a:xfrm>
              <a:off x="1288542" y="4425950"/>
              <a:ext cx="1213180" cy="264033"/>
            </a:xfrm>
            <a:prstGeom prst="rect">
              <a:avLst/>
            </a:prstGeom>
            <a:noFill/>
            <a:ln>
              <a:noFill/>
            </a:ln>
          </p:spPr>
          <p:txBody>
            <a:bodyPr wrap="none" lIns="0" tIns="0" rIns="0" bIns="0" anchor="t" anchorCtr="0">
              <a:spAutoFit/>
            </a:bodyPr>
            <a:lstStyle/>
            <a:p>
              <a:pPr algn="l"/>
              <a:r>
                <a:rPr lang="vi-VN" sz="1350" dirty="0">
                  <a:solidFill>
                    <a:schemeClr val="dk1"/>
                  </a:solidFill>
                  <a:latin typeface="Consolas"/>
                  <a:ea typeface="Consolas"/>
                  <a:cs typeface="Consolas"/>
                </a:rPr>
                <a:t>) as device:</a:t>
              </a:r>
            </a:p>
          </p:txBody>
        </p:sp>
        <p:sp>
          <p:nvSpPr>
            <p:cNvPr id="16" name="TextBox 16"/>
            <p:cNvSpPr txBox="1"/>
            <p:nvPr/>
          </p:nvSpPr>
          <p:spPr>
            <a:xfrm>
              <a:off x="1669542" y="4711700"/>
              <a:ext cx="1313136" cy="264033"/>
            </a:xfrm>
            <a:prstGeom prst="rect">
              <a:avLst/>
            </a:prstGeom>
            <a:noFill/>
            <a:ln>
              <a:noFill/>
            </a:ln>
          </p:spPr>
          <p:txBody>
            <a:bodyPr wrap="none" lIns="0" tIns="0" rIns="0" bIns="0" anchor="t" anchorCtr="0">
              <a:spAutoFit/>
            </a:bodyPr>
            <a:lstStyle/>
            <a:p>
              <a:pPr algn="l"/>
              <a:r>
                <a:rPr lang="vi-VN" sz="1350" dirty="0">
                  <a:solidFill>
                    <a:schemeClr val="dk1"/>
                  </a:solidFill>
                  <a:latin typeface="Consolas"/>
                  <a:ea typeface="Consolas"/>
                  <a:cs typeface="Consolas"/>
                </a:rPr>
                <a:t>time.sleep(2)</a:t>
              </a:r>
            </a:p>
          </p:txBody>
        </p:sp>
        <p:sp>
          <p:nvSpPr>
            <p:cNvPr id="17" name="TextBox 17"/>
            <p:cNvSpPr txBox="1"/>
            <p:nvPr/>
          </p:nvSpPr>
          <p:spPr>
            <a:xfrm>
              <a:off x="1669542" y="4997450"/>
              <a:ext cx="2712510" cy="264033"/>
            </a:xfrm>
            <a:prstGeom prst="rect">
              <a:avLst/>
            </a:prstGeom>
            <a:noFill/>
            <a:ln>
              <a:noFill/>
            </a:ln>
          </p:spPr>
          <p:txBody>
            <a:bodyPr wrap="none" lIns="0" tIns="0" rIns="0" bIns="0" anchor="t" anchorCtr="0">
              <a:spAutoFit/>
            </a:bodyPr>
            <a:lstStyle/>
            <a:p>
              <a:pPr algn="l"/>
              <a:r>
                <a:rPr lang="vi-VN" sz="1350" dirty="0">
                  <a:solidFill>
                    <a:schemeClr val="dk1"/>
                  </a:solidFill>
                  <a:latin typeface="Consolas"/>
                  <a:ea typeface="Consolas"/>
                  <a:cs typeface="Consolas"/>
                </a:rPr>
                <a:t>device.reset_input_buffer()</a:t>
              </a:r>
            </a:p>
          </p:txBody>
        </p:sp>
        <p:sp>
          <p:nvSpPr>
            <p:cNvPr id="18" name="TextBox 18"/>
            <p:cNvSpPr txBox="1"/>
            <p:nvPr/>
          </p:nvSpPr>
          <p:spPr>
            <a:xfrm>
              <a:off x="1669542" y="5283200"/>
              <a:ext cx="1921137" cy="264033"/>
            </a:xfrm>
            <a:prstGeom prst="rect">
              <a:avLst/>
            </a:prstGeom>
            <a:noFill/>
            <a:ln>
              <a:noFill/>
            </a:ln>
          </p:spPr>
          <p:txBody>
            <a:bodyPr wrap="none" lIns="0" tIns="0" rIns="0" bIns="0" anchor="t" anchorCtr="0">
              <a:spAutoFit/>
            </a:bodyPr>
            <a:lstStyle/>
            <a:p>
              <a:pPr algn="l"/>
              <a:r>
                <a:rPr lang="vi-VN" sz="1350" dirty="0">
                  <a:solidFill>
                    <a:schemeClr val="dk1"/>
                  </a:solidFill>
                  <a:latin typeface="Consolas"/>
                  <a:ea typeface="Consolas"/>
                  <a:cs typeface="Consolas"/>
                </a:rPr>
                <a:t>print("Da ket noi")</a:t>
              </a:r>
            </a:p>
          </p:txBody>
        </p:sp>
        <p:sp>
          <p:nvSpPr>
            <p:cNvPr id="19" name="TextBox 19"/>
            <p:cNvSpPr txBox="1"/>
            <p:nvPr/>
          </p:nvSpPr>
          <p:spPr>
            <a:xfrm>
              <a:off x="907542" y="5568950"/>
              <a:ext cx="3924954" cy="264033"/>
            </a:xfrm>
            <a:prstGeom prst="rect">
              <a:avLst/>
            </a:prstGeom>
            <a:noFill/>
            <a:ln>
              <a:noFill/>
            </a:ln>
          </p:spPr>
          <p:txBody>
            <a:bodyPr wrap="none" lIns="0" tIns="0" rIns="0" bIns="0" anchor="t" anchorCtr="0">
              <a:spAutoFit/>
            </a:bodyPr>
            <a:lstStyle/>
            <a:p>
              <a:pPr algn="l"/>
              <a:r>
                <a:rPr lang="vi-VN" sz="1350" dirty="0">
                  <a:solidFill>
                    <a:schemeClr val="accent2"/>
                  </a:solidFill>
                  <a:latin typeface="Consolas"/>
                  <a:ea typeface="Consolas"/>
                  <a:cs typeface="Consolas"/>
                </a:rPr>
                <a:t>except serial.SerialException as error:</a:t>
              </a:r>
            </a:p>
          </p:txBody>
        </p:sp>
        <p:sp>
          <p:nvSpPr>
            <p:cNvPr id="20" name="TextBox 20"/>
            <p:cNvSpPr txBox="1"/>
            <p:nvPr/>
          </p:nvSpPr>
          <p:spPr>
            <a:xfrm>
              <a:off x="1288542" y="5854700"/>
              <a:ext cx="3444259" cy="264033"/>
            </a:xfrm>
            <a:prstGeom prst="rect">
              <a:avLst/>
            </a:prstGeom>
            <a:noFill/>
            <a:ln>
              <a:noFill/>
            </a:ln>
          </p:spPr>
          <p:txBody>
            <a:bodyPr wrap="none" lIns="0" tIns="0" rIns="0" bIns="0" anchor="t" anchorCtr="0">
              <a:spAutoFit/>
            </a:bodyPr>
            <a:lstStyle/>
            <a:p>
              <a:pPr algn="l"/>
              <a:r>
                <a:rPr lang="vi-VN" sz="1350" dirty="0">
                  <a:solidFill>
                    <a:schemeClr val="accent2"/>
                  </a:solidFill>
                  <a:latin typeface="Consolas"/>
                  <a:ea typeface="Consolas"/>
                  <a:cs typeface="Consolas"/>
                </a:rPr>
                <a:t>print("Khong mo duoc COM:", error)</a:t>
              </a:r>
            </a:p>
          </p:txBody>
        </p:sp>
      </p:grpSp>
      <p:grpSp>
        <p:nvGrpSpPr>
          <p:cNvPr id="36" name="open-serial-explanation"/>
          <p:cNvGrpSpPr/>
          <p:nvPr/>
        </p:nvGrpSpPr>
        <p:grpSpPr>
          <a:xfrm>
            <a:off x="7782306" y="1911350"/>
            <a:ext cx="3871827" cy="4152646"/>
            <a:chOff x="7782306" y="1911350"/>
            <a:chExt cx="3871827" cy="4152646"/>
          </a:xfrm>
        </p:grpSpPr>
        <p:sp>
          <p:nvSpPr>
            <p:cNvPr id="22" name="TextBox 22"/>
            <p:cNvSpPr txBox="1"/>
            <p:nvPr/>
          </p:nvSpPr>
          <p:spPr>
            <a:xfrm>
              <a:off x="7784592" y="1911350"/>
              <a:ext cx="2130781" cy="264033"/>
            </a:xfrm>
            <a:prstGeom prst="rect">
              <a:avLst/>
            </a:prstGeom>
            <a:noFill/>
            <a:ln>
              <a:noFill/>
            </a:ln>
          </p:spPr>
          <p:txBody>
            <a:bodyPr wrap="none" lIns="0" tIns="0" rIns="0" bIns="0" anchor="t" anchorCtr="0">
              <a:spAutoFit/>
            </a:bodyPr>
            <a:lstStyle/>
            <a:p>
              <a:pPr algn="l"/>
              <a:r>
                <a:rPr lang="vi-VN" sz="1350" b="1" dirty="0">
                  <a:solidFill>
                    <a:schemeClr val="accent5"/>
                  </a:solidFill>
                  <a:latin typeface="+mn-lt"/>
                  <a:ea typeface="+mn-ea"/>
                  <a:cs typeface="+mn-cs"/>
                </a:rPr>
                <a:t>VÌ SAO DÙNG CÁCH NÀY?</a:t>
              </a:r>
            </a:p>
          </p:txBody>
        </p:sp>
        <p:sp>
          <p:nvSpPr>
            <p:cNvPr id="23" name="Line 23"/>
            <p:cNvSpPr/>
            <p:nvPr/>
          </p:nvSpPr>
          <p:spPr>
            <a:xfrm>
              <a:off x="7791450" y="2266950"/>
              <a:ext cx="3714750" cy="9525"/>
            </a:xfrm>
            <a:custGeom>
              <a:avLst/>
              <a:gdLst/>
              <a:ahLst/>
              <a:cxnLst/>
              <a:rect l="l" t="t" r="r" b="b"/>
              <a:pathLst>
                <a:path w="3714750" h="9525">
                  <a:moveTo>
                    <a:pt x="0" y="0"/>
                  </a:moveTo>
                  <a:lnTo>
                    <a:pt x="3714750" y="0"/>
                  </a:lnTo>
                </a:path>
              </a:pathLst>
            </a:custGeom>
            <a:noFill/>
            <a:ln w="19050">
              <a:solidFill>
                <a:schemeClr val="accent1"/>
              </a:solidFill>
            </a:ln>
          </p:spPr>
        </p:sp>
        <p:sp>
          <p:nvSpPr>
            <p:cNvPr id="24" name="TextBox 24"/>
            <p:cNvSpPr txBox="1"/>
            <p:nvPr/>
          </p:nvSpPr>
          <p:spPr>
            <a:xfrm>
              <a:off x="7782306" y="2451100"/>
              <a:ext cx="1265004" cy="352044"/>
            </a:xfrm>
            <a:prstGeom prst="rect">
              <a:avLst/>
            </a:prstGeom>
            <a:noFill/>
            <a:ln>
              <a:noFill/>
            </a:ln>
          </p:spPr>
          <p:txBody>
            <a:bodyPr wrap="none" lIns="0" tIns="0" rIns="0" bIns="0" anchor="t" anchorCtr="0">
              <a:spAutoFit/>
            </a:bodyPr>
            <a:lstStyle/>
            <a:p>
              <a:pPr algn="l"/>
              <a:r>
                <a:rPr lang="vi-VN" sz="1800" b="1" dirty="0">
                  <a:solidFill>
                    <a:schemeClr val="accent1"/>
                  </a:solidFill>
                  <a:latin typeface="+mn-lt"/>
                  <a:ea typeface="+mn-ea"/>
                  <a:cs typeface="+mn-cs"/>
                </a:rPr>
                <a:t>timeout=1</a:t>
              </a:r>
            </a:p>
          </p:txBody>
        </p:sp>
        <p:sp>
          <p:nvSpPr>
            <p:cNvPr id="25" name="TextBox 25"/>
            <p:cNvSpPr txBox="1"/>
            <p:nvPr/>
          </p:nvSpPr>
          <p:spPr>
            <a:xfrm>
              <a:off x="7784592" y="2787650"/>
              <a:ext cx="3028011" cy="264033"/>
            </a:xfrm>
            <a:prstGeom prst="rect">
              <a:avLst/>
            </a:prstGeom>
            <a:noFill/>
            <a:ln>
              <a:noFill/>
            </a:ln>
          </p:spPr>
          <p:txBody>
            <a:bodyPr wrap="none" lIns="0" tIns="0" rIns="0" bIns="0" anchor="t" anchorCtr="0">
              <a:spAutoFit/>
            </a:bodyPr>
            <a:lstStyle/>
            <a:p>
              <a:pPr algn="l"/>
              <a:r>
                <a:rPr lang="vi-VN" sz="1350" dirty="0">
                  <a:solidFill>
                    <a:schemeClr val="dk1"/>
                  </a:solidFill>
                  <a:latin typeface="+mn-lt"/>
                  <a:ea typeface="+mn-ea"/>
                  <a:cs typeface="+mn-cs"/>
                </a:rPr>
                <a:t>Giới hạn thời gian chờ đọc ở 1 giây.</a:t>
              </a:r>
            </a:p>
          </p:txBody>
        </p:sp>
        <p:sp>
          <p:nvSpPr>
            <p:cNvPr id="26" name="Line 26"/>
            <p:cNvSpPr/>
            <p:nvPr/>
          </p:nvSpPr>
          <p:spPr>
            <a:xfrm>
              <a:off x="7791450" y="3143250"/>
              <a:ext cx="3714750" cy="9525"/>
            </a:xfrm>
            <a:custGeom>
              <a:avLst/>
              <a:gdLst/>
              <a:ahLst/>
              <a:cxnLst/>
              <a:rect l="l" t="t" r="r" b="b"/>
              <a:pathLst>
                <a:path w="3714750" h="9525">
                  <a:moveTo>
                    <a:pt x="0" y="0"/>
                  </a:moveTo>
                  <a:lnTo>
                    <a:pt x="3714750" y="0"/>
                  </a:lnTo>
                </a:path>
              </a:pathLst>
            </a:custGeom>
            <a:noFill/>
            <a:ln w="9525">
              <a:solidFill>
                <a:schemeClr val="accent6"/>
              </a:solidFill>
            </a:ln>
          </p:spPr>
        </p:sp>
        <p:sp>
          <p:nvSpPr>
            <p:cNvPr id="27" name="TextBox 27"/>
            <p:cNvSpPr txBox="1"/>
            <p:nvPr/>
          </p:nvSpPr>
          <p:spPr>
            <a:xfrm>
              <a:off x="7782306" y="3327400"/>
              <a:ext cx="1761146" cy="352044"/>
            </a:xfrm>
            <a:prstGeom prst="rect">
              <a:avLst/>
            </a:prstGeom>
            <a:noFill/>
            <a:ln>
              <a:noFill/>
            </a:ln>
          </p:spPr>
          <p:txBody>
            <a:bodyPr wrap="none" lIns="0" tIns="0" rIns="0" bIns="0" anchor="t" anchorCtr="0">
              <a:spAutoFit/>
            </a:bodyPr>
            <a:lstStyle/>
            <a:p>
              <a:pPr algn="l"/>
              <a:r>
                <a:rPr lang="vi-VN" sz="1800" b="1" dirty="0">
                  <a:solidFill>
                    <a:schemeClr val="accent1"/>
                  </a:solidFill>
                  <a:latin typeface="+mn-lt"/>
                  <a:ea typeface="+mn-ea"/>
                  <a:cs typeface="+mn-cs"/>
                </a:rPr>
                <a:t>time.sleep(2)</a:t>
              </a:r>
            </a:p>
          </p:txBody>
        </p:sp>
        <p:sp>
          <p:nvSpPr>
            <p:cNvPr id="28" name="TextBox 28"/>
            <p:cNvSpPr txBox="1"/>
            <p:nvPr/>
          </p:nvSpPr>
          <p:spPr>
            <a:xfrm>
              <a:off x="7784592" y="3663950"/>
              <a:ext cx="3583471" cy="264033"/>
            </a:xfrm>
            <a:prstGeom prst="rect">
              <a:avLst/>
            </a:prstGeom>
            <a:noFill/>
            <a:ln>
              <a:noFill/>
            </a:ln>
          </p:spPr>
          <p:txBody>
            <a:bodyPr wrap="none" lIns="0" tIns="0" rIns="0" bIns="0" anchor="t" anchorCtr="0">
              <a:spAutoFit/>
            </a:bodyPr>
            <a:lstStyle/>
            <a:p>
              <a:pPr algn="l"/>
              <a:r>
                <a:rPr lang="vi-VN" sz="1350" dirty="0">
                  <a:solidFill>
                    <a:schemeClr val="dk1"/>
                  </a:solidFill>
                  <a:latin typeface="+mn-lt"/>
                  <a:ea typeface="+mn-ea"/>
                  <a:cs typeface="+mn-cs"/>
                </a:rPr>
                <a:t>Chờ thiết bị ổn định sau khi mở cổng USB.</a:t>
              </a:r>
            </a:p>
          </p:txBody>
        </p:sp>
        <p:sp>
          <p:nvSpPr>
            <p:cNvPr id="29" name="Line 29"/>
            <p:cNvSpPr/>
            <p:nvPr/>
          </p:nvSpPr>
          <p:spPr>
            <a:xfrm>
              <a:off x="7791450" y="4019550"/>
              <a:ext cx="3714750" cy="9525"/>
            </a:xfrm>
            <a:custGeom>
              <a:avLst/>
              <a:gdLst/>
              <a:ahLst/>
              <a:cxnLst/>
              <a:rect l="l" t="t" r="r" b="b"/>
              <a:pathLst>
                <a:path w="3714750" h="9525">
                  <a:moveTo>
                    <a:pt x="0" y="0"/>
                  </a:moveTo>
                  <a:lnTo>
                    <a:pt x="3714750" y="0"/>
                  </a:lnTo>
                </a:path>
              </a:pathLst>
            </a:custGeom>
            <a:noFill/>
            <a:ln w="9525">
              <a:solidFill>
                <a:schemeClr val="accent6"/>
              </a:solidFill>
            </a:ln>
          </p:spPr>
        </p:sp>
        <p:sp>
          <p:nvSpPr>
            <p:cNvPr id="30" name="TextBox 30"/>
            <p:cNvSpPr txBox="1"/>
            <p:nvPr/>
          </p:nvSpPr>
          <p:spPr>
            <a:xfrm>
              <a:off x="7782306" y="4203700"/>
              <a:ext cx="565316" cy="352044"/>
            </a:xfrm>
            <a:prstGeom prst="rect">
              <a:avLst/>
            </a:prstGeom>
            <a:noFill/>
            <a:ln>
              <a:noFill/>
            </a:ln>
          </p:spPr>
          <p:txBody>
            <a:bodyPr wrap="none" lIns="0" tIns="0" rIns="0" bIns="0" anchor="t" anchorCtr="0">
              <a:spAutoFit/>
            </a:bodyPr>
            <a:lstStyle/>
            <a:p>
              <a:pPr algn="l"/>
              <a:r>
                <a:rPr lang="vi-VN" sz="1800" b="1" dirty="0">
                  <a:solidFill>
                    <a:schemeClr val="accent1"/>
                  </a:solidFill>
                  <a:latin typeface="+mn-lt"/>
                  <a:ea typeface="+mn-ea"/>
                  <a:cs typeface="+mn-cs"/>
                </a:rPr>
                <a:t>with</a:t>
              </a:r>
            </a:p>
          </p:txBody>
        </p:sp>
        <p:sp>
          <p:nvSpPr>
            <p:cNvPr id="31" name="TextBox 31"/>
            <p:cNvSpPr txBox="1"/>
            <p:nvPr/>
          </p:nvSpPr>
          <p:spPr>
            <a:xfrm>
              <a:off x="7784592" y="4540250"/>
              <a:ext cx="3654691" cy="264033"/>
            </a:xfrm>
            <a:prstGeom prst="rect">
              <a:avLst/>
            </a:prstGeom>
            <a:noFill/>
            <a:ln>
              <a:noFill/>
            </a:ln>
          </p:spPr>
          <p:txBody>
            <a:bodyPr wrap="none" lIns="0" tIns="0" rIns="0" bIns="0" anchor="t" anchorCtr="0">
              <a:spAutoFit/>
            </a:bodyPr>
            <a:lstStyle/>
            <a:p>
              <a:pPr algn="l"/>
              <a:r>
                <a:rPr lang="vi-VN" sz="1350" dirty="0">
                  <a:solidFill>
                    <a:schemeClr val="dk1"/>
                  </a:solidFill>
                  <a:latin typeface="+mn-lt"/>
                  <a:ea typeface="+mn-ea"/>
                  <a:cs typeface="+mn-cs"/>
                </a:rPr>
                <a:t>Tài nguyên được đóng khi thoát khối with.</a:t>
              </a:r>
            </a:p>
          </p:txBody>
        </p:sp>
        <p:sp>
          <p:nvSpPr>
            <p:cNvPr id="32" name="TextBox 32"/>
            <p:cNvSpPr txBox="1"/>
            <p:nvPr/>
          </p:nvSpPr>
          <p:spPr>
            <a:xfrm>
              <a:off x="7783068" y="4921250"/>
              <a:ext cx="3721642" cy="322707"/>
            </a:xfrm>
            <a:prstGeom prst="rect">
              <a:avLst/>
            </a:prstGeom>
            <a:noFill/>
            <a:ln>
              <a:noFill/>
            </a:ln>
          </p:spPr>
          <p:txBody>
            <a:bodyPr wrap="none" lIns="0" tIns="0" rIns="0" bIns="0" anchor="t" anchorCtr="0">
              <a:spAutoFit/>
            </a:bodyPr>
            <a:lstStyle/>
            <a:p>
              <a:pPr algn="l"/>
              <a:r>
                <a:rPr lang="vi-VN" sz="1650" b="1" dirty="0">
                  <a:solidFill>
                    <a:schemeClr val="accent2"/>
                  </a:solidFill>
                  <a:latin typeface="+mn-lt"/>
                  <a:ea typeface="+mn-ea"/>
                  <a:cs typeface="+mn-cs"/>
                </a:rPr>
                <a:t>COM bận? Ngắt kết nối Hercules.</a:t>
              </a:r>
            </a:p>
          </p:txBody>
        </p:sp>
        <p:sp>
          <p:nvSpPr>
            <p:cNvPr id="33" name="TextBox 33"/>
            <p:cNvSpPr txBox="1"/>
            <p:nvPr/>
          </p:nvSpPr>
          <p:spPr>
            <a:xfrm>
              <a:off x="7784592" y="5321300"/>
              <a:ext cx="3869541" cy="264033"/>
            </a:xfrm>
            <a:prstGeom prst="rect">
              <a:avLst/>
            </a:prstGeom>
            <a:noFill/>
            <a:ln>
              <a:noFill/>
            </a:ln>
          </p:spPr>
          <p:txBody>
            <a:bodyPr wrap="none" lIns="0" tIns="0" rIns="0" bIns="0" anchor="t" anchorCtr="0">
              <a:spAutoFit/>
            </a:bodyPr>
            <a:lstStyle/>
            <a:p>
              <a:pPr algn="l"/>
              <a:r>
                <a:rPr lang="vi-VN" sz="1350" dirty="0">
                  <a:solidFill>
                    <a:schemeClr val="accent5"/>
                  </a:solidFill>
                  <a:latin typeface="+mn-lt"/>
                  <a:ea typeface="+mn-ea"/>
                  <a:cs typeface="+mn-cs"/>
                </a:rPr>
                <a:t>SerialException báo cổng sai hoặc đang bận.</a:t>
              </a:r>
            </a:p>
          </p:txBody>
        </p:sp>
        <p:sp>
          <p:nvSpPr>
            <p:cNvPr id="34" name="TextBox 34"/>
            <p:cNvSpPr txBox="1"/>
            <p:nvPr/>
          </p:nvSpPr>
          <p:spPr>
            <a:xfrm>
              <a:off x="7785354" y="5600700"/>
              <a:ext cx="2486894" cy="234696"/>
            </a:xfrm>
            <a:prstGeom prst="rect">
              <a:avLst/>
            </a:prstGeom>
            <a:noFill/>
            <a:ln>
              <a:noFill/>
            </a:ln>
          </p:spPr>
          <p:txBody>
            <a:bodyPr wrap="none" lIns="0" tIns="0" rIns="0" bIns="0" anchor="t" anchorCtr="0">
              <a:spAutoFit/>
            </a:bodyPr>
            <a:lstStyle/>
            <a:p>
              <a:pPr algn="l"/>
              <a:r>
                <a:rPr lang="vi-VN" sz="1200" dirty="0">
                  <a:solidFill>
                    <a:schemeClr val="accent5"/>
                  </a:solidFill>
                  <a:latin typeface="+mn-lt"/>
                  <a:ea typeface="+mn-ea"/>
                  <a:cs typeface="+mn-cs"/>
                </a:rPr>
                <a:t>Minh họa: ngắt kết nối Hercules</a:t>
              </a:r>
            </a:p>
          </p:txBody>
        </p:sp>
        <p:sp>
          <p:nvSpPr>
            <p:cNvPr id="35" name="TextBox 35"/>
            <p:cNvSpPr txBox="1"/>
            <p:nvPr/>
          </p:nvSpPr>
          <p:spPr>
            <a:xfrm>
              <a:off x="7785354" y="5829300"/>
              <a:ext cx="2467363" cy="234696"/>
            </a:xfrm>
            <a:prstGeom prst="rect">
              <a:avLst/>
            </a:prstGeom>
            <a:noFill/>
            <a:ln>
              <a:noFill/>
            </a:ln>
          </p:spPr>
          <p:txBody>
            <a:bodyPr wrap="none" lIns="0" tIns="0" rIns="0" bIns="0" anchor="t" anchorCtr="0">
              <a:spAutoFit/>
            </a:bodyPr>
            <a:lstStyle/>
            <a:p>
              <a:pPr algn="l"/>
              <a:r>
                <a:rPr lang="vi-VN" sz="1200" dirty="0">
                  <a:solidFill>
                    <a:schemeClr val="accent5"/>
                  </a:solidFill>
                  <a:latin typeface="+mn-lt"/>
                  <a:ea typeface="+mn-ea"/>
                  <a:cs typeface="+mn-cs"/>
                </a:rPr>
                <a:t>trước khi mở COM bằng Python.</a:t>
              </a:r>
            </a:p>
          </p:txBody>
        </p:sp>
      </p:grpSp>
      <p:grpSp>
        <p:nvGrpSpPr>
          <p:cNvPr id="39" name="page-footer"/>
          <p:cNvGrpSpPr/>
          <p:nvPr/>
        </p:nvGrpSpPr>
        <p:grpSpPr>
          <a:xfrm>
            <a:off x="679704" y="6429375"/>
            <a:ext cx="10832592" cy="234696"/>
            <a:chOff x="679704" y="6429375"/>
            <a:chExt cx="10832592" cy="234696"/>
          </a:xfrm>
        </p:grpSpPr>
        <p:sp>
          <p:nvSpPr>
            <p:cNvPr id="37" name="TextBox 37"/>
            <p:cNvSpPr txBox="1"/>
            <p:nvPr/>
          </p:nvSpPr>
          <p:spPr>
            <a:xfrm>
              <a:off x="679704" y="6429375"/>
              <a:ext cx="3699053" cy="234696"/>
            </a:xfrm>
            <a:prstGeom prst="rect">
              <a:avLst/>
            </a:prstGeom>
            <a:noFill/>
            <a:ln>
              <a:noFill/>
            </a:ln>
          </p:spPr>
          <p:txBody>
            <a:bodyPr wrap="none" lIns="0" tIns="0" rIns="0" bIns="0" anchor="t" anchorCtr="0">
              <a:spAutoFit/>
            </a:bodyPr>
            <a:lstStyle/>
            <a:p>
              <a:pPr algn="l"/>
              <a:r>
                <a:rPr lang="vi-VN" sz="1200" dirty="0">
                  <a:solidFill>
                    <a:schemeClr val="accent5"/>
                  </a:solidFill>
                  <a:latin typeface="+mn-lt"/>
                  <a:ea typeface="+mn-ea"/>
                  <a:cs typeface="+mn-cs"/>
                </a:rPr>
                <a:t>SERIAL · MỞ CÓ TIMEOUT, ĐÓNG CÓ KIỂM SOÁT</a:t>
              </a:r>
            </a:p>
          </p:txBody>
        </p:sp>
        <p:sp>
          <p:nvSpPr>
            <p:cNvPr id="38" name="TextBox 38"/>
            <p:cNvSpPr txBox="1"/>
            <p:nvPr/>
          </p:nvSpPr>
          <p:spPr>
            <a:xfrm>
              <a:off x="10958932" y="6429375"/>
              <a:ext cx="553364" cy="234696"/>
            </a:xfrm>
            <a:prstGeom prst="rect">
              <a:avLst/>
            </a:prstGeom>
            <a:noFill/>
            <a:ln>
              <a:noFill/>
            </a:ln>
          </p:spPr>
          <p:txBody>
            <a:bodyPr wrap="none" lIns="0" tIns="0" rIns="0" bIns="0" anchor="t" anchorCtr="0">
              <a:spAutoFit/>
            </a:bodyPr>
            <a:lstStyle/>
            <a:p>
              <a:pPr algn="r"/>
              <a:r>
                <a:rPr lang="vi-VN" sz="1200" dirty="0">
                  <a:solidFill>
                    <a:schemeClr val="accent5"/>
                  </a:solidFill>
                  <a:latin typeface="+mn-lt"/>
                  <a:ea typeface="+mn-ea"/>
                  <a:cs typeface="+mn-cs"/>
                </a:rPr>
                <a:t>10 / 25</a:t>
              </a:r>
            </a:p>
          </p:txBody>
        </p:sp>
      </p:grpSp>
    </p:spTree>
  </p:cSld>
  <p:clrMapOvr>
    <a:masterClrMapping/>
  </p:clrMapOvr>
  <p:transition xmlns:p14="http://schemas.microsoft.com/office/powerpoint/2010/main" p14:dur="400">
    <p:fade/>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page-title"/>
          <p:cNvGrpSpPr/>
          <p:nvPr/>
        </p:nvGrpSpPr>
        <p:grpSpPr>
          <a:xfrm>
            <a:off x="669798" y="520700"/>
            <a:ext cx="10836402" cy="955675"/>
            <a:chOff x="669798" y="520700"/>
            <a:chExt cx="10836402" cy="955675"/>
          </a:xfrm>
        </p:grpSpPr>
        <p:sp>
          <p:nvSpPr>
            <p:cNvPr id="2" name="TextBox 2"/>
            <p:cNvSpPr txBox="1"/>
            <p:nvPr/>
          </p:nvSpPr>
          <p:spPr>
            <a:xfrm>
              <a:off x="678942" y="520700"/>
              <a:ext cx="1727530" cy="264033"/>
            </a:xfrm>
            <a:prstGeom prst="rect">
              <a:avLst/>
            </a:prstGeom>
            <a:noFill/>
            <a:ln>
              <a:noFill/>
            </a:ln>
          </p:spPr>
          <p:txBody>
            <a:bodyPr wrap="none" lIns="0" tIns="0" rIns="0" bIns="0" anchor="t" anchorCtr="0">
              <a:spAutoFit/>
            </a:bodyPr>
            <a:lstStyle/>
            <a:p>
              <a:pPr algn="l"/>
              <a:r>
                <a:rPr lang="vi-VN" sz="1350" b="1" dirty="0">
                  <a:solidFill>
                    <a:schemeClr val="accent3"/>
                  </a:solidFill>
                  <a:latin typeface="+mn-lt"/>
                  <a:ea typeface="+mn-ea"/>
                  <a:cs typeface="+mn-cs"/>
                </a:rPr>
                <a:t>03 · COM / SERIAL</a:t>
              </a:r>
            </a:p>
          </p:txBody>
        </p:sp>
        <p:sp>
          <p:nvSpPr>
            <p:cNvPr id="3" name="TextBox 3"/>
            <p:cNvSpPr txBox="1"/>
            <p:nvPr/>
          </p:nvSpPr>
          <p:spPr>
            <a:xfrm>
              <a:off x="669798" y="838200"/>
              <a:ext cx="7681614" cy="616077"/>
            </a:xfrm>
            <a:prstGeom prst="rect">
              <a:avLst/>
            </a:prstGeom>
            <a:noFill/>
            <a:ln>
              <a:noFill/>
            </a:ln>
          </p:spPr>
          <p:txBody>
            <a:bodyPr wrap="none" lIns="0" tIns="0" rIns="0" bIns="0" anchor="t" anchorCtr="0">
              <a:spAutoFit/>
            </a:bodyPr>
            <a:lstStyle/>
            <a:p>
              <a:pPr algn="l"/>
              <a:r>
                <a:rPr lang="vi-VN" sz="3150" b="1" dirty="0">
                  <a:solidFill>
                    <a:schemeClr val="accent1"/>
                  </a:solidFill>
                  <a:latin typeface="+mn-lt"/>
                  <a:ea typeface="+mn-ea"/>
                  <a:cs typeface="+mn-cs"/>
                </a:rPr>
                <a:t>Bước 4 — Mã hóa và truyền lệnh SCPI</a:t>
              </a:r>
            </a:p>
          </p:txBody>
        </p:sp>
        <p:sp>
          <p:nvSpPr>
            <p:cNvPr id="4" name="Line 4"/>
            <p:cNvSpPr/>
            <p:nvPr/>
          </p:nvSpPr>
          <p:spPr>
            <a:xfrm>
              <a:off x="685800" y="1466850"/>
              <a:ext cx="10820400" cy="9525"/>
            </a:xfrm>
            <a:custGeom>
              <a:avLst/>
              <a:gdLst/>
              <a:ahLst/>
              <a:cxnLst/>
              <a:rect l="l" t="t" r="r" b="b"/>
              <a:pathLst>
                <a:path w="10820400" h="9525">
                  <a:moveTo>
                    <a:pt x="0" y="0"/>
                  </a:moveTo>
                  <a:lnTo>
                    <a:pt x="10820400" y="0"/>
                  </a:lnTo>
                </a:path>
              </a:pathLst>
            </a:custGeom>
            <a:noFill/>
            <a:ln w="14288">
              <a:solidFill>
                <a:schemeClr val="accent6"/>
              </a:solidFill>
            </a:ln>
          </p:spPr>
        </p:sp>
      </p:grpSp>
      <p:grpSp>
        <p:nvGrpSpPr>
          <p:cNvPr id="16" name="command-code"/>
          <p:cNvGrpSpPr/>
          <p:nvPr/>
        </p:nvGrpSpPr>
        <p:grpSpPr>
          <a:xfrm>
            <a:off x="676656" y="1930400"/>
            <a:ext cx="5628894" cy="3673983"/>
            <a:chOff x="676656" y="1930400"/>
            <a:chExt cx="5628894" cy="3673983"/>
          </a:xfrm>
        </p:grpSpPr>
        <p:sp>
          <p:nvSpPr>
            <p:cNvPr id="6" name="TextBox 6"/>
            <p:cNvSpPr txBox="1"/>
            <p:nvPr/>
          </p:nvSpPr>
          <p:spPr>
            <a:xfrm>
              <a:off x="678942" y="1930400"/>
              <a:ext cx="2090456" cy="264033"/>
            </a:xfrm>
            <a:prstGeom prst="rect">
              <a:avLst/>
            </a:prstGeom>
            <a:noFill/>
            <a:ln>
              <a:noFill/>
            </a:ln>
          </p:spPr>
          <p:txBody>
            <a:bodyPr wrap="none" lIns="0" tIns="0" rIns="0" bIns="0" anchor="t" anchorCtr="0">
              <a:spAutoFit/>
            </a:bodyPr>
            <a:lstStyle/>
            <a:p>
              <a:pPr algn="l"/>
              <a:r>
                <a:rPr lang="vi-VN" sz="1350" b="1" dirty="0">
                  <a:solidFill>
                    <a:schemeClr val="accent5"/>
                  </a:solidFill>
                  <a:latin typeface="+mn-lt"/>
                  <a:ea typeface="+mn-ea"/>
                  <a:cs typeface="+mn-cs"/>
                </a:rPr>
                <a:t>TEXT → BYTES → SERIAL</a:t>
              </a:r>
            </a:p>
          </p:txBody>
        </p:sp>
        <p:sp>
          <p:nvSpPr>
            <p:cNvPr id="7" name="Rectangle 7"/>
            <p:cNvSpPr/>
            <p:nvPr/>
          </p:nvSpPr>
          <p:spPr>
            <a:xfrm>
              <a:off x="685800" y="2305050"/>
              <a:ext cx="5619750" cy="2305050"/>
            </a:xfrm>
            <a:prstGeom prst="roundRect">
              <a:avLst>
                <a:gd name="adj" fmla="val 2479"/>
              </a:avLst>
            </a:prstGeom>
            <a:solidFill>
              <a:schemeClr val="lt2"/>
            </a:solidFill>
            <a:ln>
              <a:noFill/>
            </a:ln>
          </p:spPr>
        </p:sp>
        <p:sp>
          <p:nvSpPr>
            <p:cNvPr id="8" name="TextBox 8"/>
            <p:cNvSpPr txBox="1"/>
            <p:nvPr/>
          </p:nvSpPr>
          <p:spPr>
            <a:xfrm>
              <a:off x="926592" y="2578100"/>
              <a:ext cx="1741812" cy="264033"/>
            </a:xfrm>
            <a:prstGeom prst="rect">
              <a:avLst/>
            </a:prstGeom>
            <a:noFill/>
            <a:ln>
              <a:noFill/>
            </a:ln>
          </p:spPr>
          <p:txBody>
            <a:bodyPr wrap="none" lIns="0" tIns="0" rIns="0" bIns="0" anchor="t" anchorCtr="0">
              <a:spAutoFit/>
            </a:bodyPr>
            <a:lstStyle/>
            <a:p>
              <a:pPr algn="l"/>
              <a:r>
                <a:rPr lang="vi-VN" sz="1350" dirty="0">
                  <a:solidFill>
                    <a:schemeClr val="accent1"/>
                  </a:solidFill>
                  <a:latin typeface="Consolas"/>
                  <a:ea typeface="Consolas"/>
                  <a:cs typeface="Consolas"/>
                </a:rPr>
                <a:t>command = "*IDN?"</a:t>
              </a:r>
            </a:p>
          </p:txBody>
        </p:sp>
        <p:sp>
          <p:nvSpPr>
            <p:cNvPr id="9" name="TextBox 9"/>
            <p:cNvSpPr txBox="1"/>
            <p:nvPr/>
          </p:nvSpPr>
          <p:spPr>
            <a:xfrm>
              <a:off x="926592" y="2940050"/>
              <a:ext cx="1113225" cy="264033"/>
            </a:xfrm>
            <a:prstGeom prst="rect">
              <a:avLst/>
            </a:prstGeom>
            <a:noFill/>
            <a:ln>
              <a:noFill/>
            </a:ln>
          </p:spPr>
          <p:txBody>
            <a:bodyPr wrap="none" lIns="0" tIns="0" rIns="0" bIns="0" anchor="t" anchorCtr="0">
              <a:spAutoFit/>
            </a:bodyPr>
            <a:lstStyle/>
            <a:p>
              <a:pPr algn="l"/>
              <a:r>
                <a:rPr lang="vi-VN" sz="1350" dirty="0">
                  <a:solidFill>
                    <a:schemeClr val="dk1"/>
                  </a:solidFill>
                  <a:latin typeface="Consolas"/>
                  <a:ea typeface="Consolas"/>
                  <a:cs typeface="Consolas"/>
                </a:rPr>
                <a:t>message = (</a:t>
              </a:r>
            </a:p>
          </p:txBody>
        </p:sp>
        <p:sp>
          <p:nvSpPr>
            <p:cNvPr id="10" name="TextBox 10"/>
            <p:cNvSpPr txBox="1"/>
            <p:nvPr/>
          </p:nvSpPr>
          <p:spPr>
            <a:xfrm>
              <a:off x="1307592" y="3206750"/>
              <a:ext cx="1413091" cy="264033"/>
            </a:xfrm>
            <a:prstGeom prst="rect">
              <a:avLst/>
            </a:prstGeom>
            <a:noFill/>
            <a:ln>
              <a:noFill/>
            </a:ln>
          </p:spPr>
          <p:txBody>
            <a:bodyPr wrap="none" lIns="0" tIns="0" rIns="0" bIns="0" anchor="t" anchorCtr="0">
              <a:spAutoFit/>
            </a:bodyPr>
            <a:lstStyle/>
            <a:p>
              <a:pPr algn="l"/>
              <a:r>
                <a:rPr lang="vi-VN" sz="1350" dirty="0">
                  <a:solidFill>
                    <a:schemeClr val="dk1"/>
                  </a:solidFill>
                  <a:latin typeface="Consolas"/>
                  <a:ea typeface="Consolas"/>
                  <a:cs typeface="Consolas"/>
                </a:rPr>
                <a:t>command + "\r"</a:t>
              </a:r>
            </a:p>
          </p:txBody>
        </p:sp>
        <p:sp>
          <p:nvSpPr>
            <p:cNvPr id="11" name="TextBox 11"/>
            <p:cNvSpPr txBox="1"/>
            <p:nvPr/>
          </p:nvSpPr>
          <p:spPr>
            <a:xfrm>
              <a:off x="926592" y="3473450"/>
              <a:ext cx="1712957" cy="264033"/>
            </a:xfrm>
            <a:prstGeom prst="rect">
              <a:avLst/>
            </a:prstGeom>
            <a:noFill/>
            <a:ln>
              <a:noFill/>
            </a:ln>
          </p:spPr>
          <p:txBody>
            <a:bodyPr wrap="none" lIns="0" tIns="0" rIns="0" bIns="0" anchor="t" anchorCtr="0">
              <a:spAutoFit/>
            </a:bodyPr>
            <a:lstStyle/>
            <a:p>
              <a:pPr algn="l"/>
              <a:r>
                <a:rPr lang="vi-VN" sz="1350" dirty="0">
                  <a:solidFill>
                    <a:schemeClr val="dk1"/>
                  </a:solidFill>
                  <a:latin typeface="Consolas"/>
                  <a:ea typeface="Consolas"/>
                  <a:cs typeface="Consolas"/>
                </a:rPr>
                <a:t>).encode("ascii")</a:t>
              </a:r>
            </a:p>
          </p:txBody>
        </p:sp>
        <p:sp>
          <p:nvSpPr>
            <p:cNvPr id="12" name="TextBox 12"/>
            <p:cNvSpPr txBox="1"/>
            <p:nvPr/>
          </p:nvSpPr>
          <p:spPr>
            <a:xfrm>
              <a:off x="926592" y="3835400"/>
              <a:ext cx="2112778" cy="264033"/>
            </a:xfrm>
            <a:prstGeom prst="rect">
              <a:avLst/>
            </a:prstGeom>
            <a:noFill/>
            <a:ln>
              <a:noFill/>
            </a:ln>
          </p:spPr>
          <p:txBody>
            <a:bodyPr wrap="none" lIns="0" tIns="0" rIns="0" bIns="0" anchor="t" anchorCtr="0">
              <a:spAutoFit/>
            </a:bodyPr>
            <a:lstStyle/>
            <a:p>
              <a:pPr algn="l"/>
              <a:r>
                <a:rPr lang="vi-VN" sz="1350" dirty="0">
                  <a:solidFill>
                    <a:schemeClr val="dk1"/>
                  </a:solidFill>
                  <a:latin typeface="Consolas"/>
                  <a:ea typeface="Consolas"/>
                  <a:cs typeface="Consolas"/>
                </a:rPr>
                <a:t>device.write(message)</a:t>
              </a:r>
            </a:p>
          </p:txBody>
        </p:sp>
        <p:sp>
          <p:nvSpPr>
            <p:cNvPr id="13" name="TextBox 13"/>
            <p:cNvSpPr txBox="1"/>
            <p:nvPr/>
          </p:nvSpPr>
          <p:spPr>
            <a:xfrm>
              <a:off x="926592" y="4159250"/>
              <a:ext cx="1413091" cy="264033"/>
            </a:xfrm>
            <a:prstGeom prst="rect">
              <a:avLst/>
            </a:prstGeom>
            <a:noFill/>
            <a:ln>
              <a:noFill/>
            </a:ln>
          </p:spPr>
          <p:txBody>
            <a:bodyPr wrap="none" lIns="0" tIns="0" rIns="0" bIns="0" anchor="t" anchorCtr="0">
              <a:spAutoFit/>
            </a:bodyPr>
            <a:lstStyle/>
            <a:p>
              <a:pPr algn="l"/>
              <a:r>
                <a:rPr lang="vi-VN" sz="1350" dirty="0">
                  <a:solidFill>
                    <a:schemeClr val="dk1"/>
                  </a:solidFill>
                  <a:latin typeface="Consolas"/>
                  <a:ea typeface="Consolas"/>
                  <a:cs typeface="Consolas"/>
                </a:rPr>
                <a:t>device.flush()</a:t>
              </a:r>
            </a:p>
          </p:txBody>
        </p:sp>
        <p:sp>
          <p:nvSpPr>
            <p:cNvPr id="14" name="TextBox 14"/>
            <p:cNvSpPr txBox="1"/>
            <p:nvPr/>
          </p:nvSpPr>
          <p:spPr>
            <a:xfrm>
              <a:off x="676656" y="4889500"/>
              <a:ext cx="5115925" cy="352044"/>
            </a:xfrm>
            <a:prstGeom prst="rect">
              <a:avLst/>
            </a:prstGeom>
            <a:noFill/>
            <a:ln>
              <a:noFill/>
            </a:ln>
          </p:spPr>
          <p:txBody>
            <a:bodyPr wrap="none" lIns="0" tIns="0" rIns="0" bIns="0" anchor="t" anchorCtr="0">
              <a:spAutoFit/>
            </a:bodyPr>
            <a:lstStyle/>
            <a:p>
              <a:pPr algn="l"/>
              <a:r>
                <a:rPr lang="vi-VN" sz="1800" b="1" dirty="0">
                  <a:solidFill>
                    <a:schemeClr val="accent1"/>
                  </a:solidFill>
                  <a:latin typeface="+mn-lt"/>
                  <a:ea typeface="+mn-ea"/>
                  <a:cs typeface="+mn-cs"/>
                </a:rPr>
                <a:t>Serial truyền byte; mã hóa trước khi gửi.</a:t>
              </a:r>
            </a:p>
          </p:txBody>
        </p:sp>
        <p:sp>
          <p:nvSpPr>
            <p:cNvPr id="15" name="TextBox 15"/>
            <p:cNvSpPr txBox="1"/>
            <p:nvPr/>
          </p:nvSpPr>
          <p:spPr>
            <a:xfrm>
              <a:off x="678942" y="5340350"/>
              <a:ext cx="4486707" cy="264033"/>
            </a:xfrm>
            <a:prstGeom prst="rect">
              <a:avLst/>
            </a:prstGeom>
            <a:noFill/>
            <a:ln>
              <a:noFill/>
            </a:ln>
          </p:spPr>
          <p:txBody>
            <a:bodyPr wrap="none" lIns="0" tIns="0" rIns="0" bIns="0" anchor="t" anchorCtr="0">
              <a:spAutoFit/>
            </a:bodyPr>
            <a:lstStyle/>
            <a:p>
              <a:pPr algn="l"/>
              <a:r>
                <a:rPr lang="vi-VN" sz="1350" dirty="0">
                  <a:solidFill>
                    <a:schemeClr val="accent5"/>
                  </a:solidFill>
                  <a:latin typeface="+mn-lt"/>
                  <a:ea typeface="+mn-ea"/>
                  <a:cs typeface="+mn-cs"/>
                </a:rPr>
                <a:t>Dấu ? biểu thị truy vấn; mọi lệnh kết thúc bằng CR.</a:t>
              </a:r>
            </a:p>
          </p:txBody>
        </p:sp>
      </p:grpSp>
      <p:grpSp>
        <p:nvGrpSpPr>
          <p:cNvPr id="36" name="send-flow"/>
          <p:cNvGrpSpPr/>
          <p:nvPr/>
        </p:nvGrpSpPr>
        <p:grpSpPr>
          <a:xfrm>
            <a:off x="6793992" y="1930400"/>
            <a:ext cx="4106610" cy="3981196"/>
            <a:chOff x="6793992" y="1930400"/>
            <a:chExt cx="4106610" cy="3981196"/>
          </a:xfrm>
        </p:grpSpPr>
        <p:sp>
          <p:nvSpPr>
            <p:cNvPr id="17" name="TextBox 17"/>
            <p:cNvSpPr txBox="1"/>
            <p:nvPr/>
          </p:nvSpPr>
          <p:spPr>
            <a:xfrm>
              <a:off x="6793992" y="1930400"/>
              <a:ext cx="2544112" cy="264033"/>
            </a:xfrm>
            <a:prstGeom prst="rect">
              <a:avLst/>
            </a:prstGeom>
            <a:noFill/>
            <a:ln>
              <a:noFill/>
            </a:ln>
          </p:spPr>
          <p:txBody>
            <a:bodyPr wrap="none" lIns="0" tIns="0" rIns="0" bIns="0" anchor="t" anchorCtr="0">
              <a:spAutoFit/>
            </a:bodyPr>
            <a:lstStyle/>
            <a:p>
              <a:pPr algn="l"/>
              <a:r>
                <a:rPr lang="vi-VN" sz="1350" b="1" dirty="0">
                  <a:solidFill>
                    <a:schemeClr val="accent5"/>
                  </a:solidFill>
                  <a:latin typeface="+mn-lt"/>
                  <a:ea typeface="+mn-ea"/>
                  <a:cs typeface="+mn-cs"/>
                </a:rPr>
                <a:t>BỐN THAO TÁC THEO THỨ TỰ</a:t>
              </a:r>
            </a:p>
          </p:txBody>
        </p:sp>
        <p:sp>
          <p:nvSpPr>
            <p:cNvPr id="18" name="Line 18"/>
            <p:cNvSpPr/>
            <p:nvPr/>
          </p:nvSpPr>
          <p:spPr>
            <a:xfrm>
              <a:off x="7067550" y="2590800"/>
              <a:ext cx="9525" cy="2609850"/>
            </a:xfrm>
            <a:custGeom>
              <a:avLst/>
              <a:gdLst/>
              <a:ahLst/>
              <a:cxnLst/>
              <a:rect l="l" t="t" r="r" b="b"/>
              <a:pathLst>
                <a:path w="9525" h="2609850">
                  <a:moveTo>
                    <a:pt x="0" y="0"/>
                  </a:moveTo>
                  <a:lnTo>
                    <a:pt x="0" y="2609850"/>
                  </a:lnTo>
                </a:path>
              </a:pathLst>
            </a:custGeom>
            <a:noFill/>
            <a:ln w="19050">
              <a:solidFill>
                <a:schemeClr val="accent6"/>
              </a:solidFill>
            </a:ln>
          </p:spPr>
        </p:sp>
        <p:sp>
          <p:nvSpPr>
            <p:cNvPr id="19" name="Ellipse 19"/>
            <p:cNvSpPr/>
            <p:nvPr/>
          </p:nvSpPr>
          <p:spPr>
            <a:xfrm>
              <a:off x="6905625" y="2524125"/>
              <a:ext cx="323850" cy="323850"/>
            </a:xfrm>
            <a:prstGeom prst="ellipse">
              <a:avLst/>
            </a:prstGeom>
            <a:solidFill>
              <a:schemeClr val="accent1"/>
            </a:solidFill>
            <a:ln>
              <a:noFill/>
            </a:ln>
          </p:spPr>
        </p:sp>
        <p:sp>
          <p:nvSpPr>
            <p:cNvPr id="20" name="TextBox 20"/>
            <p:cNvSpPr txBox="1"/>
            <p:nvPr/>
          </p:nvSpPr>
          <p:spPr>
            <a:xfrm>
              <a:off x="7014808" y="2590800"/>
              <a:ext cx="105484" cy="234696"/>
            </a:xfrm>
            <a:prstGeom prst="rect">
              <a:avLst/>
            </a:prstGeom>
            <a:noFill/>
            <a:ln>
              <a:noFill/>
            </a:ln>
          </p:spPr>
          <p:txBody>
            <a:bodyPr wrap="none" lIns="0" tIns="0" rIns="0" bIns="0" anchor="t" anchorCtr="0">
              <a:spAutoFit/>
            </a:bodyPr>
            <a:lstStyle/>
            <a:p>
              <a:pPr algn="ctr"/>
              <a:r>
                <a:rPr lang="vi-VN" sz="1200" b="1" dirty="0">
                  <a:solidFill>
                    <a:srgbClr val="FFFDF7"/>
                  </a:solidFill>
                  <a:latin typeface="+mn-lt"/>
                  <a:ea typeface="+mn-ea"/>
                  <a:cs typeface="+mn-cs"/>
                </a:rPr>
                <a:t>1</a:t>
              </a:r>
            </a:p>
          </p:txBody>
        </p:sp>
        <p:sp>
          <p:nvSpPr>
            <p:cNvPr id="21" name="TextBox 21"/>
            <p:cNvSpPr txBox="1"/>
            <p:nvPr/>
          </p:nvSpPr>
          <p:spPr>
            <a:xfrm>
              <a:off x="7402068" y="2549525"/>
              <a:ext cx="1159440" cy="322707"/>
            </a:xfrm>
            <a:prstGeom prst="rect">
              <a:avLst/>
            </a:prstGeom>
            <a:noFill/>
            <a:ln>
              <a:noFill/>
            </a:ln>
          </p:spPr>
          <p:txBody>
            <a:bodyPr wrap="none" lIns="0" tIns="0" rIns="0" bIns="0" anchor="t" anchorCtr="0">
              <a:spAutoFit/>
            </a:bodyPr>
            <a:lstStyle/>
            <a:p>
              <a:pPr algn="l"/>
              <a:r>
                <a:rPr lang="vi-VN" sz="1650" b="1" dirty="0">
                  <a:solidFill>
                    <a:schemeClr val="dk1"/>
                  </a:solidFill>
                  <a:latin typeface="+mn-lt"/>
                  <a:ea typeface="+mn-ea"/>
                  <a:cs typeface="+mn-cs"/>
                </a:rPr>
                <a:t>Chuỗi SCPI</a:t>
              </a:r>
            </a:p>
          </p:txBody>
        </p:sp>
        <p:sp>
          <p:nvSpPr>
            <p:cNvPr id="22" name="TextBox 22"/>
            <p:cNvSpPr txBox="1"/>
            <p:nvPr/>
          </p:nvSpPr>
          <p:spPr>
            <a:xfrm>
              <a:off x="7403592" y="2873375"/>
              <a:ext cx="753008" cy="264033"/>
            </a:xfrm>
            <a:prstGeom prst="rect">
              <a:avLst/>
            </a:prstGeom>
            <a:noFill/>
            <a:ln>
              <a:noFill/>
            </a:ln>
          </p:spPr>
          <p:txBody>
            <a:bodyPr wrap="none" lIns="0" tIns="0" rIns="0" bIns="0" anchor="t" anchorCtr="0">
              <a:spAutoFit/>
            </a:bodyPr>
            <a:lstStyle/>
            <a:p>
              <a:pPr algn="l"/>
              <a:r>
                <a:rPr lang="vi-VN" sz="1350" dirty="0">
                  <a:solidFill>
                    <a:schemeClr val="accent5"/>
                  </a:solidFill>
                  <a:latin typeface="Consolas"/>
                  <a:ea typeface="Consolas"/>
                  <a:cs typeface="Consolas"/>
                </a:rPr>
                <a:t>"*IDN?"</a:t>
              </a:r>
            </a:p>
          </p:txBody>
        </p:sp>
        <p:sp>
          <p:nvSpPr>
            <p:cNvPr id="23" name="Ellipse 23"/>
            <p:cNvSpPr/>
            <p:nvPr/>
          </p:nvSpPr>
          <p:spPr>
            <a:xfrm>
              <a:off x="6905625" y="3324225"/>
              <a:ext cx="323850" cy="323850"/>
            </a:xfrm>
            <a:prstGeom prst="ellipse">
              <a:avLst/>
            </a:prstGeom>
            <a:solidFill>
              <a:schemeClr val="accent2"/>
            </a:solidFill>
            <a:ln>
              <a:noFill/>
            </a:ln>
          </p:spPr>
        </p:sp>
        <p:sp>
          <p:nvSpPr>
            <p:cNvPr id="24" name="TextBox 24"/>
            <p:cNvSpPr txBox="1"/>
            <p:nvPr/>
          </p:nvSpPr>
          <p:spPr>
            <a:xfrm>
              <a:off x="7014808" y="3390900"/>
              <a:ext cx="105484" cy="234696"/>
            </a:xfrm>
            <a:prstGeom prst="rect">
              <a:avLst/>
            </a:prstGeom>
            <a:noFill/>
            <a:ln>
              <a:noFill/>
            </a:ln>
          </p:spPr>
          <p:txBody>
            <a:bodyPr wrap="none" lIns="0" tIns="0" rIns="0" bIns="0" anchor="t" anchorCtr="0">
              <a:spAutoFit/>
            </a:bodyPr>
            <a:lstStyle/>
            <a:p>
              <a:pPr algn="ctr"/>
              <a:r>
                <a:rPr lang="vi-VN" sz="1200" b="1" dirty="0">
                  <a:solidFill>
                    <a:srgbClr val="FFFDF7"/>
                  </a:solidFill>
                  <a:latin typeface="+mn-lt"/>
                  <a:ea typeface="+mn-ea"/>
                  <a:cs typeface="+mn-cs"/>
                </a:rPr>
                <a:t>2</a:t>
              </a:r>
            </a:p>
          </p:txBody>
        </p:sp>
        <p:sp>
          <p:nvSpPr>
            <p:cNvPr id="25" name="TextBox 25"/>
            <p:cNvSpPr txBox="1"/>
            <p:nvPr/>
          </p:nvSpPr>
          <p:spPr>
            <a:xfrm>
              <a:off x="7402068" y="3349625"/>
              <a:ext cx="2566956" cy="322707"/>
            </a:xfrm>
            <a:prstGeom prst="rect">
              <a:avLst/>
            </a:prstGeom>
            <a:noFill/>
            <a:ln>
              <a:noFill/>
            </a:ln>
          </p:spPr>
          <p:txBody>
            <a:bodyPr wrap="none" lIns="0" tIns="0" rIns="0" bIns="0" anchor="t" anchorCtr="0">
              <a:spAutoFit/>
            </a:bodyPr>
            <a:lstStyle/>
            <a:p>
              <a:pPr algn="l"/>
              <a:r>
                <a:rPr lang="vi-VN" sz="1650" b="1" dirty="0">
                  <a:solidFill>
                    <a:schemeClr val="dk1"/>
                  </a:solidFill>
                  <a:latin typeface="+mn-lt"/>
                  <a:ea typeface="+mn-ea"/>
                  <a:cs typeface="+mn-cs"/>
                </a:rPr>
                <a:t>Nối ký tự kết thúc lệnh</a:t>
              </a:r>
            </a:p>
          </p:txBody>
        </p:sp>
        <p:sp>
          <p:nvSpPr>
            <p:cNvPr id="26" name="TextBox 26"/>
            <p:cNvSpPr txBox="1"/>
            <p:nvPr/>
          </p:nvSpPr>
          <p:spPr>
            <a:xfrm>
              <a:off x="7403592" y="3673475"/>
              <a:ext cx="1435722" cy="264033"/>
            </a:xfrm>
            <a:prstGeom prst="rect">
              <a:avLst/>
            </a:prstGeom>
            <a:noFill/>
            <a:ln>
              <a:noFill/>
            </a:ln>
          </p:spPr>
          <p:txBody>
            <a:bodyPr wrap="none" lIns="0" tIns="0" rIns="0" bIns="0" anchor="t" anchorCtr="0">
              <a:spAutoFit/>
            </a:bodyPr>
            <a:lstStyle/>
            <a:p>
              <a:pPr algn="l"/>
              <a:r>
                <a:rPr lang="vi-VN" sz="1350" dirty="0">
                  <a:solidFill>
                    <a:schemeClr val="accent2"/>
                  </a:solidFill>
                  <a:latin typeface="Consolas"/>
                  <a:ea typeface="Consolas"/>
                  <a:cs typeface="Consolas"/>
                </a:rPr>
                <a:t>"\r" = byte CR</a:t>
              </a:r>
            </a:p>
          </p:txBody>
        </p:sp>
        <p:sp>
          <p:nvSpPr>
            <p:cNvPr id="27" name="Ellipse 27"/>
            <p:cNvSpPr/>
            <p:nvPr/>
          </p:nvSpPr>
          <p:spPr>
            <a:xfrm>
              <a:off x="6905625" y="4124325"/>
              <a:ext cx="323850" cy="323850"/>
            </a:xfrm>
            <a:prstGeom prst="ellipse">
              <a:avLst/>
            </a:prstGeom>
            <a:solidFill>
              <a:schemeClr val="accent1"/>
            </a:solidFill>
            <a:ln>
              <a:noFill/>
            </a:ln>
          </p:spPr>
        </p:sp>
        <p:sp>
          <p:nvSpPr>
            <p:cNvPr id="28" name="TextBox 28"/>
            <p:cNvSpPr txBox="1"/>
            <p:nvPr/>
          </p:nvSpPr>
          <p:spPr>
            <a:xfrm>
              <a:off x="7014808" y="4191000"/>
              <a:ext cx="105484" cy="234696"/>
            </a:xfrm>
            <a:prstGeom prst="rect">
              <a:avLst/>
            </a:prstGeom>
            <a:noFill/>
            <a:ln>
              <a:noFill/>
            </a:ln>
          </p:spPr>
          <p:txBody>
            <a:bodyPr wrap="none" lIns="0" tIns="0" rIns="0" bIns="0" anchor="t" anchorCtr="0">
              <a:spAutoFit/>
            </a:bodyPr>
            <a:lstStyle/>
            <a:p>
              <a:pPr algn="ctr"/>
              <a:r>
                <a:rPr lang="vi-VN" sz="1200" b="1" dirty="0">
                  <a:solidFill>
                    <a:srgbClr val="FFFDF7"/>
                  </a:solidFill>
                  <a:latin typeface="+mn-lt"/>
                  <a:ea typeface="+mn-ea"/>
                  <a:cs typeface="+mn-cs"/>
                </a:rPr>
                <a:t>3</a:t>
              </a:r>
            </a:p>
          </p:txBody>
        </p:sp>
        <p:sp>
          <p:nvSpPr>
            <p:cNvPr id="29" name="TextBox 29"/>
            <p:cNvSpPr txBox="1"/>
            <p:nvPr/>
          </p:nvSpPr>
          <p:spPr>
            <a:xfrm>
              <a:off x="7402068" y="4149725"/>
              <a:ext cx="1415435" cy="322707"/>
            </a:xfrm>
            <a:prstGeom prst="rect">
              <a:avLst/>
            </a:prstGeom>
            <a:noFill/>
            <a:ln>
              <a:noFill/>
            </a:ln>
          </p:spPr>
          <p:txBody>
            <a:bodyPr wrap="none" lIns="0" tIns="0" rIns="0" bIns="0" anchor="t" anchorCtr="0">
              <a:spAutoFit/>
            </a:bodyPr>
            <a:lstStyle/>
            <a:p>
              <a:pPr algn="l"/>
              <a:r>
                <a:rPr lang="vi-VN" sz="1650" b="1" dirty="0">
                  <a:solidFill>
                    <a:schemeClr val="dk1"/>
                  </a:solidFill>
                  <a:latin typeface="+mn-lt"/>
                  <a:ea typeface="+mn-ea"/>
                  <a:cs typeface="+mn-cs"/>
                </a:rPr>
                <a:t>Mã hóa ASCII</a:t>
              </a:r>
            </a:p>
          </p:txBody>
        </p:sp>
        <p:sp>
          <p:nvSpPr>
            <p:cNvPr id="30" name="TextBox 30"/>
            <p:cNvSpPr txBox="1"/>
            <p:nvPr/>
          </p:nvSpPr>
          <p:spPr>
            <a:xfrm>
              <a:off x="7403592" y="4473575"/>
              <a:ext cx="1613002" cy="264033"/>
            </a:xfrm>
            <a:prstGeom prst="rect">
              <a:avLst/>
            </a:prstGeom>
            <a:noFill/>
            <a:ln>
              <a:noFill/>
            </a:ln>
          </p:spPr>
          <p:txBody>
            <a:bodyPr wrap="none" lIns="0" tIns="0" rIns="0" bIns="0" anchor="t" anchorCtr="0">
              <a:spAutoFit/>
            </a:bodyPr>
            <a:lstStyle/>
            <a:p>
              <a:pPr algn="l"/>
              <a:r>
                <a:rPr lang="vi-VN" sz="1350" dirty="0">
                  <a:solidFill>
                    <a:schemeClr val="accent5"/>
                  </a:solidFill>
                  <a:latin typeface="Consolas"/>
                  <a:ea typeface="Consolas"/>
                  <a:cs typeface="Consolas"/>
                </a:rPr>
                <a:t>.encode("ascii")</a:t>
              </a:r>
            </a:p>
          </p:txBody>
        </p:sp>
        <p:sp>
          <p:nvSpPr>
            <p:cNvPr id="31" name="Ellipse 31"/>
            <p:cNvSpPr/>
            <p:nvPr/>
          </p:nvSpPr>
          <p:spPr>
            <a:xfrm>
              <a:off x="6905625" y="4924425"/>
              <a:ext cx="323850" cy="323850"/>
            </a:xfrm>
            <a:prstGeom prst="ellipse">
              <a:avLst/>
            </a:prstGeom>
            <a:solidFill>
              <a:schemeClr val="accent3"/>
            </a:solidFill>
            <a:ln>
              <a:noFill/>
            </a:ln>
          </p:spPr>
        </p:sp>
        <p:sp>
          <p:nvSpPr>
            <p:cNvPr id="32" name="TextBox 32"/>
            <p:cNvSpPr txBox="1"/>
            <p:nvPr/>
          </p:nvSpPr>
          <p:spPr>
            <a:xfrm>
              <a:off x="7014808" y="4991100"/>
              <a:ext cx="105484" cy="234696"/>
            </a:xfrm>
            <a:prstGeom prst="rect">
              <a:avLst/>
            </a:prstGeom>
            <a:noFill/>
            <a:ln>
              <a:noFill/>
            </a:ln>
          </p:spPr>
          <p:txBody>
            <a:bodyPr wrap="none" lIns="0" tIns="0" rIns="0" bIns="0" anchor="t" anchorCtr="0">
              <a:spAutoFit/>
            </a:bodyPr>
            <a:lstStyle/>
            <a:p>
              <a:pPr algn="ctr"/>
              <a:r>
                <a:rPr lang="vi-VN" sz="1200" b="1" dirty="0">
                  <a:solidFill>
                    <a:srgbClr val="FFFDF7"/>
                  </a:solidFill>
                  <a:latin typeface="+mn-lt"/>
                  <a:ea typeface="+mn-ea"/>
                  <a:cs typeface="+mn-cs"/>
                </a:rPr>
                <a:t>4</a:t>
              </a:r>
            </a:p>
          </p:txBody>
        </p:sp>
        <p:sp>
          <p:nvSpPr>
            <p:cNvPr id="33" name="TextBox 33"/>
            <p:cNvSpPr txBox="1"/>
            <p:nvPr/>
          </p:nvSpPr>
          <p:spPr>
            <a:xfrm>
              <a:off x="7402068" y="4949825"/>
              <a:ext cx="2209118" cy="322707"/>
            </a:xfrm>
            <a:prstGeom prst="rect">
              <a:avLst/>
            </a:prstGeom>
            <a:noFill/>
            <a:ln>
              <a:noFill/>
            </a:ln>
          </p:spPr>
          <p:txBody>
            <a:bodyPr wrap="none" lIns="0" tIns="0" rIns="0" bIns="0" anchor="t" anchorCtr="0">
              <a:spAutoFit/>
            </a:bodyPr>
            <a:lstStyle/>
            <a:p>
              <a:pPr algn="l"/>
              <a:r>
                <a:rPr lang="vi-VN" sz="1650" b="1" dirty="0">
                  <a:solidFill>
                    <a:schemeClr val="dk1"/>
                  </a:solidFill>
                  <a:latin typeface="+mn-lt"/>
                  <a:ea typeface="+mn-ea"/>
                  <a:cs typeface="+mn-cs"/>
                </a:rPr>
                <a:t>write() rồi flush()</a:t>
              </a:r>
            </a:p>
          </p:txBody>
        </p:sp>
        <p:sp>
          <p:nvSpPr>
            <p:cNvPr id="34" name="TextBox 34"/>
            <p:cNvSpPr txBox="1"/>
            <p:nvPr/>
          </p:nvSpPr>
          <p:spPr>
            <a:xfrm>
              <a:off x="7403592" y="5273675"/>
              <a:ext cx="2246295" cy="264033"/>
            </a:xfrm>
            <a:prstGeom prst="rect">
              <a:avLst/>
            </a:prstGeom>
            <a:noFill/>
            <a:ln>
              <a:noFill/>
            </a:ln>
          </p:spPr>
          <p:txBody>
            <a:bodyPr wrap="none" lIns="0" tIns="0" rIns="0" bIns="0" anchor="t" anchorCtr="0">
              <a:spAutoFit/>
            </a:bodyPr>
            <a:lstStyle/>
            <a:p>
              <a:pPr algn="l"/>
              <a:r>
                <a:rPr lang="vi-VN" sz="1350" dirty="0">
                  <a:solidFill>
                    <a:schemeClr val="accent5"/>
                  </a:solidFill>
                  <a:latin typeface="+mn-lt"/>
                  <a:ea typeface="+mn-ea"/>
                  <a:cs typeface="+mn-cs"/>
                </a:rPr>
                <a:t>Đẩy bytes ra cổng serial.</a:t>
              </a:r>
            </a:p>
          </p:txBody>
        </p:sp>
        <p:sp>
          <p:nvSpPr>
            <p:cNvPr id="35" name="TextBox 35"/>
            <p:cNvSpPr txBox="1"/>
            <p:nvPr/>
          </p:nvSpPr>
          <p:spPr>
            <a:xfrm>
              <a:off x="6794754" y="5676900"/>
              <a:ext cx="4105848" cy="234696"/>
            </a:xfrm>
            <a:prstGeom prst="rect">
              <a:avLst/>
            </a:prstGeom>
            <a:noFill/>
            <a:ln>
              <a:noFill/>
            </a:ln>
          </p:spPr>
          <p:txBody>
            <a:bodyPr wrap="none" lIns="0" tIns="0" rIns="0" bIns="0" anchor="t" anchorCtr="0">
              <a:spAutoFit/>
            </a:bodyPr>
            <a:lstStyle/>
            <a:p>
              <a:pPr algn="l"/>
              <a:r>
                <a:rPr lang="vi-VN" sz="1200" b="1" dirty="0">
                  <a:solidFill>
                    <a:schemeClr val="accent2"/>
                  </a:solidFill>
                  <a:latin typeface="+mn-lt"/>
                  <a:ea typeface="+mn-ea"/>
                  <a:cs typeface="+mn-cs"/>
                </a:rPr>
                <a:t>Gửi lệnh và đọc phản hồi là hai thao tác riêng biệt.</a:t>
              </a:r>
            </a:p>
          </p:txBody>
        </p:sp>
      </p:grpSp>
      <p:grpSp>
        <p:nvGrpSpPr>
          <p:cNvPr id="39" name="page-footer"/>
          <p:cNvGrpSpPr/>
          <p:nvPr/>
        </p:nvGrpSpPr>
        <p:grpSpPr>
          <a:xfrm>
            <a:off x="679704" y="6429375"/>
            <a:ext cx="10832592" cy="234696"/>
            <a:chOff x="679704" y="6429375"/>
            <a:chExt cx="10832592" cy="234696"/>
          </a:xfrm>
        </p:grpSpPr>
        <p:sp>
          <p:nvSpPr>
            <p:cNvPr id="37" name="TextBox 37"/>
            <p:cNvSpPr txBox="1"/>
            <p:nvPr/>
          </p:nvSpPr>
          <p:spPr>
            <a:xfrm>
              <a:off x="679704" y="6429375"/>
              <a:ext cx="2461565" cy="234696"/>
            </a:xfrm>
            <a:prstGeom prst="rect">
              <a:avLst/>
            </a:prstGeom>
            <a:noFill/>
            <a:ln>
              <a:noFill/>
            </a:ln>
          </p:spPr>
          <p:txBody>
            <a:bodyPr wrap="none" lIns="0" tIns="0" rIns="0" bIns="0" anchor="t" anchorCtr="0">
              <a:spAutoFit/>
            </a:bodyPr>
            <a:lstStyle/>
            <a:p>
              <a:pPr algn="l"/>
              <a:r>
                <a:rPr lang="vi-VN" sz="1200" dirty="0">
                  <a:solidFill>
                    <a:schemeClr val="accent5"/>
                  </a:solidFill>
                  <a:latin typeface="+mn-lt"/>
                  <a:ea typeface="+mn-ea"/>
                  <a:cs typeface="+mn-cs"/>
                </a:rPr>
                <a:t>SERIAL · ENCODE TRƯỚC KHI GỬI</a:t>
              </a:r>
            </a:p>
          </p:txBody>
        </p:sp>
        <p:sp>
          <p:nvSpPr>
            <p:cNvPr id="38" name="TextBox 38"/>
            <p:cNvSpPr txBox="1"/>
            <p:nvPr/>
          </p:nvSpPr>
          <p:spPr>
            <a:xfrm>
              <a:off x="10958932" y="6429375"/>
              <a:ext cx="553364" cy="234696"/>
            </a:xfrm>
            <a:prstGeom prst="rect">
              <a:avLst/>
            </a:prstGeom>
            <a:noFill/>
            <a:ln>
              <a:noFill/>
            </a:ln>
          </p:spPr>
          <p:txBody>
            <a:bodyPr wrap="none" lIns="0" tIns="0" rIns="0" bIns="0" anchor="t" anchorCtr="0">
              <a:spAutoFit/>
            </a:bodyPr>
            <a:lstStyle/>
            <a:p>
              <a:pPr algn="r"/>
              <a:r>
                <a:rPr lang="vi-VN" sz="1200" dirty="0">
                  <a:solidFill>
                    <a:schemeClr val="accent5"/>
                  </a:solidFill>
                  <a:latin typeface="+mn-lt"/>
                  <a:ea typeface="+mn-ea"/>
                  <a:cs typeface="+mn-cs"/>
                </a:rPr>
                <a:t>11 / 25</a:t>
              </a:r>
            </a:p>
          </p:txBody>
        </p:sp>
      </p:grpSp>
    </p:spTree>
  </p:cSld>
  <p:clrMapOvr>
    <a:masterClrMapping/>
  </p:clrMapOvr>
  <p:transition xmlns:p14="http://schemas.microsoft.com/office/powerpoint/2010/main" p14:dur="400">
    <p:fade/>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page-title"/>
          <p:cNvGrpSpPr/>
          <p:nvPr/>
        </p:nvGrpSpPr>
        <p:grpSpPr>
          <a:xfrm>
            <a:off x="669798" y="520700"/>
            <a:ext cx="10836402" cy="955675"/>
            <a:chOff x="669798" y="520700"/>
            <a:chExt cx="10836402" cy="955675"/>
          </a:xfrm>
        </p:grpSpPr>
        <p:sp>
          <p:nvSpPr>
            <p:cNvPr id="2" name="TextBox 2"/>
            <p:cNvSpPr txBox="1"/>
            <p:nvPr/>
          </p:nvSpPr>
          <p:spPr>
            <a:xfrm>
              <a:off x="678942" y="520700"/>
              <a:ext cx="1727530" cy="264033"/>
            </a:xfrm>
            <a:prstGeom prst="rect">
              <a:avLst/>
            </a:prstGeom>
            <a:noFill/>
            <a:ln>
              <a:noFill/>
            </a:ln>
          </p:spPr>
          <p:txBody>
            <a:bodyPr wrap="none" lIns="0" tIns="0" rIns="0" bIns="0" anchor="t" anchorCtr="0">
              <a:spAutoFit/>
            </a:bodyPr>
            <a:lstStyle/>
            <a:p>
              <a:pPr algn="l"/>
              <a:r>
                <a:rPr lang="vi-VN" sz="1350" b="1" dirty="0">
                  <a:solidFill>
                    <a:schemeClr val="accent3"/>
                  </a:solidFill>
                  <a:latin typeface="+mn-lt"/>
                  <a:ea typeface="+mn-ea"/>
                  <a:cs typeface="+mn-cs"/>
                </a:rPr>
                <a:t>03 · COM / SERIAL</a:t>
              </a:r>
            </a:p>
          </p:txBody>
        </p:sp>
        <p:sp>
          <p:nvSpPr>
            <p:cNvPr id="3" name="TextBox 3"/>
            <p:cNvSpPr txBox="1"/>
            <p:nvPr/>
          </p:nvSpPr>
          <p:spPr>
            <a:xfrm>
              <a:off x="669798" y="838200"/>
              <a:ext cx="10518387" cy="616077"/>
            </a:xfrm>
            <a:prstGeom prst="rect">
              <a:avLst/>
            </a:prstGeom>
            <a:noFill/>
            <a:ln>
              <a:noFill/>
            </a:ln>
          </p:spPr>
          <p:txBody>
            <a:bodyPr wrap="none" lIns="0" tIns="0" rIns="0" bIns="0" anchor="t" anchorCtr="0">
              <a:spAutoFit/>
            </a:bodyPr>
            <a:lstStyle/>
            <a:p>
              <a:pPr algn="l"/>
              <a:r>
                <a:rPr lang="vi-VN" sz="3150" b="1" dirty="0">
                  <a:solidFill>
                    <a:schemeClr val="accent1"/>
                  </a:solidFill>
                  <a:latin typeface="+mn-lt"/>
                  <a:ea typeface="+mn-ea"/>
                  <a:cs typeface="+mn-cs"/>
                </a:rPr>
                <a:t>Bước 5 — Đọc và giải mã phản hồi kết thúc bằng CR</a:t>
              </a:r>
            </a:p>
          </p:txBody>
        </p:sp>
        <p:sp>
          <p:nvSpPr>
            <p:cNvPr id="4" name="Line 4"/>
            <p:cNvSpPr/>
            <p:nvPr/>
          </p:nvSpPr>
          <p:spPr>
            <a:xfrm>
              <a:off x="685800" y="1466850"/>
              <a:ext cx="10820400" cy="9525"/>
            </a:xfrm>
            <a:custGeom>
              <a:avLst/>
              <a:gdLst/>
              <a:ahLst/>
              <a:cxnLst/>
              <a:rect l="l" t="t" r="r" b="b"/>
              <a:pathLst>
                <a:path w="10820400" h="9525">
                  <a:moveTo>
                    <a:pt x="0" y="0"/>
                  </a:moveTo>
                  <a:lnTo>
                    <a:pt x="10820400" y="0"/>
                  </a:lnTo>
                </a:path>
              </a:pathLst>
            </a:custGeom>
            <a:noFill/>
            <a:ln w="14288">
              <a:solidFill>
                <a:schemeClr val="accent6"/>
              </a:solidFill>
            </a:ln>
          </p:spPr>
        </p:sp>
      </p:grpSp>
      <p:grpSp>
        <p:nvGrpSpPr>
          <p:cNvPr id="16" name="read-response-code"/>
          <p:cNvGrpSpPr/>
          <p:nvPr/>
        </p:nvGrpSpPr>
        <p:grpSpPr>
          <a:xfrm>
            <a:off x="678180" y="1930400"/>
            <a:ext cx="5913120" cy="3804920"/>
            <a:chOff x="678180" y="1930400"/>
            <a:chExt cx="5913120" cy="3804920"/>
          </a:xfrm>
        </p:grpSpPr>
        <p:sp>
          <p:nvSpPr>
            <p:cNvPr id="6" name="TextBox 6"/>
            <p:cNvSpPr txBox="1"/>
            <p:nvPr/>
          </p:nvSpPr>
          <p:spPr>
            <a:xfrm>
              <a:off x="678942" y="1930400"/>
              <a:ext cx="2070293" cy="264033"/>
            </a:xfrm>
            <a:prstGeom prst="rect">
              <a:avLst/>
            </a:prstGeom>
            <a:noFill/>
            <a:ln>
              <a:noFill/>
            </a:ln>
          </p:spPr>
          <p:txBody>
            <a:bodyPr wrap="none" lIns="0" tIns="0" rIns="0" bIns="0" anchor="t" anchorCtr="0">
              <a:spAutoFit/>
            </a:bodyPr>
            <a:lstStyle/>
            <a:p>
              <a:pPr algn="l"/>
              <a:r>
                <a:rPr lang="vi-VN" sz="1350" b="1" dirty="0">
                  <a:solidFill>
                    <a:schemeClr val="accent5"/>
                  </a:solidFill>
                  <a:latin typeface="+mn-lt"/>
                  <a:ea typeface="+mn-ea"/>
                  <a:cs typeface="+mn-cs"/>
                </a:rPr>
                <a:t>BYTES → TEXT AN TOÀN</a:t>
              </a:r>
            </a:p>
          </p:txBody>
        </p:sp>
        <p:sp>
          <p:nvSpPr>
            <p:cNvPr id="7" name="Rectangle 7"/>
            <p:cNvSpPr/>
            <p:nvPr/>
          </p:nvSpPr>
          <p:spPr>
            <a:xfrm>
              <a:off x="685800" y="2305050"/>
              <a:ext cx="5905500" cy="2895600"/>
            </a:xfrm>
            <a:prstGeom prst="roundRect">
              <a:avLst>
                <a:gd name="adj" fmla="val 1974"/>
              </a:avLst>
            </a:prstGeom>
            <a:solidFill>
              <a:schemeClr val="lt2"/>
            </a:solidFill>
            <a:ln>
              <a:noFill/>
            </a:ln>
          </p:spPr>
        </p:sp>
        <p:sp>
          <p:nvSpPr>
            <p:cNvPr id="8" name="TextBox 8"/>
            <p:cNvSpPr txBox="1"/>
            <p:nvPr/>
          </p:nvSpPr>
          <p:spPr>
            <a:xfrm>
              <a:off x="907542" y="2520950"/>
              <a:ext cx="3012376" cy="264033"/>
            </a:xfrm>
            <a:prstGeom prst="rect">
              <a:avLst/>
            </a:prstGeom>
            <a:noFill/>
            <a:ln>
              <a:noFill/>
            </a:ln>
          </p:spPr>
          <p:txBody>
            <a:bodyPr wrap="none" lIns="0" tIns="0" rIns="0" bIns="0" anchor="t" anchorCtr="0">
              <a:spAutoFit/>
            </a:bodyPr>
            <a:lstStyle/>
            <a:p>
              <a:pPr algn="l"/>
              <a:r>
                <a:rPr lang="vi-VN" sz="1350" dirty="0">
                  <a:solidFill>
                    <a:schemeClr val="accent1"/>
                  </a:solidFill>
                  <a:latin typeface="Consolas"/>
                  <a:ea typeface="Consolas"/>
                  <a:cs typeface="Consolas"/>
                </a:rPr>
                <a:t>raw = device.read_until(b"\r")</a:t>
              </a:r>
            </a:p>
          </p:txBody>
        </p:sp>
        <p:sp>
          <p:nvSpPr>
            <p:cNvPr id="9" name="TextBox 9"/>
            <p:cNvSpPr txBox="1"/>
            <p:nvPr/>
          </p:nvSpPr>
          <p:spPr>
            <a:xfrm>
              <a:off x="907542" y="2901950"/>
              <a:ext cx="1812912" cy="264033"/>
            </a:xfrm>
            <a:prstGeom prst="rect">
              <a:avLst/>
            </a:prstGeom>
            <a:noFill/>
            <a:ln>
              <a:noFill/>
            </a:ln>
          </p:spPr>
          <p:txBody>
            <a:bodyPr wrap="none" lIns="0" tIns="0" rIns="0" bIns="0" anchor="t" anchorCtr="0">
              <a:spAutoFit/>
            </a:bodyPr>
            <a:lstStyle/>
            <a:p>
              <a:pPr algn="l"/>
              <a:r>
                <a:rPr lang="vi-VN" sz="1350" dirty="0">
                  <a:solidFill>
                    <a:schemeClr val="dk1"/>
                  </a:solidFill>
                  <a:latin typeface="Consolas"/>
                  <a:ea typeface="Consolas"/>
                  <a:cs typeface="Consolas"/>
                </a:rPr>
                <a:t>text = raw.decode(</a:t>
              </a:r>
            </a:p>
          </p:txBody>
        </p:sp>
        <p:sp>
          <p:nvSpPr>
            <p:cNvPr id="10" name="TextBox 10"/>
            <p:cNvSpPr txBox="1"/>
            <p:nvPr/>
          </p:nvSpPr>
          <p:spPr>
            <a:xfrm>
              <a:off x="1288542" y="3187700"/>
              <a:ext cx="3412198" cy="264033"/>
            </a:xfrm>
            <a:prstGeom prst="rect">
              <a:avLst/>
            </a:prstGeom>
            <a:noFill/>
            <a:ln>
              <a:noFill/>
            </a:ln>
          </p:spPr>
          <p:txBody>
            <a:bodyPr wrap="none" lIns="0" tIns="0" rIns="0" bIns="0" anchor="t" anchorCtr="0">
              <a:spAutoFit/>
            </a:bodyPr>
            <a:lstStyle/>
            <a:p>
              <a:pPr algn="l"/>
              <a:r>
                <a:rPr lang="vi-VN" sz="1350" dirty="0">
                  <a:solidFill>
                    <a:schemeClr val="dk1"/>
                  </a:solidFill>
                  <a:latin typeface="Consolas"/>
                  <a:ea typeface="Consolas"/>
                  <a:cs typeface="Consolas"/>
                </a:rPr>
                <a:t>"ascii", errors="replace").strip()</a:t>
              </a:r>
            </a:p>
          </p:txBody>
        </p:sp>
        <p:sp>
          <p:nvSpPr>
            <p:cNvPr id="11" name="TextBox 11"/>
            <p:cNvSpPr txBox="1"/>
            <p:nvPr/>
          </p:nvSpPr>
          <p:spPr>
            <a:xfrm>
              <a:off x="907542" y="3587750"/>
              <a:ext cx="813359" cy="264033"/>
            </a:xfrm>
            <a:prstGeom prst="rect">
              <a:avLst/>
            </a:prstGeom>
            <a:noFill/>
            <a:ln>
              <a:noFill/>
            </a:ln>
          </p:spPr>
          <p:txBody>
            <a:bodyPr wrap="none" lIns="0" tIns="0" rIns="0" bIns="0" anchor="t" anchorCtr="0">
              <a:spAutoFit/>
            </a:bodyPr>
            <a:lstStyle/>
            <a:p>
              <a:pPr algn="l"/>
              <a:r>
                <a:rPr lang="vi-VN" sz="1350" dirty="0">
                  <a:solidFill>
                    <a:schemeClr val="dk1"/>
                  </a:solidFill>
                  <a:latin typeface="Consolas"/>
                  <a:ea typeface="Consolas"/>
                  <a:cs typeface="Consolas"/>
                </a:rPr>
                <a:t>if text:</a:t>
              </a:r>
            </a:p>
          </p:txBody>
        </p:sp>
        <p:sp>
          <p:nvSpPr>
            <p:cNvPr id="12" name="TextBox 12"/>
            <p:cNvSpPr txBox="1"/>
            <p:nvPr/>
          </p:nvSpPr>
          <p:spPr>
            <a:xfrm>
              <a:off x="1288542" y="3873500"/>
              <a:ext cx="2421131" cy="264033"/>
            </a:xfrm>
            <a:prstGeom prst="rect">
              <a:avLst/>
            </a:prstGeom>
            <a:noFill/>
            <a:ln>
              <a:noFill/>
            </a:ln>
          </p:spPr>
          <p:txBody>
            <a:bodyPr wrap="none" lIns="0" tIns="0" rIns="0" bIns="0" anchor="t" anchorCtr="0">
              <a:spAutoFit/>
            </a:bodyPr>
            <a:lstStyle/>
            <a:p>
              <a:pPr algn="l"/>
              <a:r>
                <a:rPr lang="vi-VN" sz="1350" dirty="0">
                  <a:solidFill>
                    <a:schemeClr val="dk1"/>
                  </a:solidFill>
                  <a:latin typeface="Consolas"/>
                  <a:ea typeface="Consolas"/>
                  <a:cs typeface="Consolas"/>
                </a:rPr>
                <a:t>print("Phan hoi:", text)</a:t>
              </a:r>
            </a:p>
          </p:txBody>
        </p:sp>
        <p:sp>
          <p:nvSpPr>
            <p:cNvPr id="13" name="TextBox 13"/>
            <p:cNvSpPr txBox="1"/>
            <p:nvPr/>
          </p:nvSpPr>
          <p:spPr>
            <a:xfrm>
              <a:off x="907542" y="4273550"/>
              <a:ext cx="513493" cy="264033"/>
            </a:xfrm>
            <a:prstGeom prst="rect">
              <a:avLst/>
            </a:prstGeom>
            <a:noFill/>
            <a:ln>
              <a:noFill/>
            </a:ln>
          </p:spPr>
          <p:txBody>
            <a:bodyPr wrap="none" lIns="0" tIns="0" rIns="0" bIns="0" anchor="t" anchorCtr="0">
              <a:spAutoFit/>
            </a:bodyPr>
            <a:lstStyle/>
            <a:p>
              <a:pPr algn="l"/>
              <a:r>
                <a:rPr lang="vi-VN" sz="1350" dirty="0">
                  <a:solidFill>
                    <a:schemeClr val="dk1"/>
                  </a:solidFill>
                  <a:latin typeface="Consolas"/>
                  <a:ea typeface="Consolas"/>
                  <a:cs typeface="Consolas"/>
                </a:rPr>
                <a:t>else:</a:t>
              </a:r>
            </a:p>
          </p:txBody>
        </p:sp>
        <p:sp>
          <p:nvSpPr>
            <p:cNvPr id="14" name="TextBox 14"/>
            <p:cNvSpPr txBox="1"/>
            <p:nvPr/>
          </p:nvSpPr>
          <p:spPr>
            <a:xfrm>
              <a:off x="1288542" y="4559300"/>
              <a:ext cx="2620297" cy="264033"/>
            </a:xfrm>
            <a:prstGeom prst="rect">
              <a:avLst/>
            </a:prstGeom>
            <a:noFill/>
            <a:ln>
              <a:noFill/>
            </a:ln>
          </p:spPr>
          <p:txBody>
            <a:bodyPr wrap="none" lIns="0" tIns="0" rIns="0" bIns="0" anchor="t" anchorCtr="0">
              <a:spAutoFit/>
            </a:bodyPr>
            <a:lstStyle/>
            <a:p>
              <a:pPr algn="l"/>
              <a:r>
                <a:rPr lang="vi-VN" sz="1350" dirty="0">
                  <a:solidFill>
                    <a:schemeClr val="dk1"/>
                  </a:solidFill>
                  <a:latin typeface="Consolas"/>
                  <a:ea typeface="Consolas"/>
                  <a:cs typeface="Consolas"/>
                </a:rPr>
                <a:t>print("Het thoi gian cho")</a:t>
              </a:r>
            </a:p>
          </p:txBody>
        </p:sp>
        <p:sp>
          <p:nvSpPr>
            <p:cNvPr id="15" name="TextBox 15"/>
            <p:cNvSpPr txBox="1"/>
            <p:nvPr/>
          </p:nvSpPr>
          <p:spPr>
            <a:xfrm>
              <a:off x="678180" y="5441950"/>
              <a:ext cx="5683800" cy="293370"/>
            </a:xfrm>
            <a:prstGeom prst="rect">
              <a:avLst/>
            </a:prstGeom>
            <a:noFill/>
            <a:ln>
              <a:noFill/>
            </a:ln>
          </p:spPr>
          <p:txBody>
            <a:bodyPr wrap="none" lIns="0" tIns="0" rIns="0" bIns="0" anchor="t" anchorCtr="0">
              <a:spAutoFit/>
            </a:bodyPr>
            <a:lstStyle/>
            <a:p>
              <a:pPr algn="l"/>
              <a:r>
                <a:rPr lang="vi-VN" sz="1500" b="1" dirty="0">
                  <a:solidFill>
                    <a:schemeClr val="accent2"/>
                  </a:solidFill>
                  <a:latin typeface="+mn-lt"/>
                  <a:ea typeface="+mn-ea"/>
                  <a:cs typeface="+mn-cs"/>
                </a:rPr>
                <a:t>Chuỗi rỗng không phải số đo; không chuyển thành float.</a:t>
              </a:r>
            </a:p>
          </p:txBody>
        </p:sp>
      </p:grpSp>
      <p:grpSp>
        <p:nvGrpSpPr>
          <p:cNvPr id="35" name="response-steps"/>
          <p:cNvGrpSpPr/>
          <p:nvPr/>
        </p:nvGrpSpPr>
        <p:grpSpPr>
          <a:xfrm>
            <a:off x="7041642" y="1930400"/>
            <a:ext cx="4464558" cy="4114546"/>
            <a:chOff x="7041642" y="1930400"/>
            <a:chExt cx="4464558" cy="4114546"/>
          </a:xfrm>
        </p:grpSpPr>
        <p:sp>
          <p:nvSpPr>
            <p:cNvPr id="17" name="TextBox 17"/>
            <p:cNvSpPr txBox="1"/>
            <p:nvPr/>
          </p:nvSpPr>
          <p:spPr>
            <a:xfrm>
              <a:off x="7041642" y="1930400"/>
              <a:ext cx="2352568" cy="264033"/>
            </a:xfrm>
            <a:prstGeom prst="rect">
              <a:avLst/>
            </a:prstGeom>
            <a:noFill/>
            <a:ln>
              <a:noFill/>
            </a:ln>
          </p:spPr>
          <p:txBody>
            <a:bodyPr wrap="none" lIns="0" tIns="0" rIns="0" bIns="0" anchor="t" anchorCtr="0">
              <a:spAutoFit/>
            </a:bodyPr>
            <a:lstStyle/>
            <a:p>
              <a:pPr algn="l"/>
              <a:r>
                <a:rPr lang="vi-VN" sz="1350" b="1" dirty="0">
                  <a:solidFill>
                    <a:schemeClr val="accent5"/>
                  </a:solidFill>
                  <a:latin typeface="+mn-lt"/>
                  <a:ea typeface="+mn-ea"/>
                  <a:cs typeface="+mn-cs"/>
                </a:rPr>
                <a:t>ĐỌC ĐÚNG KÝ TỰ KẾT THÚC</a:t>
              </a:r>
            </a:p>
          </p:txBody>
        </p:sp>
        <p:sp>
          <p:nvSpPr>
            <p:cNvPr id="18" name="Line 18"/>
            <p:cNvSpPr/>
            <p:nvPr/>
          </p:nvSpPr>
          <p:spPr>
            <a:xfrm>
              <a:off x="7315200" y="2609850"/>
              <a:ext cx="9525" cy="1905000"/>
            </a:xfrm>
            <a:custGeom>
              <a:avLst/>
              <a:gdLst/>
              <a:ahLst/>
              <a:cxnLst/>
              <a:rect l="l" t="t" r="r" b="b"/>
              <a:pathLst>
                <a:path w="9525" h="1905000">
                  <a:moveTo>
                    <a:pt x="0" y="0"/>
                  </a:moveTo>
                  <a:lnTo>
                    <a:pt x="0" y="1905000"/>
                  </a:lnTo>
                </a:path>
              </a:pathLst>
            </a:custGeom>
            <a:noFill/>
            <a:ln w="19050">
              <a:solidFill>
                <a:schemeClr val="accent6"/>
              </a:solidFill>
            </a:ln>
          </p:spPr>
        </p:sp>
        <p:sp>
          <p:nvSpPr>
            <p:cNvPr id="19" name="Ellipse 19"/>
            <p:cNvSpPr/>
            <p:nvPr/>
          </p:nvSpPr>
          <p:spPr>
            <a:xfrm>
              <a:off x="7153275" y="2562225"/>
              <a:ext cx="323850" cy="323850"/>
            </a:xfrm>
            <a:prstGeom prst="ellipse">
              <a:avLst/>
            </a:prstGeom>
            <a:solidFill>
              <a:schemeClr val="accent1"/>
            </a:solidFill>
            <a:ln>
              <a:noFill/>
            </a:ln>
          </p:spPr>
        </p:sp>
        <p:sp>
          <p:nvSpPr>
            <p:cNvPr id="20" name="TextBox 20"/>
            <p:cNvSpPr txBox="1"/>
            <p:nvPr/>
          </p:nvSpPr>
          <p:spPr>
            <a:xfrm>
              <a:off x="7262458" y="2628900"/>
              <a:ext cx="105484" cy="234696"/>
            </a:xfrm>
            <a:prstGeom prst="rect">
              <a:avLst/>
            </a:prstGeom>
            <a:noFill/>
            <a:ln>
              <a:noFill/>
            </a:ln>
          </p:spPr>
          <p:txBody>
            <a:bodyPr wrap="none" lIns="0" tIns="0" rIns="0" bIns="0" anchor="t" anchorCtr="0">
              <a:spAutoFit/>
            </a:bodyPr>
            <a:lstStyle/>
            <a:p>
              <a:pPr algn="ctr"/>
              <a:r>
                <a:rPr lang="vi-VN" sz="1200" b="1" dirty="0">
                  <a:solidFill>
                    <a:srgbClr val="FFFDF7"/>
                  </a:solidFill>
                  <a:latin typeface="+mn-lt"/>
                  <a:ea typeface="+mn-ea"/>
                  <a:cs typeface="+mn-cs"/>
                </a:rPr>
                <a:t>1</a:t>
              </a:r>
            </a:p>
          </p:txBody>
        </p:sp>
        <p:sp>
          <p:nvSpPr>
            <p:cNvPr id="21" name="TextBox 21"/>
            <p:cNvSpPr txBox="1"/>
            <p:nvPr/>
          </p:nvSpPr>
          <p:spPr>
            <a:xfrm>
              <a:off x="7649718" y="2578100"/>
              <a:ext cx="2080842" cy="322707"/>
            </a:xfrm>
            <a:prstGeom prst="rect">
              <a:avLst/>
            </a:prstGeom>
            <a:noFill/>
            <a:ln>
              <a:noFill/>
            </a:ln>
          </p:spPr>
          <p:txBody>
            <a:bodyPr wrap="none" lIns="0" tIns="0" rIns="0" bIns="0" anchor="t" anchorCtr="0">
              <a:spAutoFit/>
            </a:bodyPr>
            <a:lstStyle/>
            <a:p>
              <a:pPr algn="l"/>
              <a:r>
                <a:rPr lang="vi-VN" sz="1650" b="1" dirty="0">
                  <a:solidFill>
                    <a:schemeClr val="dk1"/>
                  </a:solidFill>
                  <a:latin typeface="+mn-lt"/>
                  <a:ea typeface="+mn-ea"/>
                  <a:cs typeface="+mn-cs"/>
                </a:rPr>
                <a:t>read_until(b"\r")</a:t>
              </a:r>
            </a:p>
          </p:txBody>
        </p:sp>
        <p:sp>
          <p:nvSpPr>
            <p:cNvPr id="22" name="TextBox 22"/>
            <p:cNvSpPr txBox="1"/>
            <p:nvPr/>
          </p:nvSpPr>
          <p:spPr>
            <a:xfrm>
              <a:off x="7651242" y="2901950"/>
              <a:ext cx="3268980" cy="264033"/>
            </a:xfrm>
            <a:prstGeom prst="rect">
              <a:avLst/>
            </a:prstGeom>
            <a:noFill/>
            <a:ln>
              <a:noFill/>
            </a:ln>
          </p:spPr>
          <p:txBody>
            <a:bodyPr wrap="none" lIns="0" tIns="0" rIns="0" bIns="0" anchor="t" anchorCtr="0">
              <a:spAutoFit/>
            </a:bodyPr>
            <a:lstStyle/>
            <a:p>
              <a:pPr algn="l"/>
              <a:r>
                <a:rPr lang="vi-VN" sz="1350" dirty="0">
                  <a:solidFill>
                    <a:schemeClr val="accent5"/>
                  </a:solidFill>
                  <a:latin typeface="+mn-lt"/>
                  <a:ea typeface="+mn-ea"/>
                  <a:cs typeface="+mn-cs"/>
                </a:rPr>
                <a:t>Dừng tại CR hoặc khi hết timeout 1 s.</a:t>
              </a:r>
            </a:p>
          </p:txBody>
        </p:sp>
        <p:sp>
          <p:nvSpPr>
            <p:cNvPr id="23" name="Ellipse 23"/>
            <p:cNvSpPr/>
            <p:nvPr/>
          </p:nvSpPr>
          <p:spPr>
            <a:xfrm>
              <a:off x="7153275" y="3362325"/>
              <a:ext cx="323850" cy="323850"/>
            </a:xfrm>
            <a:prstGeom prst="ellipse">
              <a:avLst/>
            </a:prstGeom>
            <a:solidFill>
              <a:schemeClr val="accent1"/>
            </a:solidFill>
            <a:ln>
              <a:noFill/>
            </a:ln>
          </p:spPr>
        </p:sp>
        <p:sp>
          <p:nvSpPr>
            <p:cNvPr id="24" name="TextBox 24"/>
            <p:cNvSpPr txBox="1"/>
            <p:nvPr/>
          </p:nvSpPr>
          <p:spPr>
            <a:xfrm>
              <a:off x="7262458" y="3429000"/>
              <a:ext cx="105484" cy="234696"/>
            </a:xfrm>
            <a:prstGeom prst="rect">
              <a:avLst/>
            </a:prstGeom>
            <a:noFill/>
            <a:ln>
              <a:noFill/>
            </a:ln>
          </p:spPr>
          <p:txBody>
            <a:bodyPr wrap="none" lIns="0" tIns="0" rIns="0" bIns="0" anchor="t" anchorCtr="0">
              <a:spAutoFit/>
            </a:bodyPr>
            <a:lstStyle/>
            <a:p>
              <a:pPr algn="ctr"/>
              <a:r>
                <a:rPr lang="vi-VN" sz="1200" b="1" dirty="0">
                  <a:solidFill>
                    <a:srgbClr val="FFFDF7"/>
                  </a:solidFill>
                  <a:latin typeface="+mn-lt"/>
                  <a:ea typeface="+mn-ea"/>
                  <a:cs typeface="+mn-cs"/>
                </a:rPr>
                <a:t>2</a:t>
              </a:r>
            </a:p>
          </p:txBody>
        </p:sp>
        <p:sp>
          <p:nvSpPr>
            <p:cNvPr id="25" name="TextBox 25"/>
            <p:cNvSpPr txBox="1"/>
            <p:nvPr/>
          </p:nvSpPr>
          <p:spPr>
            <a:xfrm>
              <a:off x="7649718" y="3378200"/>
              <a:ext cx="1824290" cy="322707"/>
            </a:xfrm>
            <a:prstGeom prst="rect">
              <a:avLst/>
            </a:prstGeom>
            <a:noFill/>
            <a:ln>
              <a:noFill/>
            </a:ln>
          </p:spPr>
          <p:txBody>
            <a:bodyPr wrap="none" lIns="0" tIns="0" rIns="0" bIns="0" anchor="t" anchorCtr="0">
              <a:spAutoFit/>
            </a:bodyPr>
            <a:lstStyle/>
            <a:p>
              <a:pPr algn="l"/>
              <a:r>
                <a:rPr lang="vi-VN" sz="1650" b="1" dirty="0">
                  <a:solidFill>
                    <a:schemeClr val="dk1"/>
                  </a:solidFill>
                  <a:latin typeface="+mn-lt"/>
                  <a:ea typeface="+mn-ea"/>
                  <a:cs typeface="+mn-cs"/>
                </a:rPr>
                <a:t>decode("ascii")</a:t>
              </a:r>
            </a:p>
          </p:txBody>
        </p:sp>
        <p:sp>
          <p:nvSpPr>
            <p:cNvPr id="26" name="TextBox 26"/>
            <p:cNvSpPr txBox="1"/>
            <p:nvPr/>
          </p:nvSpPr>
          <p:spPr>
            <a:xfrm>
              <a:off x="7651242" y="3702050"/>
              <a:ext cx="3045981" cy="264033"/>
            </a:xfrm>
            <a:prstGeom prst="rect">
              <a:avLst/>
            </a:prstGeom>
            <a:noFill/>
            <a:ln>
              <a:noFill/>
            </a:ln>
          </p:spPr>
          <p:txBody>
            <a:bodyPr wrap="none" lIns="0" tIns="0" rIns="0" bIns="0" anchor="t" anchorCtr="0">
              <a:spAutoFit/>
            </a:bodyPr>
            <a:lstStyle/>
            <a:p>
              <a:pPr algn="l"/>
              <a:r>
                <a:rPr lang="vi-VN" sz="1350" dirty="0">
                  <a:solidFill>
                    <a:schemeClr val="accent5"/>
                  </a:solidFill>
                  <a:latin typeface="+mn-lt"/>
                  <a:ea typeface="+mn-ea"/>
                  <a:cs typeface="+mn-cs"/>
                </a:rPr>
                <a:t>Giải mã bytes thành chuỗi văn bản.</a:t>
              </a:r>
            </a:p>
          </p:txBody>
        </p:sp>
        <p:sp>
          <p:nvSpPr>
            <p:cNvPr id="27" name="Ellipse 27"/>
            <p:cNvSpPr/>
            <p:nvPr/>
          </p:nvSpPr>
          <p:spPr>
            <a:xfrm>
              <a:off x="7153275" y="4162425"/>
              <a:ext cx="323850" cy="323850"/>
            </a:xfrm>
            <a:prstGeom prst="ellipse">
              <a:avLst/>
            </a:prstGeom>
            <a:solidFill>
              <a:schemeClr val="accent2"/>
            </a:solidFill>
            <a:ln>
              <a:noFill/>
            </a:ln>
          </p:spPr>
        </p:sp>
        <p:sp>
          <p:nvSpPr>
            <p:cNvPr id="28" name="TextBox 28"/>
            <p:cNvSpPr txBox="1"/>
            <p:nvPr/>
          </p:nvSpPr>
          <p:spPr>
            <a:xfrm>
              <a:off x="7262458" y="4229100"/>
              <a:ext cx="105484" cy="234696"/>
            </a:xfrm>
            <a:prstGeom prst="rect">
              <a:avLst/>
            </a:prstGeom>
            <a:noFill/>
            <a:ln>
              <a:noFill/>
            </a:ln>
          </p:spPr>
          <p:txBody>
            <a:bodyPr wrap="none" lIns="0" tIns="0" rIns="0" bIns="0" anchor="t" anchorCtr="0">
              <a:spAutoFit/>
            </a:bodyPr>
            <a:lstStyle/>
            <a:p>
              <a:pPr algn="ctr"/>
              <a:r>
                <a:rPr lang="vi-VN" sz="1200" b="1" dirty="0">
                  <a:solidFill>
                    <a:srgbClr val="FFFDF7"/>
                  </a:solidFill>
                  <a:latin typeface="+mn-lt"/>
                  <a:ea typeface="+mn-ea"/>
                  <a:cs typeface="+mn-cs"/>
                </a:rPr>
                <a:t>3</a:t>
              </a:r>
            </a:p>
          </p:txBody>
        </p:sp>
        <p:sp>
          <p:nvSpPr>
            <p:cNvPr id="29" name="TextBox 29"/>
            <p:cNvSpPr txBox="1"/>
            <p:nvPr/>
          </p:nvSpPr>
          <p:spPr>
            <a:xfrm>
              <a:off x="7649718" y="4178300"/>
              <a:ext cx="856389" cy="322707"/>
            </a:xfrm>
            <a:prstGeom prst="rect">
              <a:avLst/>
            </a:prstGeom>
            <a:noFill/>
            <a:ln>
              <a:noFill/>
            </a:ln>
          </p:spPr>
          <p:txBody>
            <a:bodyPr wrap="none" lIns="0" tIns="0" rIns="0" bIns="0" anchor="t" anchorCtr="0">
              <a:spAutoFit/>
            </a:bodyPr>
            <a:lstStyle/>
            <a:p>
              <a:pPr algn="l"/>
              <a:r>
                <a:rPr lang="vi-VN" sz="1650" b="1" dirty="0">
                  <a:solidFill>
                    <a:schemeClr val="dk1"/>
                  </a:solidFill>
                  <a:latin typeface="+mn-lt"/>
                  <a:ea typeface="+mn-ea"/>
                  <a:cs typeface="+mn-cs"/>
                </a:rPr>
                <a:t>strip()</a:t>
              </a:r>
            </a:p>
          </p:txBody>
        </p:sp>
        <p:sp>
          <p:nvSpPr>
            <p:cNvPr id="30" name="TextBox 30"/>
            <p:cNvSpPr txBox="1"/>
            <p:nvPr/>
          </p:nvSpPr>
          <p:spPr>
            <a:xfrm>
              <a:off x="7651242" y="4502150"/>
              <a:ext cx="3277395" cy="264033"/>
            </a:xfrm>
            <a:prstGeom prst="rect">
              <a:avLst/>
            </a:prstGeom>
            <a:noFill/>
            <a:ln>
              <a:noFill/>
            </a:ln>
          </p:spPr>
          <p:txBody>
            <a:bodyPr wrap="none" lIns="0" tIns="0" rIns="0" bIns="0" anchor="t" anchorCtr="0">
              <a:spAutoFit/>
            </a:bodyPr>
            <a:lstStyle/>
            <a:p>
              <a:pPr algn="l"/>
              <a:r>
                <a:rPr lang="vi-VN" sz="1350" dirty="0">
                  <a:solidFill>
                    <a:schemeClr val="accent5"/>
                  </a:solidFill>
                  <a:latin typeface="+mn-lt"/>
                  <a:ea typeface="+mn-ea"/>
                  <a:cs typeface="+mn-cs"/>
                </a:rPr>
                <a:t>Loại bỏ CR và khoảng trắng ở hai đầu.</a:t>
              </a:r>
            </a:p>
          </p:txBody>
        </p:sp>
        <p:sp>
          <p:nvSpPr>
            <p:cNvPr id="31" name="Rectangle 31"/>
            <p:cNvSpPr/>
            <p:nvPr/>
          </p:nvSpPr>
          <p:spPr>
            <a:xfrm>
              <a:off x="7048500" y="4972050"/>
              <a:ext cx="4457700" cy="781050"/>
            </a:xfrm>
            <a:prstGeom prst="roundRect">
              <a:avLst>
                <a:gd name="adj" fmla="val 7317"/>
              </a:avLst>
            </a:prstGeom>
            <a:solidFill>
              <a:schemeClr val="lt2"/>
            </a:solidFill>
            <a:ln>
              <a:noFill/>
            </a:ln>
          </p:spPr>
        </p:sp>
        <p:sp>
          <p:nvSpPr>
            <p:cNvPr id="32" name="TextBox 32"/>
            <p:cNvSpPr txBox="1"/>
            <p:nvPr/>
          </p:nvSpPr>
          <p:spPr>
            <a:xfrm>
              <a:off x="7270242" y="5111750"/>
              <a:ext cx="2405765" cy="264033"/>
            </a:xfrm>
            <a:prstGeom prst="rect">
              <a:avLst/>
            </a:prstGeom>
            <a:noFill/>
            <a:ln>
              <a:noFill/>
            </a:ln>
          </p:spPr>
          <p:txBody>
            <a:bodyPr wrap="none" lIns="0" tIns="0" rIns="0" bIns="0" anchor="t" anchorCtr="0">
              <a:spAutoFit/>
            </a:bodyPr>
            <a:lstStyle/>
            <a:p>
              <a:pPr algn="l"/>
              <a:r>
                <a:rPr lang="vi-VN" sz="1350" b="1" dirty="0">
                  <a:solidFill>
                    <a:schemeClr val="accent1"/>
                  </a:solidFill>
                  <a:latin typeface="+mn-lt"/>
                  <a:ea typeface="+mn-ea"/>
                  <a:cs typeface="+mn-cs"/>
                </a:rPr>
                <a:t>Không nhận được phản hồi?</a:t>
              </a:r>
            </a:p>
          </p:txBody>
        </p:sp>
        <p:sp>
          <p:nvSpPr>
            <p:cNvPr id="33" name="TextBox 33"/>
            <p:cNvSpPr txBox="1"/>
            <p:nvPr/>
          </p:nvSpPr>
          <p:spPr>
            <a:xfrm>
              <a:off x="7270242" y="5378450"/>
              <a:ext cx="3213413" cy="264033"/>
            </a:xfrm>
            <a:prstGeom prst="rect">
              <a:avLst/>
            </a:prstGeom>
            <a:noFill/>
            <a:ln>
              <a:noFill/>
            </a:ln>
          </p:spPr>
          <p:txBody>
            <a:bodyPr wrap="none" lIns="0" tIns="0" rIns="0" bIns="0" anchor="t" anchorCtr="0">
              <a:spAutoFit/>
            </a:bodyPr>
            <a:lstStyle/>
            <a:p>
              <a:pPr algn="l"/>
              <a:r>
                <a:rPr lang="vi-VN" sz="1350" dirty="0">
                  <a:solidFill>
                    <a:schemeClr val="dk1"/>
                  </a:solidFill>
                  <a:latin typeface="+mn-lt"/>
                  <a:ea typeface="+mn-ea"/>
                  <a:cs typeface="+mn-cs"/>
                </a:rPr>
                <a:t>Kiểm tra COM · baud · truy vấn · CR</a:t>
              </a:r>
            </a:p>
          </p:txBody>
        </p:sp>
        <p:sp>
          <p:nvSpPr>
            <p:cNvPr id="34" name="TextBox 34"/>
            <p:cNvSpPr txBox="1"/>
            <p:nvPr/>
          </p:nvSpPr>
          <p:spPr>
            <a:xfrm>
              <a:off x="7042404" y="5810250"/>
              <a:ext cx="3763170" cy="234696"/>
            </a:xfrm>
            <a:prstGeom prst="rect">
              <a:avLst/>
            </a:prstGeom>
            <a:noFill/>
            <a:ln>
              <a:noFill/>
            </a:ln>
          </p:spPr>
          <p:txBody>
            <a:bodyPr wrap="none" lIns="0" tIns="0" rIns="0" bIns="0" anchor="t" anchorCtr="0">
              <a:spAutoFit/>
            </a:bodyPr>
            <a:lstStyle/>
            <a:p>
              <a:pPr algn="l"/>
              <a:r>
                <a:rPr lang="vi-VN" sz="1200" dirty="0">
                  <a:solidFill>
                    <a:schemeClr val="accent5"/>
                  </a:solidFill>
                  <a:latin typeface="+mn-lt"/>
                  <a:ea typeface="+mn-ea"/>
                  <a:cs typeface="+mn-cs"/>
                </a:rPr>
                <a:t>TX TERM của lớp là CR; byte đọc cũng phải là CR.</a:t>
              </a:r>
            </a:p>
          </p:txBody>
        </p:sp>
      </p:grpSp>
      <p:grpSp>
        <p:nvGrpSpPr>
          <p:cNvPr id="38" name="page-footer"/>
          <p:cNvGrpSpPr/>
          <p:nvPr/>
        </p:nvGrpSpPr>
        <p:grpSpPr>
          <a:xfrm>
            <a:off x="679704" y="6429375"/>
            <a:ext cx="10832592" cy="234696"/>
            <a:chOff x="679704" y="6429375"/>
            <a:chExt cx="10832592" cy="234696"/>
          </a:xfrm>
        </p:grpSpPr>
        <p:sp>
          <p:nvSpPr>
            <p:cNvPr id="36" name="TextBox 36"/>
            <p:cNvSpPr txBox="1"/>
            <p:nvPr/>
          </p:nvSpPr>
          <p:spPr>
            <a:xfrm>
              <a:off x="679704" y="6429375"/>
              <a:ext cx="4262323" cy="234696"/>
            </a:xfrm>
            <a:prstGeom prst="rect">
              <a:avLst/>
            </a:prstGeom>
            <a:noFill/>
            <a:ln>
              <a:noFill/>
            </a:ln>
          </p:spPr>
          <p:txBody>
            <a:bodyPr wrap="none" lIns="0" tIns="0" rIns="0" bIns="0" anchor="t" anchorCtr="0">
              <a:spAutoFit/>
            </a:bodyPr>
            <a:lstStyle/>
            <a:p>
              <a:pPr algn="l"/>
              <a:r>
                <a:rPr lang="vi-VN" sz="1200" dirty="0">
                  <a:solidFill>
                    <a:schemeClr val="accent5"/>
                  </a:solidFill>
                  <a:latin typeface="+mn-lt"/>
                  <a:ea typeface="+mn-ea"/>
                  <a:cs typeface="+mn-cs"/>
                </a:rPr>
                <a:t>SERIAL · TIMEOUT CŨNG LÀ MỘT KẾT QUẢ CẦN KIỂM TRA</a:t>
              </a:r>
            </a:p>
          </p:txBody>
        </p:sp>
        <p:sp>
          <p:nvSpPr>
            <p:cNvPr id="37" name="TextBox 37"/>
            <p:cNvSpPr txBox="1"/>
            <p:nvPr/>
          </p:nvSpPr>
          <p:spPr>
            <a:xfrm>
              <a:off x="10958932" y="6429375"/>
              <a:ext cx="553364" cy="234696"/>
            </a:xfrm>
            <a:prstGeom prst="rect">
              <a:avLst/>
            </a:prstGeom>
            <a:noFill/>
            <a:ln>
              <a:noFill/>
            </a:ln>
          </p:spPr>
          <p:txBody>
            <a:bodyPr wrap="none" lIns="0" tIns="0" rIns="0" bIns="0" anchor="t" anchorCtr="0">
              <a:spAutoFit/>
            </a:bodyPr>
            <a:lstStyle/>
            <a:p>
              <a:pPr algn="r"/>
              <a:r>
                <a:rPr lang="vi-VN" sz="1200" dirty="0">
                  <a:solidFill>
                    <a:schemeClr val="accent5"/>
                  </a:solidFill>
                  <a:latin typeface="+mn-lt"/>
                  <a:ea typeface="+mn-ea"/>
                  <a:cs typeface="+mn-cs"/>
                </a:rPr>
                <a:t>12 / 25</a:t>
              </a:r>
            </a:p>
          </p:txBody>
        </p:sp>
      </p:grpSp>
    </p:spTree>
  </p:cSld>
  <p:clrMapOvr>
    <a:masterClrMapping/>
  </p:clrMapOvr>
  <p:transition xmlns:p14="http://schemas.microsoft.com/office/powerpoint/2010/main" p14:dur="400">
    <p:fade/>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page-title"/>
          <p:cNvGrpSpPr/>
          <p:nvPr/>
        </p:nvGrpSpPr>
        <p:grpSpPr>
          <a:xfrm>
            <a:off x="669798" y="520700"/>
            <a:ext cx="10836402" cy="955675"/>
            <a:chOff x="669798" y="520700"/>
            <a:chExt cx="10836402" cy="955675"/>
          </a:xfrm>
        </p:grpSpPr>
        <p:sp>
          <p:nvSpPr>
            <p:cNvPr id="2" name="TextBox 2"/>
            <p:cNvSpPr txBox="1"/>
            <p:nvPr/>
          </p:nvSpPr>
          <p:spPr>
            <a:xfrm>
              <a:off x="678942" y="520700"/>
              <a:ext cx="1727530" cy="264033"/>
            </a:xfrm>
            <a:prstGeom prst="rect">
              <a:avLst/>
            </a:prstGeom>
            <a:noFill/>
            <a:ln>
              <a:noFill/>
            </a:ln>
          </p:spPr>
          <p:txBody>
            <a:bodyPr wrap="none" lIns="0" tIns="0" rIns="0" bIns="0" anchor="t" anchorCtr="0">
              <a:spAutoFit/>
            </a:bodyPr>
            <a:lstStyle/>
            <a:p>
              <a:pPr algn="l"/>
              <a:r>
                <a:rPr lang="vi-VN" sz="1350" b="1" dirty="0">
                  <a:solidFill>
                    <a:schemeClr val="accent3"/>
                  </a:solidFill>
                  <a:latin typeface="+mn-lt"/>
                  <a:ea typeface="+mn-ea"/>
                  <a:cs typeface="+mn-cs"/>
                </a:rPr>
                <a:t>03 · COM / SERIAL</a:t>
              </a:r>
            </a:p>
          </p:txBody>
        </p:sp>
        <p:sp>
          <p:nvSpPr>
            <p:cNvPr id="3" name="TextBox 3"/>
            <p:cNvSpPr txBox="1"/>
            <p:nvPr/>
          </p:nvSpPr>
          <p:spPr>
            <a:xfrm>
              <a:off x="669798" y="838200"/>
              <a:ext cx="10753721" cy="616077"/>
            </a:xfrm>
            <a:prstGeom prst="rect">
              <a:avLst/>
            </a:prstGeom>
            <a:noFill/>
            <a:ln>
              <a:noFill/>
            </a:ln>
          </p:spPr>
          <p:txBody>
            <a:bodyPr wrap="none" lIns="0" tIns="0" rIns="0" bIns="0" anchor="t" anchorCtr="0">
              <a:spAutoFit/>
            </a:bodyPr>
            <a:lstStyle/>
            <a:p>
              <a:pPr algn="l"/>
              <a:r>
                <a:rPr lang="vi-VN" sz="3150" b="1" dirty="0">
                  <a:solidFill>
                    <a:schemeClr val="accent1"/>
                  </a:solidFill>
                  <a:latin typeface="+mn-lt"/>
                  <a:ea typeface="+mn-ea"/>
                  <a:cs typeface="+mn-cs"/>
                </a:rPr>
                <a:t>Bước 6 — Đóng gói thao tác trong send_command()</a:t>
              </a:r>
            </a:p>
          </p:txBody>
        </p:sp>
        <p:sp>
          <p:nvSpPr>
            <p:cNvPr id="4" name="Line 4"/>
            <p:cNvSpPr/>
            <p:nvPr/>
          </p:nvSpPr>
          <p:spPr>
            <a:xfrm>
              <a:off x="685800" y="1466850"/>
              <a:ext cx="10820400" cy="9525"/>
            </a:xfrm>
            <a:custGeom>
              <a:avLst/>
              <a:gdLst/>
              <a:ahLst/>
              <a:cxnLst/>
              <a:rect l="l" t="t" r="r" b="b"/>
              <a:pathLst>
                <a:path w="10820400" h="9525">
                  <a:moveTo>
                    <a:pt x="0" y="0"/>
                  </a:moveTo>
                  <a:lnTo>
                    <a:pt x="10820400" y="0"/>
                  </a:lnTo>
                </a:path>
              </a:pathLst>
            </a:custGeom>
            <a:noFill/>
            <a:ln w="14288">
              <a:solidFill>
                <a:schemeClr val="accent6"/>
              </a:solidFill>
            </a:ln>
          </p:spPr>
        </p:sp>
      </p:grpSp>
      <p:grpSp>
        <p:nvGrpSpPr>
          <p:cNvPr id="17" name="function-code"/>
          <p:cNvGrpSpPr/>
          <p:nvPr/>
        </p:nvGrpSpPr>
        <p:grpSpPr>
          <a:xfrm>
            <a:off x="678942" y="1930400"/>
            <a:ext cx="6217158" cy="3940683"/>
            <a:chOff x="678942" y="1930400"/>
            <a:chExt cx="6217158" cy="3940683"/>
          </a:xfrm>
        </p:grpSpPr>
        <p:sp>
          <p:nvSpPr>
            <p:cNvPr id="6" name="TextBox 6"/>
            <p:cNvSpPr txBox="1"/>
            <p:nvPr/>
          </p:nvSpPr>
          <p:spPr>
            <a:xfrm>
              <a:off x="678942" y="1930400"/>
              <a:ext cx="3854676" cy="264033"/>
            </a:xfrm>
            <a:prstGeom prst="rect">
              <a:avLst/>
            </a:prstGeom>
            <a:noFill/>
            <a:ln>
              <a:noFill/>
            </a:ln>
          </p:spPr>
          <p:txBody>
            <a:bodyPr wrap="none" lIns="0" tIns="0" rIns="0" bIns="0" anchor="t" anchorCtr="0">
              <a:spAutoFit/>
            </a:bodyPr>
            <a:lstStyle/>
            <a:p>
              <a:pPr algn="l"/>
              <a:r>
                <a:rPr lang="vi-VN" sz="1350" b="1" dirty="0">
                  <a:solidFill>
                    <a:schemeClr val="accent5"/>
                  </a:solidFill>
                  <a:latin typeface="+mn-lt"/>
                  <a:ea typeface="+mn-ea"/>
                  <a:cs typeface="+mn-cs"/>
                </a:rPr>
                <a:t>HÀM DÙNG CHO LỆNH CẤU HÌNH VÀ TRUY VẤN</a:t>
              </a:r>
            </a:p>
          </p:txBody>
        </p:sp>
        <p:sp>
          <p:nvSpPr>
            <p:cNvPr id="7" name="Rectangle 7"/>
            <p:cNvSpPr/>
            <p:nvPr/>
          </p:nvSpPr>
          <p:spPr>
            <a:xfrm>
              <a:off x="685800" y="2305050"/>
              <a:ext cx="6210300" cy="3067050"/>
            </a:xfrm>
            <a:prstGeom prst="roundRect">
              <a:avLst>
                <a:gd name="adj" fmla="val 1863"/>
              </a:avLst>
            </a:prstGeom>
            <a:solidFill>
              <a:schemeClr val="lt2"/>
            </a:solidFill>
            <a:ln>
              <a:noFill/>
            </a:ln>
          </p:spPr>
        </p:sp>
        <p:sp>
          <p:nvSpPr>
            <p:cNvPr id="8" name="TextBox 8"/>
            <p:cNvSpPr txBox="1"/>
            <p:nvPr/>
          </p:nvSpPr>
          <p:spPr>
            <a:xfrm>
              <a:off x="907542" y="2482850"/>
              <a:ext cx="3412198" cy="264033"/>
            </a:xfrm>
            <a:prstGeom prst="rect">
              <a:avLst/>
            </a:prstGeom>
            <a:noFill/>
            <a:ln>
              <a:noFill/>
            </a:ln>
          </p:spPr>
          <p:txBody>
            <a:bodyPr wrap="none" lIns="0" tIns="0" rIns="0" bIns="0" anchor="t" anchorCtr="0">
              <a:spAutoFit/>
            </a:bodyPr>
            <a:lstStyle/>
            <a:p>
              <a:pPr algn="l"/>
              <a:r>
                <a:rPr lang="vi-VN" sz="1350" dirty="0">
                  <a:solidFill>
                    <a:schemeClr val="accent1"/>
                  </a:solidFill>
                  <a:latin typeface="Consolas"/>
                  <a:ea typeface="Consolas"/>
                  <a:cs typeface="Consolas"/>
                </a:rPr>
                <a:t>def send_command(device, command):</a:t>
              </a:r>
            </a:p>
          </p:txBody>
        </p:sp>
        <p:sp>
          <p:nvSpPr>
            <p:cNvPr id="9" name="TextBox 9"/>
            <p:cNvSpPr txBox="1"/>
            <p:nvPr/>
          </p:nvSpPr>
          <p:spPr>
            <a:xfrm>
              <a:off x="1288542" y="3054350"/>
              <a:ext cx="4611662" cy="264033"/>
            </a:xfrm>
            <a:prstGeom prst="rect">
              <a:avLst/>
            </a:prstGeom>
            <a:noFill/>
            <a:ln>
              <a:noFill/>
            </a:ln>
          </p:spPr>
          <p:txBody>
            <a:bodyPr wrap="none" lIns="0" tIns="0" rIns="0" bIns="0" anchor="t" anchorCtr="0">
              <a:spAutoFit/>
            </a:bodyPr>
            <a:lstStyle/>
            <a:p>
              <a:pPr algn="l"/>
              <a:r>
                <a:rPr lang="vi-VN" sz="1350" dirty="0">
                  <a:solidFill>
                    <a:schemeClr val="dk1"/>
                  </a:solidFill>
                  <a:latin typeface="Consolas"/>
                  <a:ea typeface="Consolas"/>
                  <a:cs typeface="Consolas"/>
                </a:rPr>
                <a:t>device.write((command + "\r").encode("ascii"))</a:t>
              </a:r>
            </a:p>
          </p:txBody>
        </p:sp>
        <p:sp>
          <p:nvSpPr>
            <p:cNvPr id="10" name="TextBox 10"/>
            <p:cNvSpPr txBox="1"/>
            <p:nvPr/>
          </p:nvSpPr>
          <p:spPr>
            <a:xfrm>
              <a:off x="1288542" y="3340100"/>
              <a:ext cx="1413091" cy="264033"/>
            </a:xfrm>
            <a:prstGeom prst="rect">
              <a:avLst/>
            </a:prstGeom>
            <a:noFill/>
            <a:ln>
              <a:noFill/>
            </a:ln>
          </p:spPr>
          <p:txBody>
            <a:bodyPr wrap="none" lIns="0" tIns="0" rIns="0" bIns="0" anchor="t" anchorCtr="0">
              <a:spAutoFit/>
            </a:bodyPr>
            <a:lstStyle/>
            <a:p>
              <a:pPr algn="l"/>
              <a:r>
                <a:rPr lang="vi-VN" sz="1350" dirty="0">
                  <a:solidFill>
                    <a:schemeClr val="dk1"/>
                  </a:solidFill>
                  <a:latin typeface="Consolas"/>
                  <a:ea typeface="Consolas"/>
                  <a:cs typeface="Consolas"/>
                </a:rPr>
                <a:t>device.flush()</a:t>
              </a:r>
            </a:p>
          </p:txBody>
        </p:sp>
        <p:sp>
          <p:nvSpPr>
            <p:cNvPr id="11" name="TextBox 11"/>
            <p:cNvSpPr txBox="1"/>
            <p:nvPr/>
          </p:nvSpPr>
          <p:spPr>
            <a:xfrm>
              <a:off x="1288542" y="3683000"/>
              <a:ext cx="2212734" cy="264033"/>
            </a:xfrm>
            <a:prstGeom prst="rect">
              <a:avLst/>
            </a:prstGeom>
            <a:noFill/>
            <a:ln>
              <a:noFill/>
            </a:ln>
          </p:spPr>
          <p:txBody>
            <a:bodyPr wrap="none" lIns="0" tIns="0" rIns="0" bIns="0" anchor="t" anchorCtr="0">
              <a:spAutoFit/>
            </a:bodyPr>
            <a:lstStyle/>
            <a:p>
              <a:pPr algn="l"/>
              <a:r>
                <a:rPr lang="vi-VN" sz="1350" dirty="0">
                  <a:solidFill>
                    <a:schemeClr val="dk1"/>
                  </a:solidFill>
                  <a:latin typeface="Consolas"/>
                  <a:ea typeface="Consolas"/>
                  <a:cs typeface="Consolas"/>
                </a:rPr>
                <a:t>if "?" not in command:</a:t>
              </a:r>
            </a:p>
          </p:txBody>
        </p:sp>
        <p:sp>
          <p:nvSpPr>
            <p:cNvPr id="12" name="TextBox 12"/>
            <p:cNvSpPr txBox="1"/>
            <p:nvPr/>
          </p:nvSpPr>
          <p:spPr>
            <a:xfrm>
              <a:off x="1669542" y="3968750"/>
              <a:ext cx="1119448" cy="264033"/>
            </a:xfrm>
            <a:prstGeom prst="rect">
              <a:avLst/>
            </a:prstGeom>
            <a:noFill/>
            <a:ln>
              <a:noFill/>
            </a:ln>
          </p:spPr>
          <p:txBody>
            <a:bodyPr wrap="none" lIns="0" tIns="0" rIns="0" bIns="0" anchor="t" anchorCtr="0">
              <a:spAutoFit/>
            </a:bodyPr>
            <a:lstStyle/>
            <a:p>
              <a:pPr algn="l"/>
              <a:r>
                <a:rPr lang="vi-VN" sz="1350" dirty="0">
                  <a:solidFill>
                    <a:schemeClr val="accent2"/>
                  </a:solidFill>
                  <a:latin typeface="Consolas"/>
                  <a:ea typeface="Consolas"/>
                  <a:cs typeface="Consolas"/>
                </a:rPr>
                <a:t>return None</a:t>
              </a:r>
            </a:p>
          </p:txBody>
        </p:sp>
        <p:sp>
          <p:nvSpPr>
            <p:cNvPr id="13" name="TextBox 13"/>
            <p:cNvSpPr txBox="1"/>
            <p:nvPr/>
          </p:nvSpPr>
          <p:spPr>
            <a:xfrm>
              <a:off x="1288542" y="4311650"/>
              <a:ext cx="3212287" cy="264033"/>
            </a:xfrm>
            <a:prstGeom prst="rect">
              <a:avLst/>
            </a:prstGeom>
            <a:noFill/>
            <a:ln>
              <a:noFill/>
            </a:ln>
          </p:spPr>
          <p:txBody>
            <a:bodyPr wrap="none" lIns="0" tIns="0" rIns="0" bIns="0" anchor="t" anchorCtr="0">
              <a:spAutoFit/>
            </a:bodyPr>
            <a:lstStyle/>
            <a:p>
              <a:pPr algn="l"/>
              <a:r>
                <a:rPr lang="vi-VN" sz="1350" dirty="0">
                  <a:solidFill>
                    <a:schemeClr val="dk1"/>
                  </a:solidFill>
                  <a:latin typeface="Consolas"/>
                  <a:ea typeface="Consolas"/>
                  <a:cs typeface="Consolas"/>
                </a:rPr>
                <a:t>reply = device.read_until(b"\r")</a:t>
              </a:r>
            </a:p>
          </p:txBody>
        </p:sp>
        <p:sp>
          <p:nvSpPr>
            <p:cNvPr id="14" name="TextBox 14"/>
            <p:cNvSpPr txBox="1"/>
            <p:nvPr/>
          </p:nvSpPr>
          <p:spPr>
            <a:xfrm>
              <a:off x="1288542" y="4597400"/>
              <a:ext cx="2012823" cy="264033"/>
            </a:xfrm>
            <a:prstGeom prst="rect">
              <a:avLst/>
            </a:prstGeom>
            <a:noFill/>
            <a:ln>
              <a:noFill/>
            </a:ln>
          </p:spPr>
          <p:txBody>
            <a:bodyPr wrap="none" lIns="0" tIns="0" rIns="0" bIns="0" anchor="t" anchorCtr="0">
              <a:spAutoFit/>
            </a:bodyPr>
            <a:lstStyle/>
            <a:p>
              <a:pPr algn="l"/>
              <a:r>
                <a:rPr lang="vi-VN" sz="1350" dirty="0">
                  <a:solidFill>
                    <a:schemeClr val="dk1"/>
                  </a:solidFill>
                  <a:latin typeface="Consolas"/>
                  <a:ea typeface="Consolas"/>
                  <a:cs typeface="Consolas"/>
                </a:rPr>
                <a:t>return reply.decode(</a:t>
              </a:r>
            </a:p>
          </p:txBody>
        </p:sp>
        <p:sp>
          <p:nvSpPr>
            <p:cNvPr id="15" name="TextBox 15"/>
            <p:cNvSpPr txBox="1"/>
            <p:nvPr/>
          </p:nvSpPr>
          <p:spPr>
            <a:xfrm>
              <a:off x="1669542" y="4883150"/>
              <a:ext cx="3412198" cy="264033"/>
            </a:xfrm>
            <a:prstGeom prst="rect">
              <a:avLst/>
            </a:prstGeom>
            <a:noFill/>
            <a:ln>
              <a:noFill/>
            </a:ln>
          </p:spPr>
          <p:txBody>
            <a:bodyPr wrap="none" lIns="0" tIns="0" rIns="0" bIns="0" anchor="t" anchorCtr="0">
              <a:spAutoFit/>
            </a:bodyPr>
            <a:lstStyle/>
            <a:p>
              <a:pPr algn="l"/>
              <a:r>
                <a:rPr lang="vi-VN" sz="1350" dirty="0">
                  <a:solidFill>
                    <a:schemeClr val="dk1"/>
                  </a:solidFill>
                  <a:latin typeface="Consolas"/>
                  <a:ea typeface="Consolas"/>
                  <a:cs typeface="Consolas"/>
                </a:rPr>
                <a:t>"ascii", errors="replace").strip()</a:t>
              </a:r>
            </a:p>
          </p:txBody>
        </p:sp>
        <p:sp>
          <p:nvSpPr>
            <p:cNvPr id="16" name="TextBox 16"/>
            <p:cNvSpPr txBox="1"/>
            <p:nvPr/>
          </p:nvSpPr>
          <p:spPr>
            <a:xfrm>
              <a:off x="678942" y="5607050"/>
              <a:ext cx="3903834" cy="264033"/>
            </a:xfrm>
            <a:prstGeom prst="rect">
              <a:avLst/>
            </a:prstGeom>
            <a:noFill/>
            <a:ln>
              <a:noFill/>
            </a:ln>
          </p:spPr>
          <p:txBody>
            <a:bodyPr wrap="none" lIns="0" tIns="0" rIns="0" bIns="0" anchor="t" anchorCtr="0">
              <a:spAutoFit/>
            </a:bodyPr>
            <a:lstStyle/>
            <a:p>
              <a:pPr algn="l"/>
              <a:r>
                <a:rPr lang="vi-VN" sz="1350" dirty="0">
                  <a:solidFill>
                    <a:schemeClr val="accent5"/>
                  </a:solidFill>
                  <a:latin typeface="+mn-lt"/>
                  <a:ea typeface="+mn-ea"/>
                  <a:cs typeface="+mn-cs"/>
                </a:rPr>
                <a:t>device = cổng đang mở · command = lệnh SCPI</a:t>
              </a:r>
            </a:p>
          </p:txBody>
        </p:sp>
      </p:grpSp>
      <p:grpSp>
        <p:nvGrpSpPr>
          <p:cNvPr id="29" name="function-branches"/>
          <p:cNvGrpSpPr/>
          <p:nvPr/>
        </p:nvGrpSpPr>
        <p:grpSpPr>
          <a:xfrm>
            <a:off x="7232142" y="1930400"/>
            <a:ext cx="4274058" cy="4019296"/>
            <a:chOff x="7232142" y="1930400"/>
            <a:chExt cx="4274058" cy="4019296"/>
          </a:xfrm>
        </p:grpSpPr>
        <p:sp>
          <p:nvSpPr>
            <p:cNvPr id="18" name="TextBox 18"/>
            <p:cNvSpPr txBox="1"/>
            <p:nvPr/>
          </p:nvSpPr>
          <p:spPr>
            <a:xfrm>
              <a:off x="7232142" y="1930400"/>
              <a:ext cx="2826388" cy="264033"/>
            </a:xfrm>
            <a:prstGeom prst="rect">
              <a:avLst/>
            </a:prstGeom>
            <a:noFill/>
            <a:ln>
              <a:noFill/>
            </a:ln>
          </p:spPr>
          <p:txBody>
            <a:bodyPr wrap="none" lIns="0" tIns="0" rIns="0" bIns="0" anchor="t" anchorCtr="0">
              <a:spAutoFit/>
            </a:bodyPr>
            <a:lstStyle/>
            <a:p>
              <a:pPr algn="l"/>
              <a:r>
                <a:rPr lang="vi-VN" sz="1350" b="1" dirty="0">
                  <a:solidFill>
                    <a:schemeClr val="accent5"/>
                  </a:solidFill>
                  <a:latin typeface="+mn-lt"/>
                  <a:ea typeface="+mn-ea"/>
                  <a:cs typeface="+mn-cs"/>
                </a:rPr>
                <a:t>KẾT QUẢ PHỤ THUỘC LOẠI LỆNH</a:t>
              </a:r>
            </a:p>
          </p:txBody>
        </p:sp>
        <p:sp>
          <p:nvSpPr>
            <p:cNvPr id="19" name="Rectangle 19"/>
            <p:cNvSpPr/>
            <p:nvPr/>
          </p:nvSpPr>
          <p:spPr>
            <a:xfrm>
              <a:off x="7239000" y="2324100"/>
              <a:ext cx="4267200" cy="1352550"/>
            </a:xfrm>
            <a:prstGeom prst="roundRect">
              <a:avLst>
                <a:gd name="adj" fmla="val 4225"/>
              </a:avLst>
            </a:prstGeom>
            <a:solidFill>
              <a:schemeClr val="lt2"/>
            </a:solidFill>
            <a:ln>
              <a:noFill/>
            </a:ln>
          </p:spPr>
        </p:sp>
        <p:sp>
          <p:nvSpPr>
            <p:cNvPr id="20" name="TextBox 20"/>
            <p:cNvSpPr txBox="1"/>
            <p:nvPr/>
          </p:nvSpPr>
          <p:spPr>
            <a:xfrm>
              <a:off x="7498842" y="2501900"/>
              <a:ext cx="1985772" cy="264033"/>
            </a:xfrm>
            <a:prstGeom prst="rect">
              <a:avLst/>
            </a:prstGeom>
            <a:noFill/>
            <a:ln>
              <a:noFill/>
            </a:ln>
          </p:spPr>
          <p:txBody>
            <a:bodyPr wrap="none" lIns="0" tIns="0" rIns="0" bIns="0" anchor="t" anchorCtr="0">
              <a:spAutoFit/>
            </a:bodyPr>
            <a:lstStyle/>
            <a:p>
              <a:pPr algn="l"/>
              <a:r>
                <a:rPr lang="vi-VN" sz="1350" b="1" dirty="0">
                  <a:solidFill>
                    <a:schemeClr val="accent5"/>
                  </a:solidFill>
                  <a:latin typeface="+mn-lt"/>
                  <a:ea typeface="+mn-ea"/>
                  <a:cs typeface="+mn-cs"/>
                </a:rPr>
                <a:t>CẤU HÌNH · không có ?</a:t>
              </a:r>
            </a:p>
          </p:txBody>
        </p:sp>
        <p:sp>
          <p:nvSpPr>
            <p:cNvPr id="21" name="TextBox 21"/>
            <p:cNvSpPr txBox="1"/>
            <p:nvPr/>
          </p:nvSpPr>
          <p:spPr>
            <a:xfrm>
              <a:off x="7498842" y="2863850"/>
              <a:ext cx="3192056" cy="264033"/>
            </a:xfrm>
            <a:prstGeom prst="rect">
              <a:avLst/>
            </a:prstGeom>
            <a:noFill/>
            <a:ln>
              <a:noFill/>
            </a:ln>
          </p:spPr>
          <p:txBody>
            <a:bodyPr wrap="none" lIns="0" tIns="0" rIns="0" bIns="0" anchor="t" anchorCtr="0">
              <a:spAutoFit/>
            </a:bodyPr>
            <a:lstStyle/>
            <a:p>
              <a:pPr algn="l"/>
              <a:r>
                <a:rPr lang="vi-VN" sz="1350" dirty="0">
                  <a:solidFill>
                    <a:schemeClr val="dk1"/>
                  </a:solidFill>
                  <a:latin typeface="Consolas"/>
                  <a:ea typeface="Consolas"/>
                  <a:cs typeface="Consolas"/>
                </a:rPr>
                <a:t>send_command(d, "CONF:VOLT:DC")</a:t>
              </a:r>
            </a:p>
          </p:txBody>
        </p:sp>
        <p:sp>
          <p:nvSpPr>
            <p:cNvPr id="22" name="TextBox 22"/>
            <p:cNvSpPr txBox="1"/>
            <p:nvPr/>
          </p:nvSpPr>
          <p:spPr>
            <a:xfrm>
              <a:off x="7496556" y="3175000"/>
              <a:ext cx="3361274" cy="352044"/>
            </a:xfrm>
            <a:prstGeom prst="rect">
              <a:avLst/>
            </a:prstGeom>
            <a:noFill/>
            <a:ln>
              <a:noFill/>
            </a:ln>
          </p:spPr>
          <p:txBody>
            <a:bodyPr wrap="none" lIns="0" tIns="0" rIns="0" bIns="0" anchor="t" anchorCtr="0">
              <a:spAutoFit/>
            </a:bodyPr>
            <a:lstStyle/>
            <a:p>
              <a:pPr algn="l"/>
              <a:r>
                <a:rPr lang="vi-VN" sz="1800" b="1" dirty="0">
                  <a:solidFill>
                    <a:schemeClr val="accent2"/>
                  </a:solidFill>
                  <a:latin typeface="+mn-lt"/>
                  <a:ea typeface="+mn-ea"/>
                  <a:cs typeface="+mn-cs"/>
                </a:rPr>
                <a:t>→ None · không đọc phản hồi</a:t>
              </a:r>
            </a:p>
          </p:txBody>
        </p:sp>
        <p:sp>
          <p:nvSpPr>
            <p:cNvPr id="23" name="Rectangle 23"/>
            <p:cNvSpPr/>
            <p:nvPr/>
          </p:nvSpPr>
          <p:spPr>
            <a:xfrm>
              <a:off x="7239000" y="3886200"/>
              <a:ext cx="4267200" cy="1352550"/>
            </a:xfrm>
            <a:prstGeom prst="roundRect">
              <a:avLst>
                <a:gd name="adj" fmla="val 4225"/>
              </a:avLst>
            </a:prstGeom>
            <a:solidFill>
              <a:srgbClr val="FFFDF7"/>
            </a:solidFill>
            <a:ln w="14288">
              <a:solidFill>
                <a:schemeClr val="accent6"/>
              </a:solidFill>
            </a:ln>
          </p:spPr>
        </p:sp>
        <p:sp>
          <p:nvSpPr>
            <p:cNvPr id="24" name="TextBox 24"/>
            <p:cNvSpPr txBox="1"/>
            <p:nvPr/>
          </p:nvSpPr>
          <p:spPr>
            <a:xfrm>
              <a:off x="7498842" y="4064000"/>
              <a:ext cx="1458097" cy="264033"/>
            </a:xfrm>
            <a:prstGeom prst="rect">
              <a:avLst/>
            </a:prstGeom>
            <a:noFill/>
            <a:ln>
              <a:noFill/>
            </a:ln>
          </p:spPr>
          <p:txBody>
            <a:bodyPr wrap="none" lIns="0" tIns="0" rIns="0" bIns="0" anchor="t" anchorCtr="0">
              <a:spAutoFit/>
            </a:bodyPr>
            <a:lstStyle/>
            <a:p>
              <a:pPr algn="l"/>
              <a:r>
                <a:rPr lang="vi-VN" sz="1350" b="1" dirty="0">
                  <a:solidFill>
                    <a:schemeClr val="accent5"/>
                  </a:solidFill>
                  <a:latin typeface="+mn-lt"/>
                  <a:ea typeface="+mn-ea"/>
                  <a:cs typeface="+mn-cs"/>
                </a:rPr>
                <a:t>TRUY VẤN · có ?</a:t>
              </a:r>
            </a:p>
          </p:txBody>
        </p:sp>
        <p:sp>
          <p:nvSpPr>
            <p:cNvPr id="25" name="TextBox 25"/>
            <p:cNvSpPr txBox="1"/>
            <p:nvPr/>
          </p:nvSpPr>
          <p:spPr>
            <a:xfrm>
              <a:off x="7498842" y="4425950"/>
              <a:ext cx="2439802" cy="264033"/>
            </a:xfrm>
            <a:prstGeom prst="rect">
              <a:avLst/>
            </a:prstGeom>
            <a:noFill/>
            <a:ln>
              <a:noFill/>
            </a:ln>
          </p:spPr>
          <p:txBody>
            <a:bodyPr wrap="none" lIns="0" tIns="0" rIns="0" bIns="0" anchor="t" anchorCtr="0">
              <a:spAutoFit/>
            </a:bodyPr>
            <a:lstStyle/>
            <a:p>
              <a:pPr algn="l"/>
              <a:r>
                <a:rPr lang="vi-VN" sz="1350" dirty="0">
                  <a:solidFill>
                    <a:schemeClr val="dk1"/>
                  </a:solidFill>
                  <a:latin typeface="Consolas"/>
                  <a:ea typeface="Consolas"/>
                  <a:cs typeface="Consolas"/>
                </a:rPr>
                <a:t>send_command(d, "*IDN?")</a:t>
              </a:r>
            </a:p>
          </p:txBody>
        </p:sp>
        <p:sp>
          <p:nvSpPr>
            <p:cNvPr id="26" name="TextBox 26"/>
            <p:cNvSpPr txBox="1"/>
            <p:nvPr/>
          </p:nvSpPr>
          <p:spPr>
            <a:xfrm>
              <a:off x="7496556" y="4737100"/>
              <a:ext cx="2931532" cy="352044"/>
            </a:xfrm>
            <a:prstGeom prst="rect">
              <a:avLst/>
            </a:prstGeom>
            <a:noFill/>
            <a:ln>
              <a:noFill/>
            </a:ln>
          </p:spPr>
          <p:txBody>
            <a:bodyPr wrap="none" lIns="0" tIns="0" rIns="0" bIns="0" anchor="t" anchorCtr="0">
              <a:spAutoFit/>
            </a:bodyPr>
            <a:lstStyle/>
            <a:p>
              <a:pPr algn="l"/>
              <a:r>
                <a:rPr lang="vi-VN" sz="1800" b="1" dirty="0">
                  <a:solidFill>
                    <a:schemeClr val="accent3"/>
                  </a:solidFill>
                  <a:latin typeface="+mn-lt"/>
                  <a:ea typeface="+mn-ea"/>
                  <a:cs typeface="+mn-cs"/>
                </a:rPr>
                <a:t>→ chuỗi phản hồi hoặc ""</a:t>
              </a:r>
            </a:p>
          </p:txBody>
        </p:sp>
        <p:sp>
          <p:nvSpPr>
            <p:cNvPr id="27" name="TextBox 27"/>
            <p:cNvSpPr txBox="1"/>
            <p:nvPr/>
          </p:nvSpPr>
          <p:spPr>
            <a:xfrm>
              <a:off x="7232142" y="5416550"/>
              <a:ext cx="2464667" cy="264033"/>
            </a:xfrm>
            <a:prstGeom prst="rect">
              <a:avLst/>
            </a:prstGeom>
            <a:noFill/>
            <a:ln>
              <a:noFill/>
            </a:ln>
          </p:spPr>
          <p:txBody>
            <a:bodyPr wrap="none" lIns="0" tIns="0" rIns="0" bIns="0" anchor="t" anchorCtr="0">
              <a:spAutoFit/>
            </a:bodyPr>
            <a:lstStyle/>
            <a:p>
              <a:pPr algn="l"/>
              <a:r>
                <a:rPr lang="vi-VN" sz="1350" dirty="0">
                  <a:solidFill>
                    <a:schemeClr val="dk1"/>
                  </a:solidFill>
                  <a:latin typeface="+mn-lt"/>
                  <a:ea typeface="+mn-ea"/>
                  <a:cs typeface="+mn-cs"/>
                </a:rPr>
                <a:t>Hàm chung giúp giảm mã lặp.</a:t>
              </a:r>
            </a:p>
          </p:txBody>
        </p:sp>
        <p:sp>
          <p:nvSpPr>
            <p:cNvPr id="28" name="TextBox 28"/>
            <p:cNvSpPr txBox="1"/>
            <p:nvPr/>
          </p:nvSpPr>
          <p:spPr>
            <a:xfrm>
              <a:off x="7232904" y="5715000"/>
              <a:ext cx="3190017" cy="234696"/>
            </a:xfrm>
            <a:prstGeom prst="rect">
              <a:avLst/>
            </a:prstGeom>
            <a:noFill/>
            <a:ln>
              <a:noFill/>
            </a:ln>
          </p:spPr>
          <p:txBody>
            <a:bodyPr wrap="none" lIns="0" tIns="0" rIns="0" bIns="0" anchor="t" anchorCtr="0">
              <a:spAutoFit/>
            </a:bodyPr>
            <a:lstStyle/>
            <a:p>
              <a:pPr algn="l"/>
              <a:r>
                <a:rPr lang="vi-VN" sz="1200" dirty="0">
                  <a:solidFill>
                    <a:schemeClr val="accent5"/>
                  </a:solidFill>
                  <a:latin typeface="+mn-lt"/>
                  <a:ea typeface="+mn-ea"/>
                  <a:cs typeface="+mn-cs"/>
                </a:rPr>
                <a:t>Rỗng? Kiểm tra timeout trước khi parse.</a:t>
              </a:r>
            </a:p>
          </p:txBody>
        </p:sp>
      </p:grpSp>
      <p:grpSp>
        <p:nvGrpSpPr>
          <p:cNvPr id="32" name="page-footer"/>
          <p:cNvGrpSpPr/>
          <p:nvPr/>
        </p:nvGrpSpPr>
        <p:grpSpPr>
          <a:xfrm>
            <a:off x="679704" y="6429375"/>
            <a:ext cx="10832592" cy="234696"/>
            <a:chOff x="679704" y="6429375"/>
            <a:chExt cx="10832592" cy="234696"/>
          </a:xfrm>
        </p:grpSpPr>
        <p:sp>
          <p:nvSpPr>
            <p:cNvPr id="30" name="TextBox 30"/>
            <p:cNvSpPr txBox="1"/>
            <p:nvPr/>
          </p:nvSpPr>
          <p:spPr>
            <a:xfrm>
              <a:off x="679704" y="6429375"/>
              <a:ext cx="2913888" cy="234696"/>
            </a:xfrm>
            <a:prstGeom prst="rect">
              <a:avLst/>
            </a:prstGeom>
            <a:noFill/>
            <a:ln>
              <a:noFill/>
            </a:ln>
          </p:spPr>
          <p:txBody>
            <a:bodyPr wrap="none" lIns="0" tIns="0" rIns="0" bIns="0" anchor="t" anchorCtr="0">
              <a:spAutoFit/>
            </a:bodyPr>
            <a:lstStyle/>
            <a:p>
              <a:pPr algn="l"/>
              <a:r>
                <a:rPr lang="vi-VN" sz="1200" dirty="0">
                  <a:solidFill>
                    <a:schemeClr val="accent5"/>
                  </a:solidFill>
                  <a:latin typeface="+mn-lt"/>
                  <a:ea typeface="+mn-ea"/>
                  <a:cs typeface="+mn-cs"/>
                </a:rPr>
                <a:t>SERIAL · MỘT HÀM, HAI KIỂU KẾT QUẢ</a:t>
              </a:r>
            </a:p>
          </p:txBody>
        </p:sp>
        <p:sp>
          <p:nvSpPr>
            <p:cNvPr id="31" name="TextBox 31"/>
            <p:cNvSpPr txBox="1"/>
            <p:nvPr/>
          </p:nvSpPr>
          <p:spPr>
            <a:xfrm>
              <a:off x="10958932" y="6429375"/>
              <a:ext cx="553364" cy="234696"/>
            </a:xfrm>
            <a:prstGeom prst="rect">
              <a:avLst/>
            </a:prstGeom>
            <a:noFill/>
            <a:ln>
              <a:noFill/>
            </a:ln>
          </p:spPr>
          <p:txBody>
            <a:bodyPr wrap="none" lIns="0" tIns="0" rIns="0" bIns="0" anchor="t" anchorCtr="0">
              <a:spAutoFit/>
            </a:bodyPr>
            <a:lstStyle/>
            <a:p>
              <a:pPr algn="r"/>
              <a:r>
                <a:rPr lang="vi-VN" sz="1200" dirty="0">
                  <a:solidFill>
                    <a:schemeClr val="accent5"/>
                  </a:solidFill>
                  <a:latin typeface="+mn-lt"/>
                  <a:ea typeface="+mn-ea"/>
                  <a:cs typeface="+mn-cs"/>
                </a:rPr>
                <a:t>13 / 25</a:t>
              </a:r>
            </a:p>
          </p:txBody>
        </p:sp>
      </p:grpSp>
    </p:spTree>
  </p:cSld>
  <p:clrMapOvr>
    <a:masterClrMapping/>
  </p:clrMapOvr>
  <p:transition xmlns:p14="http://schemas.microsoft.com/office/powerpoint/2010/main" p14:dur="400">
    <p:fade/>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page-title"/>
          <p:cNvGrpSpPr/>
          <p:nvPr/>
        </p:nvGrpSpPr>
        <p:grpSpPr>
          <a:xfrm>
            <a:off x="669798" y="520700"/>
            <a:ext cx="10836402" cy="955675"/>
            <a:chOff x="669798" y="520700"/>
            <a:chExt cx="10836402" cy="955675"/>
          </a:xfrm>
        </p:grpSpPr>
        <p:sp>
          <p:nvSpPr>
            <p:cNvPr id="2" name="TextBox 2"/>
            <p:cNvSpPr txBox="1"/>
            <p:nvPr/>
          </p:nvSpPr>
          <p:spPr>
            <a:xfrm>
              <a:off x="678942" y="520700"/>
              <a:ext cx="1505742" cy="264033"/>
            </a:xfrm>
            <a:prstGeom prst="rect">
              <a:avLst/>
            </a:prstGeom>
            <a:noFill/>
            <a:ln>
              <a:noFill/>
            </a:ln>
          </p:spPr>
          <p:txBody>
            <a:bodyPr wrap="none" lIns="0" tIns="0" rIns="0" bIns="0" anchor="t" anchorCtr="0">
              <a:spAutoFit/>
            </a:bodyPr>
            <a:lstStyle/>
            <a:p>
              <a:pPr algn="l"/>
              <a:r>
                <a:rPr lang="vi-VN" sz="1350" b="1" dirty="0">
                  <a:solidFill>
                    <a:schemeClr val="accent3"/>
                  </a:solidFill>
                  <a:latin typeface="+mn-lt"/>
                  <a:ea typeface="+mn-ea"/>
                  <a:cs typeface="+mn-cs"/>
                </a:rPr>
                <a:t>03 · COM / SCPI</a:t>
              </a:r>
            </a:p>
          </p:txBody>
        </p:sp>
        <p:sp>
          <p:nvSpPr>
            <p:cNvPr id="3" name="TextBox 3"/>
            <p:cNvSpPr txBox="1"/>
            <p:nvPr/>
          </p:nvSpPr>
          <p:spPr>
            <a:xfrm>
              <a:off x="669798" y="838200"/>
              <a:ext cx="9855244" cy="616077"/>
            </a:xfrm>
            <a:prstGeom prst="rect">
              <a:avLst/>
            </a:prstGeom>
            <a:noFill/>
            <a:ln>
              <a:noFill/>
            </a:ln>
          </p:spPr>
          <p:txBody>
            <a:bodyPr wrap="none" lIns="0" tIns="0" rIns="0" bIns="0" anchor="t" anchorCtr="0">
              <a:spAutoFit/>
            </a:bodyPr>
            <a:lstStyle/>
            <a:p>
              <a:pPr algn="l"/>
              <a:r>
                <a:rPr lang="vi-VN" sz="3150" b="1" dirty="0">
                  <a:solidFill>
                    <a:schemeClr val="accent1"/>
                  </a:solidFill>
                  <a:latin typeface="+mn-lt"/>
                  <a:ea typeface="+mn-ea"/>
                  <a:cs typeface="+mn-cs"/>
                </a:rPr>
                <a:t>Bước 7 — Phân loại lệnh SCPI trước khi thực thi</a:t>
              </a:r>
            </a:p>
          </p:txBody>
        </p:sp>
        <p:sp>
          <p:nvSpPr>
            <p:cNvPr id="4" name="Line 4"/>
            <p:cNvSpPr/>
            <p:nvPr/>
          </p:nvSpPr>
          <p:spPr>
            <a:xfrm>
              <a:off x="685800" y="1466850"/>
              <a:ext cx="10820400" cy="9525"/>
            </a:xfrm>
            <a:custGeom>
              <a:avLst/>
              <a:gdLst/>
              <a:ahLst/>
              <a:cxnLst/>
              <a:rect l="l" t="t" r="r" b="b"/>
              <a:pathLst>
                <a:path w="10820400" h="9525">
                  <a:moveTo>
                    <a:pt x="0" y="0"/>
                  </a:moveTo>
                  <a:lnTo>
                    <a:pt x="10820400" y="0"/>
                  </a:lnTo>
                </a:path>
              </a:pathLst>
            </a:custGeom>
            <a:noFill/>
            <a:ln w="14288">
              <a:solidFill>
                <a:schemeClr val="accent6"/>
              </a:solidFill>
            </a:ln>
          </p:spPr>
        </p:sp>
      </p:grpSp>
      <p:grpSp>
        <p:nvGrpSpPr>
          <p:cNvPr id="27" name="scpi-command-table"/>
          <p:cNvGrpSpPr/>
          <p:nvPr/>
        </p:nvGrpSpPr>
        <p:grpSpPr>
          <a:xfrm>
            <a:off x="678942" y="1911350"/>
            <a:ext cx="10827258" cy="3536950"/>
            <a:chOff x="678942" y="1911350"/>
            <a:chExt cx="10827258" cy="3536950"/>
          </a:xfrm>
        </p:grpSpPr>
        <p:sp>
          <p:nvSpPr>
            <p:cNvPr id="6" name="TextBox 6"/>
            <p:cNvSpPr txBox="1"/>
            <p:nvPr/>
          </p:nvSpPr>
          <p:spPr>
            <a:xfrm>
              <a:off x="678942" y="1911350"/>
              <a:ext cx="1042005" cy="264033"/>
            </a:xfrm>
            <a:prstGeom prst="rect">
              <a:avLst/>
            </a:prstGeom>
            <a:noFill/>
            <a:ln>
              <a:noFill/>
            </a:ln>
          </p:spPr>
          <p:txBody>
            <a:bodyPr wrap="none" lIns="0" tIns="0" rIns="0" bIns="0" anchor="t" anchorCtr="0">
              <a:spAutoFit/>
            </a:bodyPr>
            <a:lstStyle/>
            <a:p>
              <a:pPr algn="l"/>
              <a:r>
                <a:rPr lang="vi-VN" sz="1350" b="1" dirty="0">
                  <a:solidFill>
                    <a:schemeClr val="accent5"/>
                  </a:solidFill>
                  <a:latin typeface="+mn-lt"/>
                  <a:ea typeface="+mn-ea"/>
                  <a:cs typeface="+mn-cs"/>
                </a:rPr>
                <a:t>NHÓM LỆNH</a:t>
              </a:r>
            </a:p>
          </p:txBody>
        </p:sp>
        <p:sp>
          <p:nvSpPr>
            <p:cNvPr id="7" name="TextBox 7"/>
            <p:cNvSpPr txBox="1"/>
            <p:nvPr/>
          </p:nvSpPr>
          <p:spPr>
            <a:xfrm>
              <a:off x="2774442" y="1911350"/>
              <a:ext cx="1465417" cy="264033"/>
            </a:xfrm>
            <a:prstGeom prst="rect">
              <a:avLst/>
            </a:prstGeom>
            <a:noFill/>
            <a:ln>
              <a:noFill/>
            </a:ln>
          </p:spPr>
          <p:txBody>
            <a:bodyPr wrap="none" lIns="0" tIns="0" rIns="0" bIns="0" anchor="t" anchorCtr="0">
              <a:spAutoFit/>
            </a:bodyPr>
            <a:lstStyle/>
            <a:p>
              <a:pPr algn="l"/>
              <a:r>
                <a:rPr lang="vi-VN" sz="1350" b="1" dirty="0">
                  <a:solidFill>
                    <a:schemeClr val="accent5"/>
                  </a:solidFill>
                  <a:latin typeface="+mn-lt"/>
                  <a:ea typeface="+mn-ea"/>
                  <a:cs typeface="+mn-cs"/>
                </a:rPr>
                <a:t>VÍ DỤ TRONG BÀI</a:t>
              </a:r>
            </a:p>
          </p:txBody>
        </p:sp>
        <p:sp>
          <p:nvSpPr>
            <p:cNvPr id="8" name="Line 8"/>
            <p:cNvSpPr/>
            <p:nvPr/>
          </p:nvSpPr>
          <p:spPr>
            <a:xfrm>
              <a:off x="685800" y="2228850"/>
              <a:ext cx="10820400" cy="9525"/>
            </a:xfrm>
            <a:custGeom>
              <a:avLst/>
              <a:gdLst/>
              <a:ahLst/>
              <a:cxnLst/>
              <a:rect l="l" t="t" r="r" b="b"/>
              <a:pathLst>
                <a:path w="10820400" h="9525">
                  <a:moveTo>
                    <a:pt x="0" y="0"/>
                  </a:moveTo>
                  <a:lnTo>
                    <a:pt x="10820400" y="0"/>
                  </a:lnTo>
                </a:path>
              </a:pathLst>
            </a:custGeom>
            <a:noFill/>
            <a:ln w="19050">
              <a:solidFill>
                <a:schemeClr val="accent1"/>
              </a:solidFill>
            </a:ln>
          </p:spPr>
        </p:sp>
        <p:sp>
          <p:nvSpPr>
            <p:cNvPr id="9" name="Rectangle 9"/>
            <p:cNvSpPr/>
            <p:nvPr/>
          </p:nvSpPr>
          <p:spPr>
            <a:xfrm>
              <a:off x="685800" y="2247900"/>
              <a:ext cx="10820400" cy="609600"/>
            </a:xfrm>
            <a:prstGeom prst="rect">
              <a:avLst/>
            </a:prstGeom>
            <a:solidFill>
              <a:schemeClr val="lt2"/>
            </a:solidFill>
            <a:ln>
              <a:noFill/>
            </a:ln>
          </p:spPr>
        </p:sp>
        <p:sp>
          <p:nvSpPr>
            <p:cNvPr id="10" name="TextBox 10"/>
            <p:cNvSpPr txBox="1"/>
            <p:nvPr/>
          </p:nvSpPr>
          <p:spPr>
            <a:xfrm>
              <a:off x="867918" y="2425700"/>
              <a:ext cx="887853" cy="322707"/>
            </a:xfrm>
            <a:prstGeom prst="rect">
              <a:avLst/>
            </a:prstGeom>
            <a:noFill/>
            <a:ln>
              <a:noFill/>
            </a:ln>
          </p:spPr>
          <p:txBody>
            <a:bodyPr wrap="none" lIns="0" tIns="0" rIns="0" bIns="0" anchor="t" anchorCtr="0">
              <a:spAutoFit/>
            </a:bodyPr>
            <a:lstStyle/>
            <a:p>
              <a:pPr algn="l"/>
              <a:r>
                <a:rPr lang="vi-VN" sz="1650" b="1" dirty="0">
                  <a:solidFill>
                    <a:schemeClr val="accent1"/>
                  </a:solidFill>
                  <a:latin typeface="+mn-lt"/>
                  <a:ea typeface="+mn-ea"/>
                  <a:cs typeface="+mn-cs"/>
                </a:rPr>
                <a:t>Common</a:t>
              </a:r>
            </a:p>
          </p:txBody>
        </p:sp>
        <p:sp>
          <p:nvSpPr>
            <p:cNvPr id="11" name="TextBox 11"/>
            <p:cNvSpPr txBox="1"/>
            <p:nvPr/>
          </p:nvSpPr>
          <p:spPr>
            <a:xfrm>
              <a:off x="2774442" y="2463800"/>
              <a:ext cx="3710178" cy="264033"/>
            </a:xfrm>
            <a:prstGeom prst="rect">
              <a:avLst/>
            </a:prstGeom>
            <a:noFill/>
            <a:ln>
              <a:noFill/>
            </a:ln>
          </p:spPr>
          <p:txBody>
            <a:bodyPr wrap="none" lIns="0" tIns="0" rIns="0" bIns="0" anchor="t" anchorCtr="0">
              <a:spAutoFit/>
            </a:bodyPr>
            <a:lstStyle/>
            <a:p>
              <a:pPr algn="l"/>
              <a:r>
                <a:rPr lang="vi-VN" sz="1350" dirty="0">
                  <a:solidFill>
                    <a:schemeClr val="dk1"/>
                  </a:solidFill>
                  <a:latin typeface="Consolas"/>
                  <a:ea typeface="Consolas"/>
                  <a:cs typeface="Consolas"/>
                </a:rPr>
                <a:t>*IDN? · *RST · *CLS · *TST? · *OPC?</a:t>
              </a:r>
            </a:p>
          </p:txBody>
        </p:sp>
        <p:sp>
          <p:nvSpPr>
            <p:cNvPr id="12" name="Line 12"/>
            <p:cNvSpPr/>
            <p:nvPr/>
          </p:nvSpPr>
          <p:spPr>
            <a:xfrm>
              <a:off x="685800" y="2857500"/>
              <a:ext cx="10820400" cy="9525"/>
            </a:xfrm>
            <a:custGeom>
              <a:avLst/>
              <a:gdLst/>
              <a:ahLst/>
              <a:cxnLst/>
              <a:rect l="l" t="t" r="r" b="b"/>
              <a:pathLst>
                <a:path w="10820400" h="9525">
                  <a:moveTo>
                    <a:pt x="0" y="0"/>
                  </a:moveTo>
                  <a:lnTo>
                    <a:pt x="10820400" y="0"/>
                  </a:lnTo>
                </a:path>
              </a:pathLst>
            </a:custGeom>
            <a:noFill/>
            <a:ln w="9525">
              <a:solidFill>
                <a:schemeClr val="accent6"/>
              </a:solidFill>
            </a:ln>
          </p:spPr>
        </p:sp>
        <p:sp>
          <p:nvSpPr>
            <p:cNvPr id="13" name="TextBox 13"/>
            <p:cNvSpPr txBox="1"/>
            <p:nvPr/>
          </p:nvSpPr>
          <p:spPr>
            <a:xfrm>
              <a:off x="867918" y="3035300"/>
              <a:ext cx="1119835" cy="322707"/>
            </a:xfrm>
            <a:prstGeom prst="rect">
              <a:avLst/>
            </a:prstGeom>
            <a:noFill/>
            <a:ln>
              <a:noFill/>
            </a:ln>
          </p:spPr>
          <p:txBody>
            <a:bodyPr wrap="none" lIns="0" tIns="0" rIns="0" bIns="0" anchor="t" anchorCtr="0">
              <a:spAutoFit/>
            </a:bodyPr>
            <a:lstStyle/>
            <a:p>
              <a:pPr algn="l"/>
              <a:r>
                <a:rPr lang="vi-VN" sz="1650" b="1" dirty="0">
                  <a:solidFill>
                    <a:schemeClr val="accent1"/>
                  </a:solidFill>
                  <a:latin typeface="+mn-lt"/>
                  <a:ea typeface="+mn-ea"/>
                  <a:cs typeface="+mn-cs"/>
                </a:rPr>
                <a:t>Configure</a:t>
              </a:r>
            </a:p>
          </p:txBody>
        </p:sp>
        <p:sp>
          <p:nvSpPr>
            <p:cNvPr id="14" name="TextBox 14"/>
            <p:cNvSpPr txBox="1"/>
            <p:nvPr/>
          </p:nvSpPr>
          <p:spPr>
            <a:xfrm>
              <a:off x="2774442" y="2978150"/>
              <a:ext cx="4449470" cy="264033"/>
            </a:xfrm>
            <a:prstGeom prst="rect">
              <a:avLst/>
            </a:prstGeom>
            <a:noFill/>
            <a:ln>
              <a:noFill/>
            </a:ln>
          </p:spPr>
          <p:txBody>
            <a:bodyPr wrap="none" lIns="0" tIns="0" rIns="0" bIns="0" anchor="t" anchorCtr="0">
              <a:spAutoFit/>
            </a:bodyPr>
            <a:lstStyle/>
            <a:p>
              <a:pPr algn="l"/>
              <a:r>
                <a:rPr lang="vi-VN" sz="1350" dirty="0">
                  <a:solidFill>
                    <a:schemeClr val="dk1"/>
                  </a:solidFill>
                  <a:latin typeface="Consolas"/>
                  <a:ea typeface="Consolas"/>
                  <a:cs typeface="Consolas"/>
                </a:rPr>
                <a:t>CONF:VOLT:DC · CONF:VOLT:AC · CONF:CURR:DC</a:t>
              </a:r>
            </a:p>
          </p:txBody>
        </p:sp>
        <p:sp>
          <p:nvSpPr>
            <p:cNvPr id="15" name="TextBox 15"/>
            <p:cNvSpPr txBox="1"/>
            <p:nvPr/>
          </p:nvSpPr>
          <p:spPr>
            <a:xfrm>
              <a:off x="2774442" y="3225800"/>
              <a:ext cx="2970886" cy="264033"/>
            </a:xfrm>
            <a:prstGeom prst="rect">
              <a:avLst/>
            </a:prstGeom>
            <a:noFill/>
            <a:ln>
              <a:noFill/>
            </a:ln>
          </p:spPr>
          <p:txBody>
            <a:bodyPr wrap="none" lIns="0" tIns="0" rIns="0" bIns="0" anchor="t" anchorCtr="0">
              <a:spAutoFit/>
            </a:bodyPr>
            <a:lstStyle/>
            <a:p>
              <a:pPr algn="l"/>
              <a:r>
                <a:rPr lang="vi-VN" sz="1350" dirty="0">
                  <a:solidFill>
                    <a:schemeClr val="dk1"/>
                  </a:solidFill>
                  <a:latin typeface="Consolas"/>
                  <a:ea typeface="Consolas"/>
                  <a:cs typeface="Consolas"/>
                </a:rPr>
                <a:t>CONF:RES · CONF:FRES · CONF?</a:t>
              </a:r>
            </a:p>
          </p:txBody>
        </p:sp>
        <p:sp>
          <p:nvSpPr>
            <p:cNvPr id="16" name="Line 16"/>
            <p:cNvSpPr/>
            <p:nvPr/>
          </p:nvSpPr>
          <p:spPr>
            <a:xfrm>
              <a:off x="685800" y="3581400"/>
              <a:ext cx="10820400" cy="9525"/>
            </a:xfrm>
            <a:custGeom>
              <a:avLst/>
              <a:gdLst/>
              <a:ahLst/>
              <a:cxnLst/>
              <a:rect l="l" t="t" r="r" b="b"/>
              <a:pathLst>
                <a:path w="10820400" h="9525">
                  <a:moveTo>
                    <a:pt x="0" y="0"/>
                  </a:moveTo>
                  <a:lnTo>
                    <a:pt x="10820400" y="0"/>
                  </a:lnTo>
                </a:path>
              </a:pathLst>
            </a:custGeom>
            <a:noFill/>
            <a:ln w="9525">
              <a:solidFill>
                <a:schemeClr val="accent6"/>
              </a:solidFill>
            </a:ln>
          </p:spPr>
        </p:sp>
        <p:sp>
          <p:nvSpPr>
            <p:cNvPr id="17" name="Rectangle 17"/>
            <p:cNvSpPr/>
            <p:nvPr/>
          </p:nvSpPr>
          <p:spPr>
            <a:xfrm>
              <a:off x="685800" y="3600450"/>
              <a:ext cx="10820400" cy="609600"/>
            </a:xfrm>
            <a:prstGeom prst="rect">
              <a:avLst/>
            </a:prstGeom>
            <a:solidFill>
              <a:schemeClr val="lt2"/>
            </a:solidFill>
            <a:ln>
              <a:noFill/>
            </a:ln>
          </p:spPr>
        </p:sp>
        <p:sp>
          <p:nvSpPr>
            <p:cNvPr id="18" name="TextBox 18"/>
            <p:cNvSpPr txBox="1"/>
            <p:nvPr/>
          </p:nvSpPr>
          <p:spPr>
            <a:xfrm>
              <a:off x="867918" y="3778250"/>
              <a:ext cx="665405" cy="322707"/>
            </a:xfrm>
            <a:prstGeom prst="rect">
              <a:avLst/>
            </a:prstGeom>
            <a:noFill/>
            <a:ln>
              <a:noFill/>
            </a:ln>
          </p:spPr>
          <p:txBody>
            <a:bodyPr wrap="none" lIns="0" tIns="0" rIns="0" bIns="0" anchor="t" anchorCtr="0">
              <a:spAutoFit/>
            </a:bodyPr>
            <a:lstStyle/>
            <a:p>
              <a:pPr algn="l"/>
              <a:r>
                <a:rPr lang="vi-VN" sz="1650" b="1" dirty="0">
                  <a:solidFill>
                    <a:schemeClr val="accent1"/>
                  </a:solidFill>
                  <a:latin typeface="+mn-lt"/>
                  <a:ea typeface="+mn-ea"/>
                  <a:cs typeface="+mn-cs"/>
                </a:rPr>
                <a:t>Sense</a:t>
              </a:r>
            </a:p>
          </p:txBody>
        </p:sp>
        <p:sp>
          <p:nvSpPr>
            <p:cNvPr id="19" name="TextBox 19"/>
            <p:cNvSpPr txBox="1"/>
            <p:nvPr/>
          </p:nvSpPr>
          <p:spPr>
            <a:xfrm>
              <a:off x="2774442" y="3816350"/>
              <a:ext cx="5505602" cy="264033"/>
            </a:xfrm>
            <a:prstGeom prst="rect">
              <a:avLst/>
            </a:prstGeom>
            <a:noFill/>
            <a:ln>
              <a:noFill/>
            </a:ln>
          </p:spPr>
          <p:txBody>
            <a:bodyPr wrap="none" lIns="0" tIns="0" rIns="0" bIns="0" anchor="t" anchorCtr="0">
              <a:spAutoFit/>
            </a:bodyPr>
            <a:lstStyle/>
            <a:p>
              <a:pPr algn="l"/>
              <a:r>
                <a:rPr lang="vi-VN" sz="1350" dirty="0">
                  <a:solidFill>
                    <a:schemeClr val="dk1"/>
                  </a:solidFill>
                  <a:latin typeface="Consolas"/>
                  <a:ea typeface="Consolas"/>
                  <a:cs typeface="Consolas"/>
                </a:rPr>
                <a:t>SENS:FUNC? · SENS:VOLT:DC:RANG? · SENS:VOLT:DC:NPLC?</a:t>
              </a:r>
            </a:p>
          </p:txBody>
        </p:sp>
        <p:sp>
          <p:nvSpPr>
            <p:cNvPr id="20" name="Line 20"/>
            <p:cNvSpPr/>
            <p:nvPr/>
          </p:nvSpPr>
          <p:spPr>
            <a:xfrm>
              <a:off x="685800" y="4210050"/>
              <a:ext cx="10820400" cy="9525"/>
            </a:xfrm>
            <a:custGeom>
              <a:avLst/>
              <a:gdLst/>
              <a:ahLst/>
              <a:cxnLst/>
              <a:rect l="l" t="t" r="r" b="b"/>
              <a:pathLst>
                <a:path w="10820400" h="9525">
                  <a:moveTo>
                    <a:pt x="0" y="0"/>
                  </a:moveTo>
                  <a:lnTo>
                    <a:pt x="10820400" y="0"/>
                  </a:lnTo>
                </a:path>
              </a:pathLst>
            </a:custGeom>
            <a:noFill/>
            <a:ln w="9525">
              <a:solidFill>
                <a:schemeClr val="accent6"/>
              </a:solidFill>
            </a:ln>
          </p:spPr>
        </p:sp>
        <p:sp>
          <p:nvSpPr>
            <p:cNvPr id="21" name="TextBox 21"/>
            <p:cNvSpPr txBox="1"/>
            <p:nvPr/>
          </p:nvSpPr>
          <p:spPr>
            <a:xfrm>
              <a:off x="867918" y="4387850"/>
              <a:ext cx="968980" cy="322707"/>
            </a:xfrm>
            <a:prstGeom prst="rect">
              <a:avLst/>
            </a:prstGeom>
            <a:noFill/>
            <a:ln>
              <a:noFill/>
            </a:ln>
          </p:spPr>
          <p:txBody>
            <a:bodyPr wrap="none" lIns="0" tIns="0" rIns="0" bIns="0" anchor="t" anchorCtr="0">
              <a:spAutoFit/>
            </a:bodyPr>
            <a:lstStyle/>
            <a:p>
              <a:pPr algn="l"/>
              <a:r>
                <a:rPr lang="vi-VN" sz="1650" b="1" dirty="0">
                  <a:solidFill>
                    <a:schemeClr val="accent1"/>
                  </a:solidFill>
                  <a:latin typeface="+mn-lt"/>
                  <a:ea typeface="+mn-ea"/>
                  <a:cs typeface="+mn-cs"/>
                </a:rPr>
                <a:t>Measure</a:t>
              </a:r>
            </a:p>
          </p:txBody>
        </p:sp>
        <p:sp>
          <p:nvSpPr>
            <p:cNvPr id="22" name="TextBox 22"/>
            <p:cNvSpPr txBox="1"/>
            <p:nvPr/>
          </p:nvSpPr>
          <p:spPr>
            <a:xfrm>
              <a:off x="2774442" y="4425950"/>
              <a:ext cx="3076499" cy="264033"/>
            </a:xfrm>
            <a:prstGeom prst="rect">
              <a:avLst/>
            </a:prstGeom>
            <a:noFill/>
            <a:ln>
              <a:noFill/>
            </a:ln>
          </p:spPr>
          <p:txBody>
            <a:bodyPr wrap="none" lIns="0" tIns="0" rIns="0" bIns="0" anchor="t" anchorCtr="0">
              <a:spAutoFit/>
            </a:bodyPr>
            <a:lstStyle/>
            <a:p>
              <a:pPr algn="l"/>
              <a:r>
                <a:rPr lang="vi-VN" sz="1350" dirty="0">
                  <a:solidFill>
                    <a:schemeClr val="dk1"/>
                  </a:solidFill>
                  <a:latin typeface="Consolas"/>
                  <a:ea typeface="Consolas"/>
                  <a:cs typeface="Consolas"/>
                </a:rPr>
                <a:t>READ? · MEAS:VOLT:DC? · FETC?</a:t>
              </a:r>
            </a:p>
          </p:txBody>
        </p:sp>
        <p:sp>
          <p:nvSpPr>
            <p:cNvPr id="23" name="Line 23"/>
            <p:cNvSpPr/>
            <p:nvPr/>
          </p:nvSpPr>
          <p:spPr>
            <a:xfrm>
              <a:off x="685800" y="4819650"/>
              <a:ext cx="10820400" cy="9525"/>
            </a:xfrm>
            <a:custGeom>
              <a:avLst/>
              <a:gdLst/>
              <a:ahLst/>
              <a:cxnLst/>
              <a:rect l="l" t="t" r="r" b="b"/>
              <a:pathLst>
                <a:path w="10820400" h="9525">
                  <a:moveTo>
                    <a:pt x="0" y="0"/>
                  </a:moveTo>
                  <a:lnTo>
                    <a:pt x="10820400" y="0"/>
                  </a:lnTo>
                </a:path>
              </a:pathLst>
            </a:custGeom>
            <a:noFill/>
            <a:ln w="9525">
              <a:solidFill>
                <a:schemeClr val="accent6"/>
              </a:solidFill>
            </a:ln>
          </p:spPr>
        </p:sp>
        <p:sp>
          <p:nvSpPr>
            <p:cNvPr id="24" name="Rectangle 24"/>
            <p:cNvSpPr/>
            <p:nvPr/>
          </p:nvSpPr>
          <p:spPr>
            <a:xfrm>
              <a:off x="685800" y="4838700"/>
              <a:ext cx="10820400" cy="609600"/>
            </a:xfrm>
            <a:prstGeom prst="rect">
              <a:avLst/>
            </a:prstGeom>
            <a:solidFill>
              <a:schemeClr val="lt2"/>
            </a:solidFill>
            <a:ln>
              <a:noFill/>
            </a:ln>
          </p:spPr>
        </p:sp>
        <p:sp>
          <p:nvSpPr>
            <p:cNvPr id="25" name="TextBox 25"/>
            <p:cNvSpPr txBox="1"/>
            <p:nvPr/>
          </p:nvSpPr>
          <p:spPr>
            <a:xfrm>
              <a:off x="867918" y="5016500"/>
              <a:ext cx="665405" cy="322707"/>
            </a:xfrm>
            <a:prstGeom prst="rect">
              <a:avLst/>
            </a:prstGeom>
            <a:noFill/>
            <a:ln>
              <a:noFill/>
            </a:ln>
          </p:spPr>
          <p:txBody>
            <a:bodyPr wrap="none" lIns="0" tIns="0" rIns="0" bIns="0" anchor="t" anchorCtr="0">
              <a:spAutoFit/>
            </a:bodyPr>
            <a:lstStyle/>
            <a:p>
              <a:pPr algn="l"/>
              <a:r>
                <a:rPr lang="vi-VN" sz="1650" b="1" dirty="0">
                  <a:solidFill>
                    <a:schemeClr val="accent1"/>
                  </a:solidFill>
                  <a:latin typeface="+mn-lt"/>
                  <a:ea typeface="+mn-ea"/>
                  <a:cs typeface="+mn-cs"/>
                </a:rPr>
                <a:t>Error</a:t>
              </a:r>
            </a:p>
          </p:txBody>
        </p:sp>
        <p:sp>
          <p:nvSpPr>
            <p:cNvPr id="26" name="TextBox 26"/>
            <p:cNvSpPr txBox="1"/>
            <p:nvPr/>
          </p:nvSpPr>
          <p:spPr>
            <a:xfrm>
              <a:off x="2774442" y="5054600"/>
              <a:ext cx="4990738" cy="264033"/>
            </a:xfrm>
            <a:prstGeom prst="rect">
              <a:avLst/>
            </a:prstGeom>
            <a:noFill/>
            <a:ln>
              <a:noFill/>
            </a:ln>
          </p:spPr>
          <p:txBody>
            <a:bodyPr wrap="none" lIns="0" tIns="0" rIns="0" bIns="0" anchor="t" anchorCtr="0">
              <a:spAutoFit/>
            </a:bodyPr>
            <a:lstStyle/>
            <a:p>
              <a:pPr algn="l"/>
              <a:r>
                <a:rPr lang="vi-VN" sz="1350" dirty="0">
                  <a:solidFill>
                    <a:schemeClr val="dk1"/>
                  </a:solidFill>
                  <a:latin typeface="Consolas"/>
                  <a:ea typeface="Consolas"/>
                  <a:cs typeface="Consolas"/>
                </a:rPr>
                <a:t>SYST:ERR? đọc lỗi cũ nhất · *CLS xóa hàng đợi lỗi</a:t>
              </a:r>
            </a:p>
          </p:txBody>
        </p:sp>
      </p:grpSp>
      <p:grpSp>
        <p:nvGrpSpPr>
          <p:cNvPr id="31" name="query-setting-rule"/>
          <p:cNvGrpSpPr/>
          <p:nvPr/>
        </p:nvGrpSpPr>
        <p:grpSpPr>
          <a:xfrm>
            <a:off x="678942" y="5651500"/>
            <a:ext cx="7457003" cy="524383"/>
            <a:chOff x="678942" y="5651500"/>
            <a:chExt cx="7457003" cy="524383"/>
          </a:xfrm>
        </p:grpSpPr>
        <p:sp>
          <p:nvSpPr>
            <p:cNvPr id="28" name="TextBox 28"/>
            <p:cNvSpPr txBox="1"/>
            <p:nvPr/>
          </p:nvSpPr>
          <p:spPr>
            <a:xfrm>
              <a:off x="679704" y="5651500"/>
              <a:ext cx="4279603" cy="234696"/>
            </a:xfrm>
            <a:prstGeom prst="rect">
              <a:avLst/>
            </a:prstGeom>
            <a:noFill/>
            <a:ln>
              <a:noFill/>
            </a:ln>
          </p:spPr>
          <p:txBody>
            <a:bodyPr wrap="none" lIns="0" tIns="0" rIns="0" bIns="0" anchor="t" anchorCtr="0">
              <a:spAutoFit/>
            </a:bodyPr>
            <a:lstStyle/>
            <a:p>
              <a:pPr algn="l"/>
              <a:r>
                <a:rPr lang="vi-VN" sz="1200" dirty="0">
                  <a:solidFill>
                    <a:schemeClr val="accent5"/>
                  </a:solidFill>
                  <a:latin typeface="Consolas"/>
                  <a:ea typeface="Consolas"/>
                  <a:cs typeface="Consolas"/>
                </a:rPr>
                <a:t>kind = "QUERY" if "?" in command else "SETTING"</a:t>
              </a:r>
            </a:p>
          </p:txBody>
        </p:sp>
        <p:sp>
          <p:nvSpPr>
            <p:cNvPr id="29" name="TextBox 29"/>
            <p:cNvSpPr txBox="1"/>
            <p:nvPr/>
          </p:nvSpPr>
          <p:spPr>
            <a:xfrm>
              <a:off x="678942" y="5911850"/>
              <a:ext cx="2683639" cy="264033"/>
            </a:xfrm>
            <a:prstGeom prst="rect">
              <a:avLst/>
            </a:prstGeom>
            <a:noFill/>
            <a:ln>
              <a:noFill/>
            </a:ln>
          </p:spPr>
          <p:txBody>
            <a:bodyPr wrap="none" lIns="0" tIns="0" rIns="0" bIns="0" anchor="t" anchorCtr="0">
              <a:spAutoFit/>
            </a:bodyPr>
            <a:lstStyle/>
            <a:p>
              <a:pPr algn="l"/>
              <a:r>
                <a:rPr lang="vi-VN" sz="1350" b="1" dirty="0">
                  <a:solidFill>
                    <a:schemeClr val="accent2"/>
                  </a:solidFill>
                  <a:latin typeface="+mn-lt"/>
                  <a:ea typeface="+mn-ea"/>
                  <a:cs typeface="+mn-cs"/>
                </a:rPr>
                <a:t>Có ? → truy vấn; chờ phản hồi</a:t>
              </a:r>
            </a:p>
          </p:txBody>
        </p:sp>
        <p:sp>
          <p:nvSpPr>
            <p:cNvPr id="30" name="TextBox 30"/>
            <p:cNvSpPr txBox="1"/>
            <p:nvPr/>
          </p:nvSpPr>
          <p:spPr>
            <a:xfrm>
              <a:off x="4336542" y="5911850"/>
              <a:ext cx="3799403" cy="264033"/>
            </a:xfrm>
            <a:prstGeom prst="rect">
              <a:avLst/>
            </a:prstGeom>
            <a:noFill/>
            <a:ln>
              <a:noFill/>
            </a:ln>
          </p:spPr>
          <p:txBody>
            <a:bodyPr wrap="none" lIns="0" tIns="0" rIns="0" bIns="0" anchor="t" anchorCtr="0">
              <a:spAutoFit/>
            </a:bodyPr>
            <a:lstStyle/>
            <a:p>
              <a:pPr algn="l"/>
              <a:r>
                <a:rPr lang="vi-VN" sz="1350" b="1" dirty="0">
                  <a:solidFill>
                    <a:schemeClr val="accent1"/>
                  </a:solidFill>
                  <a:latin typeface="+mn-lt"/>
                  <a:ea typeface="+mn-ea"/>
                  <a:cs typeface="+mn-cs"/>
                </a:rPr>
                <a:t>Không có ? → cấu hình; không chờ phản hồi</a:t>
              </a:r>
            </a:p>
          </p:txBody>
        </p:sp>
      </p:grpSp>
      <p:grpSp>
        <p:nvGrpSpPr>
          <p:cNvPr id="34" name="page-footer"/>
          <p:cNvGrpSpPr/>
          <p:nvPr/>
        </p:nvGrpSpPr>
        <p:grpSpPr>
          <a:xfrm>
            <a:off x="679704" y="6429375"/>
            <a:ext cx="10832592" cy="234696"/>
            <a:chOff x="679704" y="6429375"/>
            <a:chExt cx="10832592" cy="234696"/>
          </a:xfrm>
        </p:grpSpPr>
        <p:sp>
          <p:nvSpPr>
            <p:cNvPr id="32" name="TextBox 32"/>
            <p:cNvSpPr txBox="1"/>
            <p:nvPr/>
          </p:nvSpPr>
          <p:spPr>
            <a:xfrm>
              <a:off x="679704" y="6429375"/>
              <a:ext cx="3272333" cy="234696"/>
            </a:xfrm>
            <a:prstGeom prst="rect">
              <a:avLst/>
            </a:prstGeom>
            <a:noFill/>
            <a:ln>
              <a:noFill/>
            </a:ln>
          </p:spPr>
          <p:txBody>
            <a:bodyPr wrap="none" lIns="0" tIns="0" rIns="0" bIns="0" anchor="t" anchorCtr="0">
              <a:spAutoFit/>
            </a:bodyPr>
            <a:lstStyle/>
            <a:p>
              <a:pPr algn="l"/>
              <a:r>
                <a:rPr lang="vi-VN" sz="1200" dirty="0">
                  <a:solidFill>
                    <a:schemeClr val="accent5"/>
                  </a:solidFill>
                  <a:latin typeface="+mn-lt"/>
                  <a:ea typeface="+mn-ea"/>
                  <a:cs typeface="+mn-cs"/>
                </a:rPr>
                <a:t>SCPI · NHẬN DIỆN TRUY VẤN TRƯỚC KHI ĐỌC</a:t>
              </a:r>
            </a:p>
          </p:txBody>
        </p:sp>
        <p:sp>
          <p:nvSpPr>
            <p:cNvPr id="33" name="TextBox 33"/>
            <p:cNvSpPr txBox="1"/>
            <p:nvPr/>
          </p:nvSpPr>
          <p:spPr>
            <a:xfrm>
              <a:off x="10958932" y="6429375"/>
              <a:ext cx="553364" cy="234696"/>
            </a:xfrm>
            <a:prstGeom prst="rect">
              <a:avLst/>
            </a:prstGeom>
            <a:noFill/>
            <a:ln>
              <a:noFill/>
            </a:ln>
          </p:spPr>
          <p:txBody>
            <a:bodyPr wrap="none" lIns="0" tIns="0" rIns="0" bIns="0" anchor="t" anchorCtr="0">
              <a:spAutoFit/>
            </a:bodyPr>
            <a:lstStyle/>
            <a:p>
              <a:pPr algn="r"/>
              <a:r>
                <a:rPr lang="vi-VN" sz="1200" dirty="0">
                  <a:solidFill>
                    <a:schemeClr val="accent5"/>
                  </a:solidFill>
                  <a:latin typeface="+mn-lt"/>
                  <a:ea typeface="+mn-ea"/>
                  <a:cs typeface="+mn-cs"/>
                </a:rPr>
                <a:t>14 / 25</a:t>
              </a:r>
            </a:p>
          </p:txBody>
        </p:sp>
      </p:grpSp>
    </p:spTree>
  </p:cSld>
  <p:clrMapOvr>
    <a:masterClrMapping/>
  </p:clrMapOvr>
  <p:transition xmlns:p14="http://schemas.microsoft.com/office/powerpoint/2010/main" p14:dur="400">
    <p:fade/>
  </p:transition>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page-title"/>
          <p:cNvGrpSpPr/>
          <p:nvPr/>
        </p:nvGrpSpPr>
        <p:grpSpPr>
          <a:xfrm>
            <a:off x="669798" y="520700"/>
            <a:ext cx="10836402" cy="955675"/>
            <a:chOff x="669798" y="520700"/>
            <a:chExt cx="10836402" cy="955675"/>
          </a:xfrm>
        </p:grpSpPr>
        <p:sp>
          <p:nvSpPr>
            <p:cNvPr id="2" name="TextBox 2"/>
            <p:cNvSpPr txBox="1"/>
            <p:nvPr/>
          </p:nvSpPr>
          <p:spPr>
            <a:xfrm>
              <a:off x="678942" y="520700"/>
              <a:ext cx="1505742" cy="264033"/>
            </a:xfrm>
            <a:prstGeom prst="rect">
              <a:avLst/>
            </a:prstGeom>
            <a:noFill/>
            <a:ln>
              <a:noFill/>
            </a:ln>
          </p:spPr>
          <p:txBody>
            <a:bodyPr wrap="none" lIns="0" tIns="0" rIns="0" bIns="0" anchor="t" anchorCtr="0">
              <a:spAutoFit/>
            </a:bodyPr>
            <a:lstStyle/>
            <a:p>
              <a:pPr algn="l"/>
              <a:r>
                <a:rPr lang="vi-VN" sz="1350" b="1" dirty="0">
                  <a:solidFill>
                    <a:schemeClr val="accent3"/>
                  </a:solidFill>
                  <a:latin typeface="+mn-lt"/>
                  <a:ea typeface="+mn-ea"/>
                  <a:cs typeface="+mn-cs"/>
                </a:rPr>
                <a:t>03 · COM / SCPI</a:t>
              </a:r>
            </a:p>
          </p:txBody>
        </p:sp>
        <p:sp>
          <p:nvSpPr>
            <p:cNvPr id="3" name="TextBox 3"/>
            <p:cNvSpPr txBox="1"/>
            <p:nvPr/>
          </p:nvSpPr>
          <p:spPr>
            <a:xfrm>
              <a:off x="669798" y="838200"/>
              <a:ext cx="9371831" cy="616077"/>
            </a:xfrm>
            <a:prstGeom prst="rect">
              <a:avLst/>
            </a:prstGeom>
            <a:noFill/>
            <a:ln>
              <a:noFill/>
            </a:ln>
          </p:spPr>
          <p:txBody>
            <a:bodyPr wrap="none" lIns="0" tIns="0" rIns="0" bIns="0" anchor="t" anchorCtr="0">
              <a:spAutoFit/>
            </a:bodyPr>
            <a:lstStyle/>
            <a:p>
              <a:pPr algn="l"/>
              <a:r>
                <a:rPr lang="vi-VN" sz="3150" b="1" dirty="0">
                  <a:solidFill>
                    <a:schemeClr val="accent1"/>
                  </a:solidFill>
                  <a:latin typeface="+mn-lt"/>
                  <a:ea typeface="+mn-ea"/>
                  <a:cs typeface="+mn-cs"/>
                </a:rPr>
                <a:t>Bước 8 — Chuỗi lệnh cấu hình, xác minh và đo</a:t>
              </a:r>
            </a:p>
          </p:txBody>
        </p:sp>
        <p:sp>
          <p:nvSpPr>
            <p:cNvPr id="4" name="Line 4"/>
            <p:cNvSpPr/>
            <p:nvPr/>
          </p:nvSpPr>
          <p:spPr>
            <a:xfrm>
              <a:off x="685800" y="1466850"/>
              <a:ext cx="10820400" cy="9525"/>
            </a:xfrm>
            <a:custGeom>
              <a:avLst/>
              <a:gdLst/>
              <a:ahLst/>
              <a:cxnLst/>
              <a:rect l="l" t="t" r="r" b="b"/>
              <a:pathLst>
                <a:path w="10820400" h="9525">
                  <a:moveTo>
                    <a:pt x="0" y="0"/>
                  </a:moveTo>
                  <a:lnTo>
                    <a:pt x="10820400" y="0"/>
                  </a:lnTo>
                </a:path>
              </a:pathLst>
            </a:custGeom>
            <a:noFill/>
            <a:ln w="14288">
              <a:solidFill>
                <a:schemeClr val="accent6"/>
              </a:solidFill>
            </a:ln>
          </p:spPr>
        </p:sp>
      </p:grpSp>
      <p:grpSp>
        <p:nvGrpSpPr>
          <p:cNvPr id="17" name="sequence-code"/>
          <p:cNvGrpSpPr/>
          <p:nvPr/>
        </p:nvGrpSpPr>
        <p:grpSpPr>
          <a:xfrm>
            <a:off x="678180" y="1930400"/>
            <a:ext cx="5779770" cy="3843020"/>
            <a:chOff x="678180" y="1930400"/>
            <a:chExt cx="5779770" cy="3843020"/>
          </a:xfrm>
        </p:grpSpPr>
        <p:sp>
          <p:nvSpPr>
            <p:cNvPr id="6" name="TextBox 6"/>
            <p:cNvSpPr txBox="1"/>
            <p:nvPr/>
          </p:nvSpPr>
          <p:spPr>
            <a:xfrm>
              <a:off x="678942" y="1930400"/>
              <a:ext cx="3066115" cy="264033"/>
            </a:xfrm>
            <a:prstGeom prst="rect">
              <a:avLst/>
            </a:prstGeom>
            <a:noFill/>
            <a:ln>
              <a:noFill/>
            </a:ln>
          </p:spPr>
          <p:txBody>
            <a:bodyPr wrap="none" lIns="0" tIns="0" rIns="0" bIns="0" anchor="t" anchorCtr="0">
              <a:spAutoFit/>
            </a:bodyPr>
            <a:lstStyle/>
            <a:p>
              <a:pPr algn="l"/>
              <a:r>
                <a:rPr lang="vi-VN" sz="1350" b="1" dirty="0">
                  <a:solidFill>
                    <a:schemeClr val="accent5"/>
                  </a:solidFill>
                  <a:latin typeface="+mn-lt"/>
                  <a:ea typeface="+mn-ea"/>
                  <a:cs typeface="+mn-cs"/>
                </a:rPr>
                <a:t>CODE · device ĐÃ MỞ TRONG with</a:t>
              </a:r>
            </a:p>
          </p:txBody>
        </p:sp>
        <p:sp>
          <p:nvSpPr>
            <p:cNvPr id="7" name="Rectangle 7"/>
            <p:cNvSpPr/>
            <p:nvPr/>
          </p:nvSpPr>
          <p:spPr>
            <a:xfrm>
              <a:off x="685800" y="2305050"/>
              <a:ext cx="5772150" cy="2952750"/>
            </a:xfrm>
            <a:prstGeom prst="roundRect">
              <a:avLst>
                <a:gd name="adj" fmla="val 1935"/>
              </a:avLst>
            </a:prstGeom>
            <a:solidFill>
              <a:schemeClr val="lt2"/>
            </a:solidFill>
            <a:ln>
              <a:noFill/>
            </a:ln>
          </p:spPr>
        </p:sp>
        <p:sp>
          <p:nvSpPr>
            <p:cNvPr id="8" name="TextBox 8"/>
            <p:cNvSpPr txBox="1"/>
            <p:nvPr/>
          </p:nvSpPr>
          <p:spPr>
            <a:xfrm>
              <a:off x="1288542" y="2463800"/>
              <a:ext cx="4019474" cy="264033"/>
            </a:xfrm>
            <a:prstGeom prst="rect">
              <a:avLst/>
            </a:prstGeom>
            <a:noFill/>
            <a:ln>
              <a:noFill/>
            </a:ln>
          </p:spPr>
          <p:txBody>
            <a:bodyPr wrap="none" lIns="0" tIns="0" rIns="0" bIns="0" anchor="t" anchorCtr="0">
              <a:spAutoFit/>
            </a:bodyPr>
            <a:lstStyle/>
            <a:p>
              <a:pPr algn="l"/>
              <a:r>
                <a:rPr lang="vi-VN" sz="1350" dirty="0">
                  <a:solidFill>
                    <a:schemeClr val="accent5"/>
                  </a:solidFill>
                  <a:latin typeface="Consolas"/>
                  <a:ea typeface="Consolas"/>
                  <a:cs typeface="Consolas"/>
                </a:rPr>
                <a:t># Mỗi truy vấn được đọc ngay sau khi gửi</a:t>
              </a:r>
            </a:p>
          </p:txBody>
        </p:sp>
        <p:sp>
          <p:nvSpPr>
            <p:cNvPr id="9" name="TextBox 9"/>
            <p:cNvSpPr txBox="1"/>
            <p:nvPr/>
          </p:nvSpPr>
          <p:spPr>
            <a:xfrm>
              <a:off x="1288542" y="2787650"/>
              <a:ext cx="3636551" cy="264033"/>
            </a:xfrm>
            <a:prstGeom prst="rect">
              <a:avLst/>
            </a:prstGeom>
            <a:noFill/>
            <a:ln>
              <a:noFill/>
            </a:ln>
          </p:spPr>
          <p:txBody>
            <a:bodyPr wrap="none" lIns="0" tIns="0" rIns="0" bIns="0" anchor="t" anchorCtr="0">
              <a:spAutoFit/>
            </a:bodyPr>
            <a:lstStyle/>
            <a:p>
              <a:pPr algn="l"/>
              <a:r>
                <a:rPr lang="vi-VN" sz="1350" dirty="0">
                  <a:solidFill>
                    <a:schemeClr val="accent1"/>
                  </a:solidFill>
                  <a:latin typeface="Consolas"/>
                  <a:ea typeface="Consolas"/>
                  <a:cs typeface="Consolas"/>
                </a:rPr>
                <a:t>print(send_command(device, "*IDN?"))</a:t>
              </a:r>
            </a:p>
          </p:txBody>
        </p:sp>
        <p:sp>
          <p:nvSpPr>
            <p:cNvPr id="10" name="TextBox 10"/>
            <p:cNvSpPr txBox="1"/>
            <p:nvPr/>
          </p:nvSpPr>
          <p:spPr>
            <a:xfrm>
              <a:off x="1288542" y="3111500"/>
              <a:ext cx="3687547" cy="264033"/>
            </a:xfrm>
            <a:prstGeom prst="rect">
              <a:avLst/>
            </a:prstGeom>
            <a:noFill/>
            <a:ln>
              <a:noFill/>
            </a:ln>
          </p:spPr>
          <p:txBody>
            <a:bodyPr wrap="none" lIns="0" tIns="0" rIns="0" bIns="0" anchor="t" anchorCtr="0">
              <a:spAutoFit/>
            </a:bodyPr>
            <a:lstStyle/>
            <a:p>
              <a:pPr algn="l"/>
              <a:r>
                <a:rPr lang="vi-VN" sz="1350" dirty="0">
                  <a:solidFill>
                    <a:schemeClr val="dk1"/>
                  </a:solidFill>
                  <a:latin typeface="Consolas"/>
                  <a:ea typeface="Consolas"/>
                  <a:cs typeface="Consolas"/>
                </a:rPr>
                <a:t>send_command(device, "CONF:VOLT:DC")</a:t>
              </a:r>
            </a:p>
          </p:txBody>
        </p:sp>
        <p:sp>
          <p:nvSpPr>
            <p:cNvPr id="11" name="TextBox 11"/>
            <p:cNvSpPr txBox="1"/>
            <p:nvPr/>
          </p:nvSpPr>
          <p:spPr>
            <a:xfrm>
              <a:off x="1288542" y="3435350"/>
              <a:ext cx="3643444" cy="264033"/>
            </a:xfrm>
            <a:prstGeom prst="rect">
              <a:avLst/>
            </a:prstGeom>
            <a:noFill/>
            <a:ln>
              <a:noFill/>
            </a:ln>
          </p:spPr>
          <p:txBody>
            <a:bodyPr wrap="none" lIns="0" tIns="0" rIns="0" bIns="0" anchor="t" anchorCtr="0">
              <a:spAutoFit/>
            </a:bodyPr>
            <a:lstStyle/>
            <a:p>
              <a:pPr algn="l"/>
              <a:r>
                <a:rPr lang="vi-VN" sz="1350" dirty="0">
                  <a:solidFill>
                    <a:schemeClr val="accent1"/>
                  </a:solidFill>
                  <a:latin typeface="Consolas"/>
                  <a:ea typeface="Consolas"/>
                  <a:cs typeface="Consolas"/>
                </a:rPr>
                <a:t>print(send_command(device, "CONF?"))</a:t>
              </a:r>
            </a:p>
          </p:txBody>
        </p:sp>
        <p:sp>
          <p:nvSpPr>
            <p:cNvPr id="12" name="TextBox 12"/>
            <p:cNvSpPr txBox="1"/>
            <p:nvPr/>
          </p:nvSpPr>
          <p:spPr>
            <a:xfrm>
              <a:off x="1288542" y="3759200"/>
              <a:ext cx="4421668" cy="264033"/>
            </a:xfrm>
            <a:prstGeom prst="rect">
              <a:avLst/>
            </a:prstGeom>
            <a:noFill/>
            <a:ln>
              <a:noFill/>
            </a:ln>
          </p:spPr>
          <p:txBody>
            <a:bodyPr wrap="none" lIns="0" tIns="0" rIns="0" bIns="0" anchor="t" anchorCtr="0">
              <a:spAutoFit/>
            </a:bodyPr>
            <a:lstStyle/>
            <a:p>
              <a:pPr algn="l"/>
              <a:r>
                <a:rPr lang="vi-VN" sz="1350" dirty="0">
                  <a:solidFill>
                    <a:schemeClr val="dk1"/>
                  </a:solidFill>
                  <a:latin typeface="Consolas"/>
                  <a:ea typeface="Consolas"/>
                  <a:cs typeface="Consolas"/>
                </a:rPr>
                <a:t>send_command(device, "SENS:VOLT:DC:RANG 1")</a:t>
              </a:r>
            </a:p>
          </p:txBody>
        </p:sp>
        <p:sp>
          <p:nvSpPr>
            <p:cNvPr id="13" name="TextBox 13"/>
            <p:cNvSpPr txBox="1"/>
            <p:nvPr/>
          </p:nvSpPr>
          <p:spPr>
            <a:xfrm>
              <a:off x="1288542" y="4083050"/>
              <a:ext cx="5019342" cy="264033"/>
            </a:xfrm>
            <a:prstGeom prst="rect">
              <a:avLst/>
            </a:prstGeom>
            <a:noFill/>
            <a:ln>
              <a:noFill/>
            </a:ln>
          </p:spPr>
          <p:txBody>
            <a:bodyPr wrap="none" lIns="0" tIns="0" rIns="0" bIns="0" anchor="t" anchorCtr="0">
              <a:spAutoFit/>
            </a:bodyPr>
            <a:lstStyle/>
            <a:p>
              <a:pPr algn="l"/>
              <a:r>
                <a:rPr lang="vi-VN" sz="1350" dirty="0">
                  <a:solidFill>
                    <a:schemeClr val="accent1"/>
                  </a:solidFill>
                  <a:latin typeface="Consolas"/>
                  <a:ea typeface="Consolas"/>
                  <a:cs typeface="Consolas"/>
                </a:rPr>
                <a:t>print(send_command(device, "SENS:VOLT:DC:RANG?"))</a:t>
              </a:r>
            </a:p>
          </p:txBody>
        </p:sp>
        <p:sp>
          <p:nvSpPr>
            <p:cNvPr id="14" name="TextBox 14"/>
            <p:cNvSpPr txBox="1"/>
            <p:nvPr/>
          </p:nvSpPr>
          <p:spPr>
            <a:xfrm>
              <a:off x="1288542" y="4406900"/>
              <a:ext cx="3643444" cy="264033"/>
            </a:xfrm>
            <a:prstGeom prst="rect">
              <a:avLst/>
            </a:prstGeom>
            <a:noFill/>
            <a:ln>
              <a:noFill/>
            </a:ln>
          </p:spPr>
          <p:txBody>
            <a:bodyPr wrap="none" lIns="0" tIns="0" rIns="0" bIns="0" anchor="t" anchorCtr="0">
              <a:spAutoFit/>
            </a:bodyPr>
            <a:lstStyle/>
            <a:p>
              <a:pPr algn="l"/>
              <a:r>
                <a:rPr lang="vi-VN" sz="1350" dirty="0">
                  <a:solidFill>
                    <a:schemeClr val="accent1"/>
                  </a:solidFill>
                  <a:latin typeface="Consolas"/>
                  <a:ea typeface="Consolas"/>
                  <a:cs typeface="Consolas"/>
                </a:rPr>
                <a:t>print(send_command(device, "READ?"))</a:t>
              </a:r>
            </a:p>
          </p:txBody>
        </p:sp>
        <p:sp>
          <p:nvSpPr>
            <p:cNvPr id="15" name="TextBox 15"/>
            <p:cNvSpPr txBox="1"/>
            <p:nvPr/>
          </p:nvSpPr>
          <p:spPr>
            <a:xfrm>
              <a:off x="1288542" y="4730750"/>
              <a:ext cx="4066558" cy="264033"/>
            </a:xfrm>
            <a:prstGeom prst="rect">
              <a:avLst/>
            </a:prstGeom>
            <a:noFill/>
            <a:ln>
              <a:noFill/>
            </a:ln>
          </p:spPr>
          <p:txBody>
            <a:bodyPr wrap="none" lIns="0" tIns="0" rIns="0" bIns="0" anchor="t" anchorCtr="0">
              <a:spAutoFit/>
            </a:bodyPr>
            <a:lstStyle/>
            <a:p>
              <a:pPr algn="l"/>
              <a:r>
                <a:rPr lang="vi-VN" sz="1350" dirty="0">
                  <a:solidFill>
                    <a:schemeClr val="accent5"/>
                  </a:solidFill>
                  <a:latin typeface="Consolas"/>
                  <a:ea typeface="Consolas"/>
                  <a:cs typeface="Consolas"/>
                </a:rPr>
                <a:t>print(send_command(device, "SYST:ERR?"))</a:t>
              </a:r>
            </a:p>
          </p:txBody>
        </p:sp>
        <p:sp>
          <p:nvSpPr>
            <p:cNvPr id="16" name="TextBox 16"/>
            <p:cNvSpPr txBox="1"/>
            <p:nvPr/>
          </p:nvSpPr>
          <p:spPr>
            <a:xfrm>
              <a:off x="678180" y="5480050"/>
              <a:ext cx="5440183" cy="293370"/>
            </a:xfrm>
            <a:prstGeom prst="rect">
              <a:avLst/>
            </a:prstGeom>
            <a:noFill/>
            <a:ln>
              <a:noFill/>
            </a:ln>
          </p:spPr>
          <p:txBody>
            <a:bodyPr wrap="none" lIns="0" tIns="0" rIns="0" bIns="0" anchor="t" anchorCtr="0">
              <a:spAutoFit/>
            </a:bodyPr>
            <a:lstStyle/>
            <a:p>
              <a:pPr algn="l"/>
              <a:r>
                <a:rPr lang="vi-VN" sz="1500" b="1" dirty="0">
                  <a:solidFill>
                    <a:schemeClr val="accent2"/>
                  </a:solidFill>
                  <a:latin typeface="+mn-lt"/>
                  <a:ea typeface="+mn-ea"/>
                  <a:cs typeface="+mn-cs"/>
                </a:rPr>
                <a:t>Mở cổng một lần; lệnh cấu hình không cần in phản hồi.</a:t>
              </a:r>
            </a:p>
          </p:txBody>
        </p:sp>
      </p:grpSp>
      <p:grpSp>
        <p:nvGrpSpPr>
          <p:cNvPr id="42" name="request-response-sequence"/>
          <p:cNvGrpSpPr/>
          <p:nvPr/>
        </p:nvGrpSpPr>
        <p:grpSpPr>
          <a:xfrm>
            <a:off x="6793992" y="1930400"/>
            <a:ext cx="4712208" cy="3962146"/>
            <a:chOff x="6793992" y="1930400"/>
            <a:chExt cx="4712208" cy="3962146"/>
          </a:xfrm>
        </p:grpSpPr>
        <p:sp>
          <p:nvSpPr>
            <p:cNvPr id="18" name="TextBox 18"/>
            <p:cNvSpPr txBox="1"/>
            <p:nvPr/>
          </p:nvSpPr>
          <p:spPr>
            <a:xfrm>
              <a:off x="6793992" y="1930400"/>
              <a:ext cx="2927200" cy="264033"/>
            </a:xfrm>
            <a:prstGeom prst="rect">
              <a:avLst/>
            </a:prstGeom>
            <a:noFill/>
            <a:ln>
              <a:noFill/>
            </a:ln>
          </p:spPr>
          <p:txBody>
            <a:bodyPr wrap="none" lIns="0" tIns="0" rIns="0" bIns="0" anchor="t" anchorCtr="0">
              <a:spAutoFit/>
            </a:bodyPr>
            <a:lstStyle/>
            <a:p>
              <a:pPr algn="l"/>
              <a:r>
                <a:rPr lang="vi-VN" sz="1350" b="1" dirty="0">
                  <a:solidFill>
                    <a:schemeClr val="accent5"/>
                  </a:solidFill>
                  <a:latin typeface="+mn-lt"/>
                  <a:ea typeface="+mn-ea"/>
                  <a:cs typeface="+mn-cs"/>
                </a:rPr>
                <a:t>THIẾT BỊ TRẢ LỜI ĐÚNG TRUY VẤN</a:t>
              </a:r>
            </a:p>
          </p:txBody>
        </p:sp>
        <p:sp>
          <p:nvSpPr>
            <p:cNvPr id="19" name="TextBox 19"/>
            <p:cNvSpPr txBox="1"/>
            <p:nvPr/>
          </p:nvSpPr>
          <p:spPr>
            <a:xfrm>
              <a:off x="7185279" y="2228850"/>
              <a:ext cx="1499738" cy="234696"/>
            </a:xfrm>
            <a:prstGeom prst="rect">
              <a:avLst/>
            </a:prstGeom>
            <a:noFill/>
            <a:ln>
              <a:noFill/>
            </a:ln>
          </p:spPr>
          <p:txBody>
            <a:bodyPr wrap="none" lIns="0" tIns="0" rIns="0" bIns="0" anchor="t" anchorCtr="0">
              <a:spAutoFit/>
            </a:bodyPr>
            <a:lstStyle/>
            <a:p>
              <a:pPr algn="l"/>
              <a:r>
                <a:rPr lang="vi-VN" sz="1200" b="1" dirty="0">
                  <a:solidFill>
                    <a:schemeClr val="accent5"/>
                  </a:solidFill>
                  <a:latin typeface="+mn-lt"/>
                  <a:ea typeface="+mn-ea"/>
                  <a:cs typeface="+mn-cs"/>
                </a:rPr>
                <a:t>PYTHON → THIẾT BỊ</a:t>
              </a:r>
            </a:p>
          </p:txBody>
        </p:sp>
        <p:sp>
          <p:nvSpPr>
            <p:cNvPr id="20" name="TextBox 20"/>
            <p:cNvSpPr txBox="1"/>
            <p:nvPr/>
          </p:nvSpPr>
          <p:spPr>
            <a:xfrm>
              <a:off x="9614154" y="2228850"/>
              <a:ext cx="747004" cy="234696"/>
            </a:xfrm>
            <a:prstGeom prst="rect">
              <a:avLst/>
            </a:prstGeom>
            <a:noFill/>
            <a:ln>
              <a:noFill/>
            </a:ln>
          </p:spPr>
          <p:txBody>
            <a:bodyPr wrap="none" lIns="0" tIns="0" rIns="0" bIns="0" anchor="t" anchorCtr="0">
              <a:spAutoFit/>
            </a:bodyPr>
            <a:lstStyle/>
            <a:p>
              <a:pPr algn="l"/>
              <a:r>
                <a:rPr lang="vi-VN" sz="1200" b="1" dirty="0">
                  <a:solidFill>
                    <a:schemeClr val="accent5"/>
                  </a:solidFill>
                  <a:latin typeface="+mn-lt"/>
                  <a:ea typeface="+mn-ea"/>
                  <a:cs typeface="+mn-cs"/>
                </a:rPr>
                <a:t>PHẢN HỒI</a:t>
              </a:r>
            </a:p>
          </p:txBody>
        </p:sp>
        <p:sp>
          <p:nvSpPr>
            <p:cNvPr id="21" name="Line 21"/>
            <p:cNvSpPr/>
            <p:nvPr/>
          </p:nvSpPr>
          <p:spPr>
            <a:xfrm>
              <a:off x="6800850" y="2495550"/>
              <a:ext cx="4705350" cy="9525"/>
            </a:xfrm>
            <a:custGeom>
              <a:avLst/>
              <a:gdLst/>
              <a:ahLst/>
              <a:cxnLst/>
              <a:rect l="l" t="t" r="r" b="b"/>
              <a:pathLst>
                <a:path w="4705350" h="9525">
                  <a:moveTo>
                    <a:pt x="0" y="0"/>
                  </a:moveTo>
                  <a:lnTo>
                    <a:pt x="4705350" y="0"/>
                  </a:lnTo>
                </a:path>
              </a:pathLst>
            </a:custGeom>
            <a:noFill/>
            <a:ln w="14288">
              <a:solidFill>
                <a:schemeClr val="accent6"/>
              </a:solidFill>
            </a:ln>
          </p:spPr>
        </p:sp>
        <p:sp>
          <p:nvSpPr>
            <p:cNvPr id="22" name="Rectangle 22"/>
            <p:cNvSpPr/>
            <p:nvPr/>
          </p:nvSpPr>
          <p:spPr>
            <a:xfrm>
              <a:off x="6800850" y="2514600"/>
              <a:ext cx="4705350" cy="533400"/>
            </a:xfrm>
            <a:prstGeom prst="rect">
              <a:avLst/>
            </a:prstGeom>
            <a:solidFill>
              <a:schemeClr val="lt2"/>
            </a:solidFill>
            <a:ln>
              <a:noFill/>
            </a:ln>
          </p:spPr>
        </p:sp>
        <p:sp>
          <p:nvSpPr>
            <p:cNvPr id="23" name="TextBox 23"/>
            <p:cNvSpPr txBox="1"/>
            <p:nvPr/>
          </p:nvSpPr>
          <p:spPr>
            <a:xfrm>
              <a:off x="6965823" y="2695575"/>
              <a:ext cx="513639" cy="250317"/>
            </a:xfrm>
            <a:prstGeom prst="rect">
              <a:avLst/>
            </a:prstGeom>
            <a:noFill/>
            <a:ln>
              <a:noFill/>
            </a:ln>
          </p:spPr>
          <p:txBody>
            <a:bodyPr wrap="none" lIns="0" tIns="0" rIns="0" bIns="0" anchor="t" anchorCtr="0">
              <a:spAutoFit/>
            </a:bodyPr>
            <a:lstStyle/>
            <a:p>
              <a:pPr algn="l"/>
              <a:r>
                <a:rPr lang="vi-VN" sz="1280" dirty="0">
                  <a:solidFill>
                    <a:schemeClr val="accent1"/>
                  </a:solidFill>
                  <a:latin typeface="Consolas"/>
                  <a:ea typeface="Consolas"/>
                  <a:cs typeface="Consolas"/>
                </a:rPr>
                <a:t>*IDN?</a:t>
              </a:r>
            </a:p>
          </p:txBody>
        </p:sp>
        <p:sp>
          <p:nvSpPr>
            <p:cNvPr id="24" name="TextBox 24"/>
            <p:cNvSpPr txBox="1"/>
            <p:nvPr/>
          </p:nvSpPr>
          <p:spPr>
            <a:xfrm>
              <a:off x="8793480" y="2670175"/>
              <a:ext cx="126302" cy="293370"/>
            </a:xfrm>
            <a:prstGeom prst="rect">
              <a:avLst/>
            </a:prstGeom>
            <a:noFill/>
            <a:ln>
              <a:noFill/>
            </a:ln>
          </p:spPr>
          <p:txBody>
            <a:bodyPr wrap="none" lIns="0" tIns="0" rIns="0" bIns="0" anchor="t" anchorCtr="0">
              <a:spAutoFit/>
            </a:bodyPr>
            <a:lstStyle/>
            <a:p>
              <a:pPr algn="l"/>
              <a:r>
                <a:rPr lang="vi-VN" sz="1500" dirty="0">
                  <a:solidFill>
                    <a:schemeClr val="accent5"/>
                  </a:solidFill>
                  <a:latin typeface="+mn-lt"/>
                  <a:ea typeface="+mn-ea"/>
                  <a:cs typeface="+mn-cs"/>
                </a:rPr>
                <a:t>→</a:t>
              </a:r>
            </a:p>
          </p:txBody>
        </p:sp>
        <p:sp>
          <p:nvSpPr>
            <p:cNvPr id="25" name="TextBox 25"/>
            <p:cNvSpPr txBox="1"/>
            <p:nvPr/>
          </p:nvSpPr>
          <p:spPr>
            <a:xfrm>
              <a:off x="9156192" y="2682875"/>
              <a:ext cx="787813" cy="264033"/>
            </a:xfrm>
            <a:prstGeom prst="rect">
              <a:avLst/>
            </a:prstGeom>
            <a:noFill/>
            <a:ln>
              <a:noFill/>
            </a:ln>
          </p:spPr>
          <p:txBody>
            <a:bodyPr wrap="none" lIns="0" tIns="0" rIns="0" bIns="0" anchor="t" anchorCtr="0">
              <a:spAutoFit/>
            </a:bodyPr>
            <a:lstStyle/>
            <a:p>
              <a:pPr algn="l"/>
              <a:r>
                <a:rPr lang="vi-VN" sz="1350" dirty="0">
                  <a:solidFill>
                    <a:schemeClr val="dk1"/>
                  </a:solidFill>
                  <a:latin typeface="+mn-lt"/>
                  <a:ea typeface="+mn-ea"/>
                  <a:cs typeface="+mn-cs"/>
                </a:rPr>
                <a:t>ID string</a:t>
              </a:r>
            </a:p>
          </p:txBody>
        </p:sp>
        <p:sp>
          <p:nvSpPr>
            <p:cNvPr id="26" name="TextBox 26"/>
            <p:cNvSpPr txBox="1"/>
            <p:nvPr/>
          </p:nvSpPr>
          <p:spPr>
            <a:xfrm>
              <a:off x="6965823" y="3228975"/>
              <a:ext cx="1214598" cy="250317"/>
            </a:xfrm>
            <a:prstGeom prst="rect">
              <a:avLst/>
            </a:prstGeom>
            <a:noFill/>
            <a:ln>
              <a:noFill/>
            </a:ln>
          </p:spPr>
          <p:txBody>
            <a:bodyPr wrap="none" lIns="0" tIns="0" rIns="0" bIns="0" anchor="t" anchorCtr="0">
              <a:spAutoFit/>
            </a:bodyPr>
            <a:lstStyle/>
            <a:p>
              <a:pPr algn="l"/>
              <a:r>
                <a:rPr lang="vi-VN" sz="1280" dirty="0">
                  <a:solidFill>
                    <a:schemeClr val="dk1"/>
                  </a:solidFill>
                  <a:latin typeface="Consolas"/>
                  <a:ea typeface="Consolas"/>
                  <a:cs typeface="Consolas"/>
                </a:rPr>
                <a:t>CONF:VOLT:DC</a:t>
              </a:r>
            </a:p>
          </p:txBody>
        </p:sp>
        <p:sp>
          <p:nvSpPr>
            <p:cNvPr id="27" name="TextBox 27"/>
            <p:cNvSpPr txBox="1"/>
            <p:nvPr/>
          </p:nvSpPr>
          <p:spPr>
            <a:xfrm>
              <a:off x="8793480" y="3203575"/>
              <a:ext cx="126302" cy="293370"/>
            </a:xfrm>
            <a:prstGeom prst="rect">
              <a:avLst/>
            </a:prstGeom>
            <a:noFill/>
            <a:ln>
              <a:noFill/>
            </a:ln>
          </p:spPr>
          <p:txBody>
            <a:bodyPr wrap="none" lIns="0" tIns="0" rIns="0" bIns="0" anchor="t" anchorCtr="0">
              <a:spAutoFit/>
            </a:bodyPr>
            <a:lstStyle/>
            <a:p>
              <a:pPr algn="l"/>
              <a:r>
                <a:rPr lang="vi-VN" sz="1500" dirty="0">
                  <a:solidFill>
                    <a:schemeClr val="accent5"/>
                  </a:solidFill>
                  <a:latin typeface="+mn-lt"/>
                  <a:ea typeface="+mn-ea"/>
                  <a:cs typeface="+mn-cs"/>
                </a:rPr>
                <a:t>→</a:t>
              </a:r>
            </a:p>
          </p:txBody>
        </p:sp>
        <p:sp>
          <p:nvSpPr>
            <p:cNvPr id="28" name="TextBox 28"/>
            <p:cNvSpPr txBox="1"/>
            <p:nvPr/>
          </p:nvSpPr>
          <p:spPr>
            <a:xfrm>
              <a:off x="9156192" y="3216275"/>
              <a:ext cx="1712048" cy="264033"/>
            </a:xfrm>
            <a:prstGeom prst="rect">
              <a:avLst/>
            </a:prstGeom>
            <a:noFill/>
            <a:ln>
              <a:noFill/>
            </a:ln>
          </p:spPr>
          <p:txBody>
            <a:bodyPr wrap="none" lIns="0" tIns="0" rIns="0" bIns="0" anchor="t" anchorCtr="0">
              <a:spAutoFit/>
            </a:bodyPr>
            <a:lstStyle/>
            <a:p>
              <a:pPr algn="l"/>
              <a:r>
                <a:rPr lang="vi-VN" sz="1350" b="1" dirty="0">
                  <a:solidFill>
                    <a:schemeClr val="accent2"/>
                  </a:solidFill>
                  <a:latin typeface="+mn-lt"/>
                  <a:ea typeface="+mn-ea"/>
                  <a:cs typeface="+mn-cs"/>
                </a:rPr>
                <a:t>không chờ phản hồi</a:t>
              </a:r>
            </a:p>
          </p:txBody>
        </p:sp>
        <p:sp>
          <p:nvSpPr>
            <p:cNvPr id="29" name="Rectangle 29"/>
            <p:cNvSpPr/>
            <p:nvPr/>
          </p:nvSpPr>
          <p:spPr>
            <a:xfrm>
              <a:off x="6800850" y="3581400"/>
              <a:ext cx="4705350" cy="533400"/>
            </a:xfrm>
            <a:prstGeom prst="rect">
              <a:avLst/>
            </a:prstGeom>
            <a:solidFill>
              <a:schemeClr val="lt2"/>
            </a:solidFill>
            <a:ln>
              <a:noFill/>
            </a:ln>
          </p:spPr>
        </p:sp>
        <p:sp>
          <p:nvSpPr>
            <p:cNvPr id="30" name="TextBox 30"/>
            <p:cNvSpPr txBox="1"/>
            <p:nvPr/>
          </p:nvSpPr>
          <p:spPr>
            <a:xfrm>
              <a:off x="6965823" y="3762375"/>
              <a:ext cx="513639" cy="250317"/>
            </a:xfrm>
            <a:prstGeom prst="rect">
              <a:avLst/>
            </a:prstGeom>
            <a:noFill/>
            <a:ln>
              <a:noFill/>
            </a:ln>
          </p:spPr>
          <p:txBody>
            <a:bodyPr wrap="none" lIns="0" tIns="0" rIns="0" bIns="0" anchor="t" anchorCtr="0">
              <a:spAutoFit/>
            </a:bodyPr>
            <a:lstStyle/>
            <a:p>
              <a:pPr algn="l"/>
              <a:r>
                <a:rPr lang="vi-VN" sz="1280" dirty="0">
                  <a:solidFill>
                    <a:schemeClr val="accent1"/>
                  </a:solidFill>
                  <a:latin typeface="Consolas"/>
                  <a:ea typeface="Consolas"/>
                  <a:cs typeface="Consolas"/>
                </a:rPr>
                <a:t>CONF?</a:t>
              </a:r>
            </a:p>
          </p:txBody>
        </p:sp>
        <p:sp>
          <p:nvSpPr>
            <p:cNvPr id="31" name="TextBox 31"/>
            <p:cNvSpPr txBox="1"/>
            <p:nvPr/>
          </p:nvSpPr>
          <p:spPr>
            <a:xfrm>
              <a:off x="8793480" y="3736975"/>
              <a:ext cx="126302" cy="293370"/>
            </a:xfrm>
            <a:prstGeom prst="rect">
              <a:avLst/>
            </a:prstGeom>
            <a:noFill/>
            <a:ln>
              <a:noFill/>
            </a:ln>
          </p:spPr>
          <p:txBody>
            <a:bodyPr wrap="none" lIns="0" tIns="0" rIns="0" bIns="0" anchor="t" anchorCtr="0">
              <a:spAutoFit/>
            </a:bodyPr>
            <a:lstStyle/>
            <a:p>
              <a:pPr algn="l"/>
              <a:r>
                <a:rPr lang="vi-VN" sz="1500" dirty="0">
                  <a:solidFill>
                    <a:schemeClr val="accent5"/>
                  </a:solidFill>
                  <a:latin typeface="+mn-lt"/>
                  <a:ea typeface="+mn-ea"/>
                  <a:cs typeface="+mn-cs"/>
                </a:rPr>
                <a:t>→</a:t>
              </a:r>
            </a:p>
          </p:txBody>
        </p:sp>
        <p:sp>
          <p:nvSpPr>
            <p:cNvPr id="32" name="TextBox 32"/>
            <p:cNvSpPr txBox="1"/>
            <p:nvPr/>
          </p:nvSpPr>
          <p:spPr>
            <a:xfrm>
              <a:off x="9156192" y="3749675"/>
              <a:ext cx="722490" cy="264033"/>
            </a:xfrm>
            <a:prstGeom prst="rect">
              <a:avLst/>
            </a:prstGeom>
            <a:noFill/>
            <a:ln>
              <a:noFill/>
            </a:ln>
          </p:spPr>
          <p:txBody>
            <a:bodyPr wrap="none" lIns="0" tIns="0" rIns="0" bIns="0" anchor="t" anchorCtr="0">
              <a:spAutoFit/>
            </a:bodyPr>
            <a:lstStyle/>
            <a:p>
              <a:pPr algn="l"/>
              <a:r>
                <a:rPr lang="vi-VN" sz="1350" dirty="0">
                  <a:solidFill>
                    <a:schemeClr val="dk1"/>
                  </a:solidFill>
                  <a:latin typeface="+mn-lt"/>
                  <a:ea typeface="+mn-ea"/>
                  <a:cs typeface="+mn-cs"/>
                </a:rPr>
                <a:t>cấu hình</a:t>
              </a:r>
            </a:p>
          </p:txBody>
        </p:sp>
        <p:sp>
          <p:nvSpPr>
            <p:cNvPr id="33" name="TextBox 33"/>
            <p:cNvSpPr txBox="1"/>
            <p:nvPr/>
          </p:nvSpPr>
          <p:spPr>
            <a:xfrm>
              <a:off x="6966204" y="4308475"/>
              <a:ext cx="1326490" cy="234696"/>
            </a:xfrm>
            <a:prstGeom prst="rect">
              <a:avLst/>
            </a:prstGeom>
            <a:noFill/>
            <a:ln>
              <a:noFill/>
            </a:ln>
          </p:spPr>
          <p:txBody>
            <a:bodyPr wrap="none" lIns="0" tIns="0" rIns="0" bIns="0" anchor="t" anchorCtr="0">
              <a:spAutoFit/>
            </a:bodyPr>
            <a:lstStyle/>
            <a:p>
              <a:pPr algn="l"/>
              <a:r>
                <a:rPr lang="vi-VN" sz="1200" dirty="0">
                  <a:solidFill>
                    <a:schemeClr val="dk1"/>
                  </a:solidFill>
                  <a:latin typeface="Consolas"/>
                  <a:ea typeface="Consolas"/>
                  <a:cs typeface="Consolas"/>
                </a:rPr>
                <a:t>RANG 1 / RANG?</a:t>
              </a:r>
            </a:p>
          </p:txBody>
        </p:sp>
        <p:sp>
          <p:nvSpPr>
            <p:cNvPr id="34" name="TextBox 34"/>
            <p:cNvSpPr txBox="1"/>
            <p:nvPr/>
          </p:nvSpPr>
          <p:spPr>
            <a:xfrm>
              <a:off x="8793480" y="4270375"/>
              <a:ext cx="126302" cy="293370"/>
            </a:xfrm>
            <a:prstGeom prst="rect">
              <a:avLst/>
            </a:prstGeom>
            <a:noFill/>
            <a:ln>
              <a:noFill/>
            </a:ln>
          </p:spPr>
          <p:txBody>
            <a:bodyPr wrap="none" lIns="0" tIns="0" rIns="0" bIns="0" anchor="t" anchorCtr="0">
              <a:spAutoFit/>
            </a:bodyPr>
            <a:lstStyle/>
            <a:p>
              <a:pPr algn="l"/>
              <a:r>
                <a:rPr lang="vi-VN" sz="1500" dirty="0">
                  <a:solidFill>
                    <a:schemeClr val="accent5"/>
                  </a:solidFill>
                  <a:latin typeface="+mn-lt"/>
                  <a:ea typeface="+mn-ea"/>
                  <a:cs typeface="+mn-cs"/>
                </a:rPr>
                <a:t>→</a:t>
              </a:r>
            </a:p>
          </p:txBody>
        </p:sp>
        <p:sp>
          <p:nvSpPr>
            <p:cNvPr id="35" name="TextBox 35"/>
            <p:cNvSpPr txBox="1"/>
            <p:nvPr/>
          </p:nvSpPr>
          <p:spPr>
            <a:xfrm>
              <a:off x="9156192" y="4283075"/>
              <a:ext cx="758838" cy="264033"/>
            </a:xfrm>
            <a:prstGeom prst="rect">
              <a:avLst/>
            </a:prstGeom>
            <a:noFill/>
            <a:ln>
              <a:noFill/>
            </a:ln>
          </p:spPr>
          <p:txBody>
            <a:bodyPr wrap="none" lIns="0" tIns="0" rIns="0" bIns="0" anchor="t" anchorCtr="0">
              <a:spAutoFit/>
            </a:bodyPr>
            <a:lstStyle/>
            <a:p>
              <a:pPr algn="l"/>
              <a:r>
                <a:rPr lang="vi-VN" sz="1350" dirty="0">
                  <a:solidFill>
                    <a:schemeClr val="dk1"/>
                  </a:solidFill>
                  <a:latin typeface="+mn-lt"/>
                  <a:ea typeface="+mn-ea"/>
                  <a:cs typeface="+mn-cs"/>
                </a:rPr>
                <a:t>xác minh</a:t>
              </a:r>
            </a:p>
          </p:txBody>
        </p:sp>
        <p:sp>
          <p:nvSpPr>
            <p:cNvPr id="36" name="Rectangle 36"/>
            <p:cNvSpPr/>
            <p:nvPr/>
          </p:nvSpPr>
          <p:spPr>
            <a:xfrm>
              <a:off x="6800850" y="4648200"/>
              <a:ext cx="4705350" cy="533400"/>
            </a:xfrm>
            <a:prstGeom prst="rect">
              <a:avLst/>
            </a:prstGeom>
            <a:solidFill>
              <a:schemeClr val="lt2"/>
            </a:solidFill>
            <a:ln>
              <a:noFill/>
            </a:ln>
          </p:spPr>
        </p:sp>
        <p:sp>
          <p:nvSpPr>
            <p:cNvPr id="37" name="TextBox 37"/>
            <p:cNvSpPr txBox="1"/>
            <p:nvPr/>
          </p:nvSpPr>
          <p:spPr>
            <a:xfrm>
              <a:off x="6965823" y="4829175"/>
              <a:ext cx="513639" cy="250317"/>
            </a:xfrm>
            <a:prstGeom prst="rect">
              <a:avLst/>
            </a:prstGeom>
            <a:noFill/>
            <a:ln>
              <a:noFill/>
            </a:ln>
          </p:spPr>
          <p:txBody>
            <a:bodyPr wrap="none" lIns="0" tIns="0" rIns="0" bIns="0" anchor="t" anchorCtr="0">
              <a:spAutoFit/>
            </a:bodyPr>
            <a:lstStyle/>
            <a:p>
              <a:pPr algn="l"/>
              <a:r>
                <a:rPr lang="vi-VN" sz="1280" dirty="0">
                  <a:solidFill>
                    <a:schemeClr val="accent1"/>
                  </a:solidFill>
                  <a:latin typeface="Consolas"/>
                  <a:ea typeface="Consolas"/>
                  <a:cs typeface="Consolas"/>
                </a:rPr>
                <a:t>READ?</a:t>
              </a:r>
            </a:p>
          </p:txBody>
        </p:sp>
        <p:sp>
          <p:nvSpPr>
            <p:cNvPr id="38" name="TextBox 38"/>
            <p:cNvSpPr txBox="1"/>
            <p:nvPr/>
          </p:nvSpPr>
          <p:spPr>
            <a:xfrm>
              <a:off x="8793480" y="4803775"/>
              <a:ext cx="126302" cy="293370"/>
            </a:xfrm>
            <a:prstGeom prst="rect">
              <a:avLst/>
            </a:prstGeom>
            <a:noFill/>
            <a:ln>
              <a:noFill/>
            </a:ln>
          </p:spPr>
          <p:txBody>
            <a:bodyPr wrap="none" lIns="0" tIns="0" rIns="0" bIns="0" anchor="t" anchorCtr="0">
              <a:spAutoFit/>
            </a:bodyPr>
            <a:lstStyle/>
            <a:p>
              <a:pPr algn="l"/>
              <a:r>
                <a:rPr lang="vi-VN" sz="1500" dirty="0">
                  <a:solidFill>
                    <a:schemeClr val="accent5"/>
                  </a:solidFill>
                  <a:latin typeface="+mn-lt"/>
                  <a:ea typeface="+mn-ea"/>
                  <a:cs typeface="+mn-cs"/>
                </a:rPr>
                <a:t>→</a:t>
              </a:r>
            </a:p>
          </p:txBody>
        </p:sp>
        <p:sp>
          <p:nvSpPr>
            <p:cNvPr id="39" name="TextBox 39"/>
            <p:cNvSpPr txBox="1"/>
            <p:nvPr/>
          </p:nvSpPr>
          <p:spPr>
            <a:xfrm>
              <a:off x="9156192" y="4816475"/>
              <a:ext cx="831532" cy="264033"/>
            </a:xfrm>
            <a:prstGeom prst="rect">
              <a:avLst/>
            </a:prstGeom>
            <a:noFill/>
            <a:ln>
              <a:noFill/>
            </a:ln>
          </p:spPr>
          <p:txBody>
            <a:bodyPr wrap="none" lIns="0" tIns="0" rIns="0" bIns="0" anchor="t" anchorCtr="0">
              <a:spAutoFit/>
            </a:bodyPr>
            <a:lstStyle/>
            <a:p>
              <a:pPr algn="l"/>
              <a:r>
                <a:rPr lang="vi-VN" sz="1350" dirty="0">
                  <a:solidFill>
                    <a:schemeClr val="dk1"/>
                  </a:solidFill>
                  <a:latin typeface="+mn-lt"/>
                  <a:ea typeface="+mn-ea"/>
                  <a:cs typeface="+mn-cs"/>
                </a:rPr>
                <a:t>giá trị đo</a:t>
              </a:r>
            </a:p>
          </p:txBody>
        </p:sp>
        <p:sp>
          <p:nvSpPr>
            <p:cNvPr id="40" name="TextBox 40"/>
            <p:cNvSpPr txBox="1"/>
            <p:nvPr/>
          </p:nvSpPr>
          <p:spPr>
            <a:xfrm>
              <a:off x="6793992" y="5359400"/>
              <a:ext cx="4581933" cy="264033"/>
            </a:xfrm>
            <a:prstGeom prst="rect">
              <a:avLst/>
            </a:prstGeom>
            <a:noFill/>
            <a:ln>
              <a:noFill/>
            </a:ln>
          </p:spPr>
          <p:txBody>
            <a:bodyPr wrap="none" lIns="0" tIns="0" rIns="0" bIns="0" anchor="t" anchorCtr="0">
              <a:spAutoFit/>
            </a:bodyPr>
            <a:lstStyle/>
            <a:p>
              <a:pPr algn="l"/>
              <a:r>
                <a:rPr lang="vi-VN" sz="1350" b="1" dirty="0">
                  <a:solidFill>
                    <a:schemeClr val="accent1"/>
                  </a:solidFill>
                  <a:latin typeface="+mn-lt"/>
                  <a:ea typeface="+mn-ea"/>
                  <a:cs typeface="+mn-cs"/>
                </a:rPr>
                <a:t>Đọc hàng đợi lỗi bằng SYST:ERR? sau khi kiểm tra.</a:t>
              </a:r>
            </a:p>
          </p:txBody>
        </p:sp>
        <p:sp>
          <p:nvSpPr>
            <p:cNvPr id="41" name="TextBox 41"/>
            <p:cNvSpPr txBox="1"/>
            <p:nvPr/>
          </p:nvSpPr>
          <p:spPr>
            <a:xfrm>
              <a:off x="6794754" y="5657850"/>
              <a:ext cx="4371404" cy="234696"/>
            </a:xfrm>
            <a:prstGeom prst="rect">
              <a:avLst/>
            </a:prstGeom>
            <a:noFill/>
            <a:ln>
              <a:noFill/>
            </a:ln>
          </p:spPr>
          <p:txBody>
            <a:bodyPr wrap="none" lIns="0" tIns="0" rIns="0" bIns="0" anchor="t" anchorCtr="0">
              <a:spAutoFit/>
            </a:bodyPr>
            <a:lstStyle/>
            <a:p>
              <a:pPr algn="l"/>
              <a:r>
                <a:rPr lang="vi-VN" sz="1200" dirty="0">
                  <a:solidFill>
                    <a:schemeClr val="accent5"/>
                  </a:solidFill>
                  <a:latin typeface="+mn-lt"/>
                  <a:ea typeface="+mn-ea"/>
                  <a:cs typeface="+mn-cs"/>
                </a:rPr>
                <a:t>Phản hồi phụ thuộc thiết bị hoặc chương trình mô phỏng.</a:t>
              </a:r>
            </a:p>
          </p:txBody>
        </p:sp>
      </p:grpSp>
      <p:grpSp>
        <p:nvGrpSpPr>
          <p:cNvPr id="45" name="page-footer"/>
          <p:cNvGrpSpPr/>
          <p:nvPr/>
        </p:nvGrpSpPr>
        <p:grpSpPr>
          <a:xfrm>
            <a:off x="679704" y="6429375"/>
            <a:ext cx="10832592" cy="234696"/>
            <a:chOff x="679704" y="6429375"/>
            <a:chExt cx="10832592" cy="234696"/>
          </a:xfrm>
        </p:grpSpPr>
        <p:sp>
          <p:nvSpPr>
            <p:cNvPr id="43" name="TextBox 43"/>
            <p:cNvSpPr txBox="1"/>
            <p:nvPr/>
          </p:nvSpPr>
          <p:spPr>
            <a:xfrm>
              <a:off x="679704" y="6429375"/>
              <a:ext cx="2828544" cy="234696"/>
            </a:xfrm>
            <a:prstGeom prst="rect">
              <a:avLst/>
            </a:prstGeom>
            <a:noFill/>
            <a:ln>
              <a:noFill/>
            </a:ln>
          </p:spPr>
          <p:txBody>
            <a:bodyPr wrap="none" lIns="0" tIns="0" rIns="0" bIns="0" anchor="t" anchorCtr="0">
              <a:spAutoFit/>
            </a:bodyPr>
            <a:lstStyle/>
            <a:p>
              <a:pPr algn="l"/>
              <a:r>
                <a:rPr lang="vi-VN" sz="1200" dirty="0">
                  <a:solidFill>
                    <a:schemeClr val="accent5"/>
                  </a:solidFill>
                  <a:latin typeface="+mn-lt"/>
                  <a:ea typeface="+mn-ea"/>
                  <a:cs typeface="+mn-cs"/>
                </a:rPr>
                <a:t>SCPI · MỘT QUERY → MỘT RESPONSE</a:t>
              </a:r>
            </a:p>
          </p:txBody>
        </p:sp>
        <p:sp>
          <p:nvSpPr>
            <p:cNvPr id="44" name="TextBox 44"/>
            <p:cNvSpPr txBox="1"/>
            <p:nvPr/>
          </p:nvSpPr>
          <p:spPr>
            <a:xfrm>
              <a:off x="10958932" y="6429375"/>
              <a:ext cx="553364" cy="234696"/>
            </a:xfrm>
            <a:prstGeom prst="rect">
              <a:avLst/>
            </a:prstGeom>
            <a:noFill/>
            <a:ln>
              <a:noFill/>
            </a:ln>
          </p:spPr>
          <p:txBody>
            <a:bodyPr wrap="none" lIns="0" tIns="0" rIns="0" bIns="0" anchor="t" anchorCtr="0">
              <a:spAutoFit/>
            </a:bodyPr>
            <a:lstStyle/>
            <a:p>
              <a:pPr algn="r"/>
              <a:r>
                <a:rPr lang="vi-VN" sz="1200" dirty="0">
                  <a:solidFill>
                    <a:schemeClr val="accent5"/>
                  </a:solidFill>
                  <a:latin typeface="+mn-lt"/>
                  <a:ea typeface="+mn-ea"/>
                  <a:cs typeface="+mn-cs"/>
                </a:rPr>
                <a:t>15 / 25</a:t>
              </a:r>
            </a:p>
          </p:txBody>
        </p:sp>
      </p:grpSp>
    </p:spTree>
  </p:cSld>
  <p:clrMapOvr>
    <a:masterClrMapping/>
  </p:clrMapOvr>
  <p:transition xmlns:p14="http://schemas.microsoft.com/office/powerpoint/2010/main" p14:dur="400">
    <p:fade/>
  </p:transition>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page-title"/>
          <p:cNvGrpSpPr/>
          <p:nvPr/>
        </p:nvGrpSpPr>
        <p:grpSpPr>
          <a:xfrm>
            <a:off x="669798" y="520700"/>
            <a:ext cx="10836402" cy="955675"/>
            <a:chOff x="669798" y="520700"/>
            <a:chExt cx="10836402" cy="955675"/>
          </a:xfrm>
        </p:grpSpPr>
        <p:sp>
          <p:nvSpPr>
            <p:cNvPr id="2" name="TextBox 2"/>
            <p:cNvSpPr txBox="1"/>
            <p:nvPr/>
          </p:nvSpPr>
          <p:spPr>
            <a:xfrm>
              <a:off x="678942" y="520700"/>
              <a:ext cx="1505742" cy="264033"/>
            </a:xfrm>
            <a:prstGeom prst="rect">
              <a:avLst/>
            </a:prstGeom>
            <a:noFill/>
            <a:ln>
              <a:noFill/>
            </a:ln>
          </p:spPr>
          <p:txBody>
            <a:bodyPr wrap="none" lIns="0" tIns="0" rIns="0" bIns="0" anchor="t" anchorCtr="0">
              <a:spAutoFit/>
            </a:bodyPr>
            <a:lstStyle/>
            <a:p>
              <a:pPr algn="l"/>
              <a:r>
                <a:rPr lang="vi-VN" sz="1350" b="1" dirty="0">
                  <a:solidFill>
                    <a:schemeClr val="accent3"/>
                  </a:solidFill>
                  <a:latin typeface="+mn-lt"/>
                  <a:ea typeface="+mn-ea"/>
                  <a:cs typeface="+mn-cs"/>
                </a:rPr>
                <a:t>03 · COM / SCPI</a:t>
              </a:r>
            </a:p>
          </p:txBody>
        </p:sp>
        <p:sp>
          <p:nvSpPr>
            <p:cNvPr id="3" name="TextBox 3"/>
            <p:cNvSpPr txBox="1"/>
            <p:nvPr/>
          </p:nvSpPr>
          <p:spPr>
            <a:xfrm>
              <a:off x="669798" y="838200"/>
              <a:ext cx="7434354" cy="616077"/>
            </a:xfrm>
            <a:prstGeom prst="rect">
              <a:avLst/>
            </a:prstGeom>
            <a:noFill/>
            <a:ln>
              <a:noFill/>
            </a:ln>
          </p:spPr>
          <p:txBody>
            <a:bodyPr wrap="none" lIns="0" tIns="0" rIns="0" bIns="0" anchor="t" anchorCtr="0">
              <a:spAutoFit/>
            </a:bodyPr>
            <a:lstStyle/>
            <a:p>
              <a:pPr algn="l"/>
              <a:r>
                <a:rPr lang="vi-VN" sz="3150" b="1" dirty="0">
                  <a:solidFill>
                    <a:schemeClr val="accent1"/>
                  </a:solidFill>
                  <a:latin typeface="+mn-lt"/>
                  <a:ea typeface="+mn-ea"/>
                  <a:cs typeface="+mn-cs"/>
                </a:rPr>
                <a:t>Bước 9 — Đọc và quản lý hàng đợi lỗi</a:t>
              </a:r>
            </a:p>
          </p:txBody>
        </p:sp>
        <p:sp>
          <p:nvSpPr>
            <p:cNvPr id="4" name="Line 4"/>
            <p:cNvSpPr/>
            <p:nvPr/>
          </p:nvSpPr>
          <p:spPr>
            <a:xfrm>
              <a:off x="685800" y="1466850"/>
              <a:ext cx="10820400" cy="9525"/>
            </a:xfrm>
            <a:custGeom>
              <a:avLst/>
              <a:gdLst/>
              <a:ahLst/>
              <a:cxnLst/>
              <a:rect l="l" t="t" r="r" b="b"/>
              <a:pathLst>
                <a:path w="10820400" h="9525">
                  <a:moveTo>
                    <a:pt x="0" y="0"/>
                  </a:moveTo>
                  <a:lnTo>
                    <a:pt x="10820400" y="0"/>
                  </a:lnTo>
                </a:path>
              </a:pathLst>
            </a:custGeom>
            <a:noFill/>
            <a:ln w="14288">
              <a:solidFill>
                <a:schemeClr val="accent6"/>
              </a:solidFill>
            </a:ln>
          </p:spPr>
        </p:sp>
      </p:grpSp>
      <p:grpSp>
        <p:nvGrpSpPr>
          <p:cNvPr id="16" name="error-code"/>
          <p:cNvGrpSpPr/>
          <p:nvPr/>
        </p:nvGrpSpPr>
        <p:grpSpPr>
          <a:xfrm>
            <a:off x="678180" y="1930400"/>
            <a:ext cx="6103620" cy="3924046"/>
            <a:chOff x="678180" y="1930400"/>
            <a:chExt cx="6103620" cy="3924046"/>
          </a:xfrm>
        </p:grpSpPr>
        <p:sp>
          <p:nvSpPr>
            <p:cNvPr id="6" name="TextBox 6"/>
            <p:cNvSpPr txBox="1"/>
            <p:nvPr/>
          </p:nvSpPr>
          <p:spPr>
            <a:xfrm>
              <a:off x="678942" y="1930400"/>
              <a:ext cx="4157114" cy="264033"/>
            </a:xfrm>
            <a:prstGeom prst="rect">
              <a:avLst/>
            </a:prstGeom>
            <a:noFill/>
            <a:ln>
              <a:noFill/>
            </a:ln>
          </p:spPr>
          <p:txBody>
            <a:bodyPr wrap="none" lIns="0" tIns="0" rIns="0" bIns="0" anchor="t" anchorCtr="0">
              <a:spAutoFit/>
            </a:bodyPr>
            <a:lstStyle/>
            <a:p>
              <a:pPr algn="l"/>
              <a:r>
                <a:rPr lang="vi-VN" sz="1350" b="1" dirty="0">
                  <a:solidFill>
                    <a:schemeClr val="accent5"/>
                  </a:solidFill>
                  <a:latin typeface="+mn-lt"/>
                  <a:ea typeface="+mn-ea"/>
                  <a:cs typeface="+mn-cs"/>
                </a:rPr>
                <a:t>PHẢN HỒI LỖI LÀ VĂN BẢN, KHÔNG PHẢI SỐ ĐO</a:t>
              </a:r>
            </a:p>
          </p:txBody>
        </p:sp>
        <p:sp>
          <p:nvSpPr>
            <p:cNvPr id="7" name="Rectangle 7"/>
            <p:cNvSpPr/>
            <p:nvPr/>
          </p:nvSpPr>
          <p:spPr>
            <a:xfrm>
              <a:off x="685800" y="2305050"/>
              <a:ext cx="6096000" cy="2762250"/>
            </a:xfrm>
            <a:prstGeom prst="roundRect">
              <a:avLst>
                <a:gd name="adj" fmla="val 2069"/>
              </a:avLst>
            </a:prstGeom>
            <a:solidFill>
              <a:schemeClr val="lt2"/>
            </a:solidFill>
            <a:ln>
              <a:noFill/>
            </a:ln>
          </p:spPr>
        </p:sp>
        <p:sp>
          <p:nvSpPr>
            <p:cNvPr id="8" name="TextBox 8"/>
            <p:cNvSpPr txBox="1"/>
            <p:nvPr/>
          </p:nvSpPr>
          <p:spPr>
            <a:xfrm>
              <a:off x="907923" y="2533650"/>
              <a:ext cx="4379343" cy="250317"/>
            </a:xfrm>
            <a:prstGeom prst="rect">
              <a:avLst/>
            </a:prstGeom>
            <a:noFill/>
            <a:ln>
              <a:noFill/>
            </a:ln>
          </p:spPr>
          <p:txBody>
            <a:bodyPr wrap="none" lIns="0" tIns="0" rIns="0" bIns="0" anchor="t" anchorCtr="0">
              <a:spAutoFit/>
            </a:bodyPr>
            <a:lstStyle/>
            <a:p>
              <a:pPr algn="l"/>
              <a:r>
                <a:rPr lang="vi-VN" sz="1280" dirty="0">
                  <a:solidFill>
                    <a:schemeClr val="accent2"/>
                  </a:solidFill>
                  <a:latin typeface="Consolas"/>
                  <a:ea typeface="Consolas"/>
                  <a:cs typeface="Consolas"/>
                </a:rPr>
                <a:t># Chỉ dùng lệnh này với chương trình thực hành</a:t>
              </a:r>
            </a:p>
          </p:txBody>
        </p:sp>
        <p:sp>
          <p:nvSpPr>
            <p:cNvPr id="9" name="TextBox 9"/>
            <p:cNvSpPr txBox="1"/>
            <p:nvPr/>
          </p:nvSpPr>
          <p:spPr>
            <a:xfrm>
              <a:off x="907923" y="2876550"/>
              <a:ext cx="4192345" cy="250317"/>
            </a:xfrm>
            <a:prstGeom prst="rect">
              <a:avLst/>
            </a:prstGeom>
            <a:noFill/>
            <a:ln>
              <a:noFill/>
            </a:ln>
          </p:spPr>
          <p:txBody>
            <a:bodyPr wrap="none" lIns="0" tIns="0" rIns="0" bIns="0" anchor="t" anchorCtr="0">
              <a:spAutoFit/>
            </a:bodyPr>
            <a:lstStyle/>
            <a:p>
              <a:pPr algn="l"/>
              <a:r>
                <a:rPr lang="vi-VN" sz="1280" dirty="0">
                  <a:solidFill>
                    <a:schemeClr val="dk1"/>
                  </a:solidFill>
                  <a:latin typeface="Consolas"/>
                  <a:ea typeface="Consolas"/>
                  <a:cs typeface="Consolas"/>
                </a:rPr>
                <a:t>send_command(device, "SENS:VOLT:DC:RANG 5")</a:t>
              </a:r>
            </a:p>
          </p:txBody>
        </p:sp>
        <p:sp>
          <p:nvSpPr>
            <p:cNvPr id="10" name="TextBox 10"/>
            <p:cNvSpPr txBox="1"/>
            <p:nvPr/>
          </p:nvSpPr>
          <p:spPr>
            <a:xfrm>
              <a:off x="907923" y="3219450"/>
              <a:ext cx="4424832" cy="250317"/>
            </a:xfrm>
            <a:prstGeom prst="rect">
              <a:avLst/>
            </a:prstGeom>
            <a:noFill/>
            <a:ln>
              <a:noFill/>
            </a:ln>
          </p:spPr>
          <p:txBody>
            <a:bodyPr wrap="none" lIns="0" tIns="0" rIns="0" bIns="0" anchor="t" anchorCtr="0">
              <a:spAutoFit/>
            </a:bodyPr>
            <a:lstStyle/>
            <a:p>
              <a:pPr algn="l"/>
              <a:r>
                <a:rPr lang="vi-VN" sz="1280" dirty="0">
                  <a:solidFill>
                    <a:schemeClr val="accent1"/>
                  </a:solidFill>
                  <a:latin typeface="Consolas"/>
                  <a:ea typeface="Consolas"/>
                  <a:cs typeface="Consolas"/>
                </a:rPr>
                <a:t>error_text = send_command(device, "SYST:ERR?")</a:t>
              </a:r>
            </a:p>
          </p:txBody>
        </p:sp>
        <p:sp>
          <p:nvSpPr>
            <p:cNvPr id="11" name="TextBox 11"/>
            <p:cNvSpPr txBox="1"/>
            <p:nvPr/>
          </p:nvSpPr>
          <p:spPr>
            <a:xfrm>
              <a:off x="907923" y="3562350"/>
              <a:ext cx="4751578" cy="250317"/>
            </a:xfrm>
            <a:prstGeom prst="rect">
              <a:avLst/>
            </a:prstGeom>
            <a:noFill/>
            <a:ln>
              <a:noFill/>
            </a:ln>
          </p:spPr>
          <p:txBody>
            <a:bodyPr wrap="none" lIns="0" tIns="0" rIns="0" bIns="0" anchor="t" anchorCtr="0">
              <a:spAutoFit/>
            </a:bodyPr>
            <a:lstStyle/>
            <a:p>
              <a:pPr algn="l"/>
              <a:r>
                <a:rPr lang="vi-VN" sz="1280" dirty="0">
                  <a:solidFill>
                    <a:schemeClr val="dk1"/>
                  </a:solidFill>
                  <a:latin typeface="Consolas"/>
                  <a:ea typeface="Consolas"/>
                  <a:cs typeface="Consolas"/>
                </a:rPr>
                <a:t>if error_text and not error_text.startswith("0,"):</a:t>
              </a:r>
            </a:p>
          </p:txBody>
        </p:sp>
        <p:sp>
          <p:nvSpPr>
            <p:cNvPr id="12" name="TextBox 12"/>
            <p:cNvSpPr txBox="1"/>
            <p:nvPr/>
          </p:nvSpPr>
          <p:spPr>
            <a:xfrm>
              <a:off x="1288923" y="3848100"/>
              <a:ext cx="3621858" cy="250317"/>
            </a:xfrm>
            <a:prstGeom prst="rect">
              <a:avLst/>
            </a:prstGeom>
            <a:noFill/>
            <a:ln>
              <a:noFill/>
            </a:ln>
          </p:spPr>
          <p:txBody>
            <a:bodyPr wrap="none" lIns="0" tIns="0" rIns="0" bIns="0" anchor="t" anchorCtr="0">
              <a:spAutoFit/>
            </a:bodyPr>
            <a:lstStyle/>
            <a:p>
              <a:pPr algn="l"/>
              <a:r>
                <a:rPr lang="vi-VN" sz="1280" dirty="0">
                  <a:solidFill>
                    <a:schemeClr val="dk1"/>
                  </a:solidFill>
                  <a:latin typeface="Consolas"/>
                  <a:ea typeface="Consolas"/>
                  <a:cs typeface="Consolas"/>
                </a:rPr>
                <a:t>print("Thiet bi bao loi:", error_text)</a:t>
              </a:r>
            </a:p>
          </p:txBody>
        </p:sp>
        <p:sp>
          <p:nvSpPr>
            <p:cNvPr id="13" name="TextBox 13"/>
            <p:cNvSpPr txBox="1"/>
            <p:nvPr/>
          </p:nvSpPr>
          <p:spPr>
            <a:xfrm>
              <a:off x="907923" y="4191000"/>
              <a:ext cx="2689114" cy="250317"/>
            </a:xfrm>
            <a:prstGeom prst="rect">
              <a:avLst/>
            </a:prstGeom>
            <a:noFill/>
            <a:ln>
              <a:noFill/>
            </a:ln>
          </p:spPr>
          <p:txBody>
            <a:bodyPr wrap="none" lIns="0" tIns="0" rIns="0" bIns="0" anchor="t" anchorCtr="0">
              <a:spAutoFit/>
            </a:bodyPr>
            <a:lstStyle/>
            <a:p>
              <a:pPr algn="l"/>
              <a:r>
                <a:rPr lang="vi-VN" sz="1280" dirty="0">
                  <a:solidFill>
                    <a:schemeClr val="accent1"/>
                  </a:solidFill>
                  <a:latin typeface="Consolas"/>
                  <a:ea typeface="Consolas"/>
                  <a:cs typeface="Consolas"/>
                </a:rPr>
                <a:t>send_command(device, "*CLS")</a:t>
              </a:r>
            </a:p>
          </p:txBody>
        </p:sp>
        <p:sp>
          <p:nvSpPr>
            <p:cNvPr id="14" name="TextBox 14"/>
            <p:cNvSpPr txBox="1"/>
            <p:nvPr/>
          </p:nvSpPr>
          <p:spPr>
            <a:xfrm>
              <a:off x="678180" y="5251450"/>
              <a:ext cx="5620970" cy="293370"/>
            </a:xfrm>
            <a:prstGeom prst="rect">
              <a:avLst/>
            </a:prstGeom>
            <a:noFill/>
            <a:ln>
              <a:noFill/>
            </a:ln>
          </p:spPr>
          <p:txBody>
            <a:bodyPr wrap="none" lIns="0" tIns="0" rIns="0" bIns="0" anchor="t" anchorCtr="0">
              <a:spAutoFit/>
            </a:bodyPr>
            <a:lstStyle/>
            <a:p>
              <a:pPr algn="l"/>
              <a:r>
                <a:rPr lang="vi-VN" sz="1500" b="1" dirty="0">
                  <a:solidFill>
                    <a:schemeClr val="accent1"/>
                  </a:solidFill>
                  <a:latin typeface="+mn-lt"/>
                  <a:ea typeface="+mn-ea"/>
                  <a:cs typeface="+mn-cs"/>
                </a:rPr>
                <a:t>Mỗi truy vấn SYST:ERR? lấy lỗi cũ nhất trong hàng đợi.</a:t>
              </a:r>
            </a:p>
          </p:txBody>
        </p:sp>
        <p:sp>
          <p:nvSpPr>
            <p:cNvPr id="15" name="TextBox 15"/>
            <p:cNvSpPr txBox="1"/>
            <p:nvPr/>
          </p:nvSpPr>
          <p:spPr>
            <a:xfrm>
              <a:off x="679704" y="5619750"/>
              <a:ext cx="4444192" cy="234696"/>
            </a:xfrm>
            <a:prstGeom prst="rect">
              <a:avLst/>
            </a:prstGeom>
            <a:noFill/>
            <a:ln>
              <a:noFill/>
            </a:ln>
          </p:spPr>
          <p:txBody>
            <a:bodyPr wrap="none" lIns="0" tIns="0" rIns="0" bIns="0" anchor="t" anchorCtr="0">
              <a:spAutoFit/>
            </a:bodyPr>
            <a:lstStyle/>
            <a:p>
              <a:pPr algn="l"/>
              <a:r>
                <a:rPr lang="vi-VN" sz="1200" dirty="0">
                  <a:solidFill>
                    <a:schemeClr val="accent5"/>
                  </a:solidFill>
                  <a:latin typeface="+mn-lt"/>
                  <a:ea typeface="+mn-ea"/>
                  <a:cs typeface="+mn-cs"/>
                </a:rPr>
                <a:t>Phản hồi lỗi là văn bản; cần kiểm tra trước khi xử lý tiếp.</a:t>
              </a:r>
            </a:p>
          </p:txBody>
        </p:sp>
      </p:grpSp>
      <p:grpSp>
        <p:nvGrpSpPr>
          <p:cNvPr id="35" name="fifo-diagram"/>
          <p:cNvGrpSpPr/>
          <p:nvPr/>
        </p:nvGrpSpPr>
        <p:grpSpPr>
          <a:xfrm>
            <a:off x="7117842" y="1930400"/>
            <a:ext cx="4428779" cy="4038346"/>
            <a:chOff x="7117842" y="1930400"/>
            <a:chExt cx="4428779" cy="4038346"/>
          </a:xfrm>
        </p:grpSpPr>
        <p:sp>
          <p:nvSpPr>
            <p:cNvPr id="17" name="TextBox 17"/>
            <p:cNvSpPr txBox="1"/>
            <p:nvPr/>
          </p:nvSpPr>
          <p:spPr>
            <a:xfrm>
              <a:off x="7117842" y="1930400"/>
              <a:ext cx="2523950" cy="264033"/>
            </a:xfrm>
            <a:prstGeom prst="rect">
              <a:avLst/>
            </a:prstGeom>
            <a:noFill/>
            <a:ln>
              <a:noFill/>
            </a:ln>
          </p:spPr>
          <p:txBody>
            <a:bodyPr wrap="none" lIns="0" tIns="0" rIns="0" bIns="0" anchor="t" anchorCtr="0">
              <a:spAutoFit/>
            </a:bodyPr>
            <a:lstStyle/>
            <a:p>
              <a:pPr algn="l"/>
              <a:r>
                <a:rPr lang="vi-VN" sz="1350" b="1" dirty="0">
                  <a:solidFill>
                    <a:schemeClr val="accent5"/>
                  </a:solidFill>
                  <a:latin typeface="+mn-lt"/>
                  <a:ea typeface="+mn-ea"/>
                  <a:cs typeface="+mn-cs"/>
                </a:rPr>
                <a:t>FIFO · FIRST IN, FIRST OUT</a:t>
              </a:r>
            </a:p>
          </p:txBody>
        </p:sp>
        <p:sp>
          <p:nvSpPr>
            <p:cNvPr id="18" name="TextBox 18"/>
            <p:cNvSpPr txBox="1"/>
            <p:nvPr/>
          </p:nvSpPr>
          <p:spPr>
            <a:xfrm>
              <a:off x="7117842" y="2330450"/>
              <a:ext cx="3407687" cy="264033"/>
            </a:xfrm>
            <a:prstGeom prst="rect">
              <a:avLst/>
            </a:prstGeom>
            <a:noFill/>
            <a:ln>
              <a:noFill/>
            </a:ln>
          </p:spPr>
          <p:txBody>
            <a:bodyPr wrap="none" lIns="0" tIns="0" rIns="0" bIns="0" anchor="t" anchorCtr="0">
              <a:spAutoFit/>
            </a:bodyPr>
            <a:lstStyle/>
            <a:p>
              <a:pPr algn="l"/>
              <a:r>
                <a:rPr lang="vi-VN" sz="1350" b="1" dirty="0">
                  <a:solidFill>
                    <a:schemeClr val="accent2"/>
                  </a:solidFill>
                  <a:latin typeface="+mn-lt"/>
                  <a:ea typeface="+mn-ea"/>
                  <a:cs typeface="+mn-cs"/>
                </a:rPr>
                <a:t>Lỗi mới được thêm vào cuối hàng đợi →</a:t>
              </a:r>
            </a:p>
          </p:txBody>
        </p:sp>
        <p:sp>
          <p:nvSpPr>
            <p:cNvPr id="19" name="Rectangle 19"/>
            <p:cNvSpPr/>
            <p:nvPr/>
          </p:nvSpPr>
          <p:spPr>
            <a:xfrm>
              <a:off x="7124700" y="2686050"/>
              <a:ext cx="4381500" cy="723900"/>
            </a:xfrm>
            <a:prstGeom prst="roundRect">
              <a:avLst>
                <a:gd name="adj" fmla="val 7895"/>
              </a:avLst>
            </a:prstGeom>
            <a:solidFill>
              <a:schemeClr val="lt2"/>
            </a:solidFill>
            <a:ln>
              <a:noFill/>
            </a:ln>
          </p:spPr>
        </p:sp>
        <p:sp>
          <p:nvSpPr>
            <p:cNvPr id="20" name="Rectangle 20"/>
            <p:cNvSpPr/>
            <p:nvPr/>
          </p:nvSpPr>
          <p:spPr>
            <a:xfrm>
              <a:off x="7277100" y="2838450"/>
              <a:ext cx="1162050" cy="419100"/>
            </a:xfrm>
            <a:prstGeom prst="roundRect">
              <a:avLst>
                <a:gd name="adj" fmla="val 9091"/>
              </a:avLst>
            </a:prstGeom>
            <a:solidFill>
              <a:srgbClr val="FFFDF7"/>
            </a:solidFill>
            <a:ln w="9525">
              <a:solidFill>
                <a:schemeClr val="accent6"/>
              </a:solidFill>
            </a:ln>
          </p:spPr>
        </p:sp>
        <p:sp>
          <p:nvSpPr>
            <p:cNvPr id="21" name="Rectangle 21"/>
            <p:cNvSpPr/>
            <p:nvPr/>
          </p:nvSpPr>
          <p:spPr>
            <a:xfrm>
              <a:off x="8591550" y="2838450"/>
              <a:ext cx="1162050" cy="419100"/>
            </a:xfrm>
            <a:prstGeom prst="roundRect">
              <a:avLst>
                <a:gd name="adj" fmla="val 9091"/>
              </a:avLst>
            </a:prstGeom>
            <a:solidFill>
              <a:srgbClr val="FFFDF7"/>
            </a:solidFill>
            <a:ln w="9525">
              <a:solidFill>
                <a:schemeClr val="accent6"/>
              </a:solidFill>
            </a:ln>
          </p:spPr>
        </p:sp>
        <p:sp>
          <p:nvSpPr>
            <p:cNvPr id="22" name="Rectangle 22"/>
            <p:cNvSpPr/>
            <p:nvPr/>
          </p:nvSpPr>
          <p:spPr>
            <a:xfrm>
              <a:off x="9906000" y="2838450"/>
              <a:ext cx="1447800" cy="419100"/>
            </a:xfrm>
            <a:prstGeom prst="roundRect">
              <a:avLst>
                <a:gd name="adj" fmla="val 9091"/>
              </a:avLst>
            </a:prstGeom>
            <a:solidFill>
              <a:srgbClr val="FFFDF7"/>
            </a:solidFill>
            <a:ln w="9525">
              <a:solidFill>
                <a:schemeClr val="accent6"/>
              </a:solidFill>
            </a:ln>
          </p:spPr>
        </p:sp>
        <p:sp>
          <p:nvSpPr>
            <p:cNvPr id="23" name="TextBox 23"/>
            <p:cNvSpPr txBox="1"/>
            <p:nvPr/>
          </p:nvSpPr>
          <p:spPr>
            <a:xfrm>
              <a:off x="7288594" y="2940050"/>
              <a:ext cx="1139062" cy="264033"/>
            </a:xfrm>
            <a:prstGeom prst="rect">
              <a:avLst/>
            </a:prstGeom>
            <a:noFill/>
            <a:ln>
              <a:noFill/>
            </a:ln>
          </p:spPr>
          <p:txBody>
            <a:bodyPr wrap="none" lIns="0" tIns="0" rIns="0" bIns="0" anchor="t" anchorCtr="0">
              <a:spAutoFit/>
            </a:bodyPr>
            <a:lstStyle/>
            <a:p>
              <a:pPr algn="ctr"/>
              <a:r>
                <a:rPr lang="vi-VN" sz="1350" b="1" dirty="0">
                  <a:solidFill>
                    <a:schemeClr val="accent1"/>
                  </a:solidFill>
                  <a:latin typeface="+mn-lt"/>
                  <a:ea typeface="+mn-ea"/>
                  <a:cs typeface="+mn-cs"/>
                </a:rPr>
                <a:t>E1 · cũ nhất</a:t>
              </a:r>
            </a:p>
          </p:txBody>
        </p:sp>
        <p:sp>
          <p:nvSpPr>
            <p:cNvPr id="24" name="TextBox 24"/>
            <p:cNvSpPr txBox="1"/>
            <p:nvPr/>
          </p:nvSpPr>
          <p:spPr>
            <a:xfrm>
              <a:off x="9060104" y="2940050"/>
              <a:ext cx="224942" cy="264033"/>
            </a:xfrm>
            <a:prstGeom prst="rect">
              <a:avLst/>
            </a:prstGeom>
            <a:noFill/>
            <a:ln>
              <a:noFill/>
            </a:ln>
          </p:spPr>
          <p:txBody>
            <a:bodyPr wrap="none" lIns="0" tIns="0" rIns="0" bIns="0" anchor="t" anchorCtr="0">
              <a:spAutoFit/>
            </a:bodyPr>
            <a:lstStyle/>
            <a:p>
              <a:pPr algn="ctr"/>
              <a:r>
                <a:rPr lang="vi-VN" sz="1350" dirty="0">
                  <a:solidFill>
                    <a:schemeClr val="dk1"/>
                  </a:solidFill>
                  <a:latin typeface="+mn-lt"/>
                  <a:ea typeface="+mn-ea"/>
                  <a:cs typeface="+mn-cs"/>
                </a:rPr>
                <a:t>E2</a:t>
              </a:r>
            </a:p>
          </p:txBody>
        </p:sp>
        <p:sp>
          <p:nvSpPr>
            <p:cNvPr id="25" name="TextBox 25"/>
            <p:cNvSpPr txBox="1"/>
            <p:nvPr/>
          </p:nvSpPr>
          <p:spPr>
            <a:xfrm>
              <a:off x="10268248" y="2940050"/>
              <a:ext cx="723305" cy="264033"/>
            </a:xfrm>
            <a:prstGeom prst="rect">
              <a:avLst/>
            </a:prstGeom>
            <a:noFill/>
            <a:ln>
              <a:noFill/>
            </a:ln>
          </p:spPr>
          <p:txBody>
            <a:bodyPr wrap="none" lIns="0" tIns="0" rIns="0" bIns="0" anchor="t" anchorCtr="0">
              <a:spAutoFit/>
            </a:bodyPr>
            <a:lstStyle/>
            <a:p>
              <a:pPr algn="ctr"/>
              <a:r>
                <a:rPr lang="vi-VN" sz="1350" dirty="0">
                  <a:solidFill>
                    <a:schemeClr val="dk1"/>
                  </a:solidFill>
                  <a:latin typeface="+mn-lt"/>
                  <a:ea typeface="+mn-ea"/>
                  <a:cs typeface="+mn-cs"/>
                </a:rPr>
                <a:t>E3 · mới</a:t>
              </a:r>
            </a:p>
          </p:txBody>
        </p:sp>
        <p:sp>
          <p:nvSpPr>
            <p:cNvPr id="26" name="TextBox 26"/>
            <p:cNvSpPr txBox="1"/>
            <p:nvPr/>
          </p:nvSpPr>
          <p:spPr>
            <a:xfrm>
              <a:off x="7117842" y="3568700"/>
              <a:ext cx="3083657" cy="264033"/>
            </a:xfrm>
            <a:prstGeom prst="rect">
              <a:avLst/>
            </a:prstGeom>
            <a:noFill/>
            <a:ln>
              <a:noFill/>
            </a:ln>
          </p:spPr>
          <p:txBody>
            <a:bodyPr wrap="none" lIns="0" tIns="0" rIns="0" bIns="0" anchor="t" anchorCtr="0">
              <a:spAutoFit/>
            </a:bodyPr>
            <a:lstStyle/>
            <a:p>
              <a:pPr algn="l"/>
              <a:r>
                <a:rPr lang="vi-VN" sz="1350" dirty="0">
                  <a:solidFill>
                    <a:schemeClr val="dk1"/>
                  </a:solidFill>
                  <a:latin typeface="+mn-lt"/>
                  <a:ea typeface="+mn-ea"/>
                  <a:cs typeface="+mn-cs"/>
                </a:rPr>
                <a:t>Lần đọc 1 trả E1; lần đọc 2 trả E2.</a:t>
              </a:r>
            </a:p>
          </p:txBody>
        </p:sp>
        <p:sp>
          <p:nvSpPr>
            <p:cNvPr id="27" name="Rectangle 27"/>
            <p:cNvSpPr/>
            <p:nvPr/>
          </p:nvSpPr>
          <p:spPr>
            <a:xfrm>
              <a:off x="7124700" y="4019550"/>
              <a:ext cx="4381500" cy="685800"/>
            </a:xfrm>
            <a:prstGeom prst="roundRect">
              <a:avLst>
                <a:gd name="adj" fmla="val 8333"/>
              </a:avLst>
            </a:prstGeom>
            <a:solidFill>
              <a:srgbClr val="FFFDF7"/>
            </a:solidFill>
            <a:ln w="14288">
              <a:solidFill>
                <a:schemeClr val="accent6"/>
              </a:solidFill>
            </a:ln>
          </p:spPr>
        </p:sp>
        <p:sp>
          <p:nvSpPr>
            <p:cNvPr id="28" name="TextBox 28"/>
            <p:cNvSpPr txBox="1"/>
            <p:nvPr/>
          </p:nvSpPr>
          <p:spPr>
            <a:xfrm>
              <a:off x="7346442" y="4159250"/>
              <a:ext cx="1222879" cy="264033"/>
            </a:xfrm>
            <a:prstGeom prst="rect">
              <a:avLst/>
            </a:prstGeom>
            <a:noFill/>
            <a:ln>
              <a:noFill/>
            </a:ln>
          </p:spPr>
          <p:txBody>
            <a:bodyPr wrap="none" lIns="0" tIns="0" rIns="0" bIns="0" anchor="t" anchorCtr="0">
              <a:spAutoFit/>
            </a:bodyPr>
            <a:lstStyle/>
            <a:p>
              <a:pPr algn="l"/>
              <a:r>
                <a:rPr lang="vi-VN" sz="1350" b="1" dirty="0">
                  <a:solidFill>
                    <a:schemeClr val="accent1"/>
                  </a:solidFill>
                  <a:latin typeface="Consolas"/>
                  <a:ea typeface="Consolas"/>
                  <a:cs typeface="Consolas"/>
                </a:rPr>
                <a:t>0,"No error"</a:t>
              </a:r>
            </a:p>
          </p:txBody>
        </p:sp>
        <p:sp>
          <p:nvSpPr>
            <p:cNvPr id="29" name="TextBox 29"/>
            <p:cNvSpPr txBox="1"/>
            <p:nvPr/>
          </p:nvSpPr>
          <p:spPr>
            <a:xfrm>
              <a:off x="8984742" y="4159250"/>
              <a:ext cx="1431265" cy="264033"/>
            </a:xfrm>
            <a:prstGeom prst="rect">
              <a:avLst/>
            </a:prstGeom>
            <a:noFill/>
            <a:ln>
              <a:noFill/>
            </a:ln>
          </p:spPr>
          <p:txBody>
            <a:bodyPr wrap="none" lIns="0" tIns="0" rIns="0" bIns="0" anchor="t" anchorCtr="0">
              <a:spAutoFit/>
            </a:bodyPr>
            <a:lstStyle/>
            <a:p>
              <a:pPr algn="l"/>
              <a:r>
                <a:rPr lang="vi-VN" sz="1350" dirty="0">
                  <a:solidFill>
                    <a:schemeClr val="dk1"/>
                  </a:solidFill>
                  <a:latin typeface="+mn-lt"/>
                  <a:ea typeface="+mn-ea"/>
                  <a:cs typeface="+mn-cs"/>
                </a:rPr>
                <a:t>hàng đợi đã rỗng</a:t>
              </a:r>
            </a:p>
          </p:txBody>
        </p:sp>
        <p:sp>
          <p:nvSpPr>
            <p:cNvPr id="30" name="TextBox 30"/>
            <p:cNvSpPr txBox="1"/>
            <p:nvPr/>
          </p:nvSpPr>
          <p:spPr>
            <a:xfrm>
              <a:off x="7347204" y="4419600"/>
              <a:ext cx="3801556" cy="234696"/>
            </a:xfrm>
            <a:prstGeom prst="rect">
              <a:avLst/>
            </a:prstGeom>
            <a:noFill/>
            <a:ln>
              <a:noFill/>
            </a:ln>
          </p:spPr>
          <p:txBody>
            <a:bodyPr wrap="none" lIns="0" tIns="0" rIns="0" bIns="0" anchor="t" anchorCtr="0">
              <a:spAutoFit/>
            </a:bodyPr>
            <a:lstStyle/>
            <a:p>
              <a:pPr algn="l"/>
              <a:r>
                <a:rPr lang="vi-VN" sz="1200" dirty="0">
                  <a:solidFill>
                    <a:schemeClr val="accent5"/>
                  </a:solidFill>
                  <a:latin typeface="+mn-lt"/>
                  <a:ea typeface="+mn-ea"/>
                  <a:cs typeface="+mn-cs"/>
                </a:rPr>
                <a:t>*CLS xóa hàng đợi trước lượt kiểm tra tiếp theo.</a:t>
              </a:r>
            </a:p>
          </p:txBody>
        </p:sp>
        <p:sp>
          <p:nvSpPr>
            <p:cNvPr id="31" name="TextBox 31"/>
            <p:cNvSpPr txBox="1"/>
            <p:nvPr/>
          </p:nvSpPr>
          <p:spPr>
            <a:xfrm>
              <a:off x="7118223" y="4953000"/>
              <a:ext cx="2549224" cy="250317"/>
            </a:xfrm>
            <a:prstGeom prst="rect">
              <a:avLst/>
            </a:prstGeom>
            <a:noFill/>
            <a:ln>
              <a:noFill/>
            </a:ln>
          </p:spPr>
          <p:txBody>
            <a:bodyPr wrap="none" lIns="0" tIns="0" rIns="0" bIns="0" anchor="t" anchorCtr="0">
              <a:spAutoFit/>
            </a:bodyPr>
            <a:lstStyle/>
            <a:p>
              <a:pPr algn="l"/>
              <a:r>
                <a:rPr lang="vi-VN" sz="1280" b="1" dirty="0">
                  <a:solidFill>
                    <a:schemeClr val="accent2"/>
                  </a:solidFill>
                  <a:latin typeface="+mn-lt"/>
                  <a:ea typeface="+mn-ea"/>
                  <a:cs typeface="+mn-cs"/>
                </a:rPr>
                <a:t>Lưu ý với Keithley Model 2000</a:t>
              </a:r>
            </a:p>
          </p:txBody>
        </p:sp>
        <p:sp>
          <p:nvSpPr>
            <p:cNvPr id="32" name="TextBox 32"/>
            <p:cNvSpPr txBox="1"/>
            <p:nvPr/>
          </p:nvSpPr>
          <p:spPr>
            <a:xfrm>
              <a:off x="7118604" y="5238750"/>
              <a:ext cx="3175565" cy="234696"/>
            </a:xfrm>
            <a:prstGeom prst="rect">
              <a:avLst/>
            </a:prstGeom>
            <a:noFill/>
            <a:ln>
              <a:noFill/>
            </a:ln>
          </p:spPr>
          <p:txBody>
            <a:bodyPr wrap="none" lIns="0" tIns="0" rIns="0" bIns="0" anchor="t" anchorCtr="0">
              <a:spAutoFit/>
            </a:bodyPr>
            <a:lstStyle/>
            <a:p>
              <a:pPr algn="l"/>
              <a:r>
                <a:rPr lang="vi-VN" sz="1200" dirty="0">
                  <a:solidFill>
                    <a:schemeClr val="dk1"/>
                  </a:solidFill>
                  <a:latin typeface="+mn-lt"/>
                  <a:ea typeface="+mn-ea"/>
                  <a:cs typeface="+mn-cs"/>
                </a:rPr>
                <a:t>Thang 5 V có thể hợp lệ trên Model 2000.</a:t>
              </a:r>
            </a:p>
          </p:txBody>
        </p:sp>
        <p:sp>
          <p:nvSpPr>
            <p:cNvPr id="33" name="TextBox 33"/>
            <p:cNvSpPr txBox="1"/>
            <p:nvPr/>
          </p:nvSpPr>
          <p:spPr>
            <a:xfrm>
              <a:off x="7118604" y="5486400"/>
              <a:ext cx="4428017" cy="234696"/>
            </a:xfrm>
            <a:prstGeom prst="rect">
              <a:avLst/>
            </a:prstGeom>
            <a:noFill/>
            <a:ln>
              <a:noFill/>
            </a:ln>
          </p:spPr>
          <p:txBody>
            <a:bodyPr wrap="none" lIns="0" tIns="0" rIns="0" bIns="0" anchor="t" anchorCtr="0">
              <a:spAutoFit/>
            </a:bodyPr>
            <a:lstStyle/>
            <a:p>
              <a:pPr algn="l"/>
              <a:r>
                <a:rPr lang="vi-VN" sz="1200" dirty="0">
                  <a:solidFill>
                    <a:schemeClr val="dk1"/>
                  </a:solidFill>
                  <a:latin typeface="+mn-lt"/>
                  <a:ea typeface="+mn-ea"/>
                  <a:cs typeface="+mn-cs"/>
                </a:rPr>
                <a:t>Chỉ sử dụng nếu chương trình thực hành chủ động từ chối;</a:t>
              </a:r>
            </a:p>
          </p:txBody>
        </p:sp>
        <p:sp>
          <p:nvSpPr>
            <p:cNvPr id="34" name="TextBox 34"/>
            <p:cNvSpPr txBox="1"/>
            <p:nvPr/>
          </p:nvSpPr>
          <p:spPr>
            <a:xfrm>
              <a:off x="7118604" y="5734050"/>
              <a:ext cx="3033065" cy="234696"/>
            </a:xfrm>
            <a:prstGeom prst="rect">
              <a:avLst/>
            </a:prstGeom>
            <a:noFill/>
            <a:ln>
              <a:noFill/>
            </a:ln>
          </p:spPr>
          <p:txBody>
            <a:bodyPr wrap="none" lIns="0" tIns="0" rIns="0" bIns="0" anchor="t" anchorCtr="0">
              <a:spAutoFit/>
            </a:bodyPr>
            <a:lstStyle/>
            <a:p>
              <a:pPr algn="l"/>
              <a:r>
                <a:rPr lang="vi-VN" sz="1200" dirty="0">
                  <a:solidFill>
                    <a:schemeClr val="dk1"/>
                  </a:solidFill>
                  <a:latin typeface="+mn-lt"/>
                  <a:ea typeface="+mn-ea"/>
                  <a:cs typeface="+mn-cs"/>
                </a:rPr>
                <a:t>đối chiếu manual trước khi kết luận lỗi.</a:t>
              </a:r>
            </a:p>
          </p:txBody>
        </p:sp>
      </p:grpSp>
      <p:grpSp>
        <p:nvGrpSpPr>
          <p:cNvPr id="38" name="page-footer"/>
          <p:cNvGrpSpPr/>
          <p:nvPr/>
        </p:nvGrpSpPr>
        <p:grpSpPr>
          <a:xfrm>
            <a:off x="679704" y="6429375"/>
            <a:ext cx="10832592" cy="234696"/>
            <a:chOff x="679704" y="6429375"/>
            <a:chExt cx="10832592" cy="234696"/>
          </a:xfrm>
        </p:grpSpPr>
        <p:sp>
          <p:nvSpPr>
            <p:cNvPr id="36" name="TextBox 36"/>
            <p:cNvSpPr txBox="1"/>
            <p:nvPr/>
          </p:nvSpPr>
          <p:spPr>
            <a:xfrm>
              <a:off x="679704" y="6429375"/>
              <a:ext cx="3084576" cy="234696"/>
            </a:xfrm>
            <a:prstGeom prst="rect">
              <a:avLst/>
            </a:prstGeom>
            <a:noFill/>
            <a:ln>
              <a:noFill/>
            </a:ln>
          </p:spPr>
          <p:txBody>
            <a:bodyPr wrap="none" lIns="0" tIns="0" rIns="0" bIns="0" anchor="t" anchorCtr="0">
              <a:spAutoFit/>
            </a:bodyPr>
            <a:lstStyle/>
            <a:p>
              <a:pPr algn="l"/>
              <a:r>
                <a:rPr lang="vi-VN" sz="1200" dirty="0">
                  <a:solidFill>
                    <a:schemeClr val="accent5"/>
                  </a:solidFill>
                  <a:latin typeface="+mn-lt"/>
                  <a:ea typeface="+mn-ea"/>
                  <a:cs typeface="+mn-cs"/>
                </a:rPr>
                <a:t>SCPI · ERROR QUEUE KHÔNG PHẢI SỐ ĐO</a:t>
              </a:r>
            </a:p>
          </p:txBody>
        </p:sp>
        <p:sp>
          <p:nvSpPr>
            <p:cNvPr id="37" name="TextBox 37"/>
            <p:cNvSpPr txBox="1"/>
            <p:nvPr/>
          </p:nvSpPr>
          <p:spPr>
            <a:xfrm>
              <a:off x="10958932" y="6429375"/>
              <a:ext cx="553364" cy="234696"/>
            </a:xfrm>
            <a:prstGeom prst="rect">
              <a:avLst/>
            </a:prstGeom>
            <a:noFill/>
            <a:ln>
              <a:noFill/>
            </a:ln>
          </p:spPr>
          <p:txBody>
            <a:bodyPr wrap="none" lIns="0" tIns="0" rIns="0" bIns="0" anchor="t" anchorCtr="0">
              <a:spAutoFit/>
            </a:bodyPr>
            <a:lstStyle/>
            <a:p>
              <a:pPr algn="r"/>
              <a:r>
                <a:rPr lang="vi-VN" sz="1200" dirty="0">
                  <a:solidFill>
                    <a:schemeClr val="accent5"/>
                  </a:solidFill>
                  <a:latin typeface="+mn-lt"/>
                  <a:ea typeface="+mn-ea"/>
                  <a:cs typeface="+mn-cs"/>
                </a:rPr>
                <a:t>16 / 25</a:t>
              </a:r>
            </a:p>
          </p:txBody>
        </p:sp>
      </p:grpSp>
    </p:spTree>
  </p:cSld>
  <p:clrMapOvr>
    <a:masterClrMapping/>
  </p:clrMapOvr>
  <p:transition xmlns:p14="http://schemas.microsoft.com/office/powerpoint/2010/main" p14:dur="400">
    <p:fade/>
  </p:transition>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page-title"/>
          <p:cNvGrpSpPr/>
          <p:nvPr/>
        </p:nvGrpSpPr>
        <p:grpSpPr>
          <a:xfrm>
            <a:off x="669798" y="520700"/>
            <a:ext cx="10836402" cy="955675"/>
            <a:chOff x="669798" y="520700"/>
            <a:chExt cx="10836402" cy="955675"/>
          </a:xfrm>
        </p:grpSpPr>
        <p:sp>
          <p:nvSpPr>
            <p:cNvPr id="2" name="TextBox 2"/>
            <p:cNvSpPr txBox="1"/>
            <p:nvPr/>
          </p:nvSpPr>
          <p:spPr>
            <a:xfrm>
              <a:off x="678942" y="520700"/>
              <a:ext cx="2040049" cy="264033"/>
            </a:xfrm>
            <a:prstGeom prst="rect">
              <a:avLst/>
            </a:prstGeom>
            <a:noFill/>
            <a:ln>
              <a:noFill/>
            </a:ln>
          </p:spPr>
          <p:txBody>
            <a:bodyPr wrap="none" lIns="0" tIns="0" rIns="0" bIns="0" anchor="t" anchorCtr="0">
              <a:spAutoFit/>
            </a:bodyPr>
            <a:lstStyle/>
            <a:p>
              <a:pPr algn="l"/>
              <a:r>
                <a:rPr lang="vi-VN" sz="1350" b="1" dirty="0">
                  <a:solidFill>
                    <a:schemeClr val="accent3"/>
                  </a:solidFill>
                  <a:latin typeface="+mn-lt"/>
                  <a:ea typeface="+mn-ea"/>
                  <a:cs typeface="+mn-cs"/>
                </a:rPr>
                <a:t>04 · THU THẬP DỮ LIỆU</a:t>
              </a:r>
            </a:p>
          </p:txBody>
        </p:sp>
        <p:sp>
          <p:nvSpPr>
            <p:cNvPr id="3" name="TextBox 3"/>
            <p:cNvSpPr txBox="1"/>
            <p:nvPr/>
          </p:nvSpPr>
          <p:spPr>
            <a:xfrm>
              <a:off x="669798" y="838200"/>
              <a:ext cx="6280329" cy="616077"/>
            </a:xfrm>
            <a:prstGeom prst="rect">
              <a:avLst/>
            </a:prstGeom>
            <a:noFill/>
            <a:ln>
              <a:noFill/>
            </a:ln>
          </p:spPr>
          <p:txBody>
            <a:bodyPr wrap="none" lIns="0" tIns="0" rIns="0" bIns="0" anchor="t" anchorCtr="0">
              <a:spAutoFit/>
            </a:bodyPr>
            <a:lstStyle/>
            <a:p>
              <a:pPr algn="l"/>
              <a:r>
                <a:rPr lang="vi-VN" sz="3150" b="1" dirty="0">
                  <a:solidFill>
                    <a:schemeClr val="accent1"/>
                  </a:solidFill>
                  <a:latin typeface="+mn-lt"/>
                  <a:ea typeface="+mn-ea"/>
                  <a:cs typeface="+mn-cs"/>
                </a:rPr>
                <a:t>Bước 10 — Tổ chức phép đo lặp</a:t>
              </a:r>
            </a:p>
          </p:txBody>
        </p:sp>
        <p:sp>
          <p:nvSpPr>
            <p:cNvPr id="4" name="Line 4"/>
            <p:cNvSpPr/>
            <p:nvPr/>
          </p:nvSpPr>
          <p:spPr>
            <a:xfrm>
              <a:off x="685800" y="1466850"/>
              <a:ext cx="10820400" cy="9525"/>
            </a:xfrm>
            <a:custGeom>
              <a:avLst/>
              <a:gdLst/>
              <a:ahLst/>
              <a:cxnLst/>
              <a:rect l="l" t="t" r="r" b="b"/>
              <a:pathLst>
                <a:path w="10820400" h="9525">
                  <a:moveTo>
                    <a:pt x="0" y="0"/>
                  </a:moveTo>
                  <a:lnTo>
                    <a:pt x="10820400" y="0"/>
                  </a:lnTo>
                </a:path>
              </a:pathLst>
            </a:custGeom>
            <a:noFill/>
            <a:ln w="14288">
              <a:solidFill>
                <a:schemeClr val="accent6"/>
              </a:solidFill>
            </a:ln>
          </p:spPr>
        </p:sp>
      </p:grpSp>
      <p:grpSp>
        <p:nvGrpSpPr>
          <p:cNvPr id="17" name="repeat-code"/>
          <p:cNvGrpSpPr/>
          <p:nvPr/>
        </p:nvGrpSpPr>
        <p:grpSpPr>
          <a:xfrm>
            <a:off x="678942" y="1930400"/>
            <a:ext cx="5912358" cy="4000246"/>
            <a:chOff x="678942" y="1930400"/>
            <a:chExt cx="5912358" cy="4000246"/>
          </a:xfrm>
        </p:grpSpPr>
        <p:sp>
          <p:nvSpPr>
            <p:cNvPr id="6" name="TextBox 6"/>
            <p:cNvSpPr txBox="1"/>
            <p:nvPr/>
          </p:nvSpPr>
          <p:spPr>
            <a:xfrm>
              <a:off x="678942" y="1930400"/>
              <a:ext cx="2947363" cy="264033"/>
            </a:xfrm>
            <a:prstGeom prst="rect">
              <a:avLst/>
            </a:prstGeom>
            <a:noFill/>
            <a:ln>
              <a:noFill/>
            </a:ln>
          </p:spPr>
          <p:txBody>
            <a:bodyPr wrap="none" lIns="0" tIns="0" rIns="0" bIns="0" anchor="t" anchorCtr="0">
              <a:spAutoFit/>
            </a:bodyPr>
            <a:lstStyle/>
            <a:p>
              <a:pPr algn="l"/>
              <a:r>
                <a:rPr lang="vi-VN" sz="1350" b="1" dirty="0">
                  <a:solidFill>
                    <a:schemeClr val="accent5"/>
                  </a:solidFill>
                  <a:latin typeface="+mn-lt"/>
                  <a:ea typeface="+mn-ea"/>
                  <a:cs typeface="+mn-cs"/>
                </a:rPr>
                <a:t>THIẾT LẬP SỐ MẪU VÀ CHU KỲ ĐO</a:t>
              </a:r>
            </a:p>
          </p:txBody>
        </p:sp>
        <p:sp>
          <p:nvSpPr>
            <p:cNvPr id="7" name="Rectangle 7"/>
            <p:cNvSpPr/>
            <p:nvPr/>
          </p:nvSpPr>
          <p:spPr>
            <a:xfrm>
              <a:off x="685800" y="2305050"/>
              <a:ext cx="5905500" cy="2800350"/>
            </a:xfrm>
            <a:prstGeom prst="roundRect">
              <a:avLst>
                <a:gd name="adj" fmla="val 2041"/>
              </a:avLst>
            </a:prstGeom>
            <a:solidFill>
              <a:schemeClr val="lt2"/>
            </a:solidFill>
            <a:ln>
              <a:noFill/>
            </a:ln>
          </p:spPr>
        </p:sp>
        <p:sp>
          <p:nvSpPr>
            <p:cNvPr id="8" name="TextBox 8"/>
            <p:cNvSpPr txBox="1"/>
            <p:nvPr/>
          </p:nvSpPr>
          <p:spPr>
            <a:xfrm>
              <a:off x="907542" y="2520950"/>
              <a:ext cx="1492301" cy="264033"/>
            </a:xfrm>
            <a:prstGeom prst="rect">
              <a:avLst/>
            </a:prstGeom>
            <a:noFill/>
            <a:ln>
              <a:noFill/>
            </a:ln>
          </p:spPr>
          <p:txBody>
            <a:bodyPr wrap="none" lIns="0" tIns="0" rIns="0" bIns="0" anchor="t" anchorCtr="0">
              <a:spAutoFit/>
            </a:bodyPr>
            <a:lstStyle/>
            <a:p>
              <a:pPr algn="l"/>
              <a:r>
                <a:rPr lang="vi-VN" sz="1350" dirty="0">
                  <a:solidFill>
                    <a:schemeClr val="accent1"/>
                  </a:solidFill>
                  <a:latin typeface="Consolas"/>
                  <a:ea typeface="Consolas"/>
                  <a:cs typeface="Consolas"/>
                </a:rPr>
                <a:t>SO_LAN_DO = 10</a:t>
              </a:r>
            </a:p>
          </p:txBody>
        </p:sp>
        <p:sp>
          <p:nvSpPr>
            <p:cNvPr id="9" name="TextBox 9"/>
            <p:cNvSpPr txBox="1"/>
            <p:nvPr/>
          </p:nvSpPr>
          <p:spPr>
            <a:xfrm>
              <a:off x="907542" y="2863850"/>
              <a:ext cx="2612555" cy="264033"/>
            </a:xfrm>
            <a:prstGeom prst="rect">
              <a:avLst/>
            </a:prstGeom>
            <a:noFill/>
            <a:ln>
              <a:noFill/>
            </a:ln>
          </p:spPr>
          <p:txBody>
            <a:bodyPr wrap="none" lIns="0" tIns="0" rIns="0" bIns="0" anchor="t" anchorCtr="0">
              <a:spAutoFit/>
            </a:bodyPr>
            <a:lstStyle/>
            <a:p>
              <a:pPr algn="l"/>
              <a:r>
                <a:rPr lang="vi-VN" sz="1350" dirty="0">
                  <a:solidFill>
                    <a:schemeClr val="dk1"/>
                  </a:solidFill>
                  <a:latin typeface="Consolas"/>
                  <a:ea typeface="Consolas"/>
                  <a:cs typeface="Consolas"/>
                </a:rPr>
                <a:t>started = time.monotonic()</a:t>
              </a:r>
            </a:p>
          </p:txBody>
        </p:sp>
        <p:sp>
          <p:nvSpPr>
            <p:cNvPr id="10" name="TextBox 10"/>
            <p:cNvSpPr txBox="1"/>
            <p:nvPr/>
          </p:nvSpPr>
          <p:spPr>
            <a:xfrm>
              <a:off x="907542" y="3206750"/>
              <a:ext cx="3066383" cy="264033"/>
            </a:xfrm>
            <a:prstGeom prst="rect">
              <a:avLst/>
            </a:prstGeom>
            <a:noFill/>
            <a:ln>
              <a:noFill/>
            </a:ln>
          </p:spPr>
          <p:txBody>
            <a:bodyPr wrap="none" lIns="0" tIns="0" rIns="0" bIns="0" anchor="t" anchorCtr="0">
              <a:spAutoFit/>
            </a:bodyPr>
            <a:lstStyle/>
            <a:p>
              <a:pPr algn="l"/>
              <a:r>
                <a:rPr lang="vi-VN" sz="1350" dirty="0">
                  <a:solidFill>
                    <a:schemeClr val="dk1"/>
                  </a:solidFill>
                  <a:latin typeface="Consolas"/>
                  <a:ea typeface="Consolas"/>
                  <a:cs typeface="Consolas"/>
                </a:rPr>
                <a:t>for index in range(SO_LAN_DO):</a:t>
              </a:r>
            </a:p>
          </p:txBody>
        </p:sp>
        <p:sp>
          <p:nvSpPr>
            <p:cNvPr id="11" name="TextBox 11"/>
            <p:cNvSpPr txBox="1"/>
            <p:nvPr/>
          </p:nvSpPr>
          <p:spPr>
            <a:xfrm>
              <a:off x="1288542" y="3549650"/>
              <a:ext cx="3744270" cy="264033"/>
            </a:xfrm>
            <a:prstGeom prst="rect">
              <a:avLst/>
            </a:prstGeom>
            <a:noFill/>
            <a:ln>
              <a:noFill/>
            </a:ln>
          </p:spPr>
          <p:txBody>
            <a:bodyPr wrap="none" lIns="0" tIns="0" rIns="0" bIns="0" anchor="t" anchorCtr="0">
              <a:spAutoFit/>
            </a:bodyPr>
            <a:lstStyle/>
            <a:p>
              <a:pPr algn="l"/>
              <a:r>
                <a:rPr lang="vi-VN" sz="1350" dirty="0">
                  <a:solidFill>
                    <a:schemeClr val="dk1"/>
                  </a:solidFill>
                  <a:latin typeface="Consolas"/>
                  <a:ea typeface="Consolas"/>
                  <a:cs typeface="Consolas"/>
                </a:rPr>
                <a:t>value = send_command(device, "READ?")</a:t>
              </a:r>
            </a:p>
          </p:txBody>
        </p:sp>
        <p:sp>
          <p:nvSpPr>
            <p:cNvPr id="12" name="TextBox 12"/>
            <p:cNvSpPr txBox="1"/>
            <p:nvPr/>
          </p:nvSpPr>
          <p:spPr>
            <a:xfrm>
              <a:off x="1288542" y="3892550"/>
              <a:ext cx="3612109" cy="264033"/>
            </a:xfrm>
            <a:prstGeom prst="rect">
              <a:avLst/>
            </a:prstGeom>
            <a:noFill/>
            <a:ln>
              <a:noFill/>
            </a:ln>
          </p:spPr>
          <p:txBody>
            <a:bodyPr wrap="none" lIns="0" tIns="0" rIns="0" bIns="0" anchor="t" anchorCtr="0">
              <a:spAutoFit/>
            </a:bodyPr>
            <a:lstStyle/>
            <a:p>
              <a:pPr algn="l"/>
              <a:r>
                <a:rPr lang="vi-VN" sz="1350" dirty="0">
                  <a:solidFill>
                    <a:schemeClr val="dk1"/>
                  </a:solidFill>
                  <a:latin typeface="Consolas"/>
                  <a:ea typeface="Consolas"/>
                  <a:cs typeface="Consolas"/>
                </a:rPr>
                <a:t>elapsed = time.monotonic() - started</a:t>
              </a:r>
            </a:p>
          </p:txBody>
        </p:sp>
        <p:sp>
          <p:nvSpPr>
            <p:cNvPr id="13" name="TextBox 13"/>
            <p:cNvSpPr txBox="1"/>
            <p:nvPr/>
          </p:nvSpPr>
          <p:spPr>
            <a:xfrm>
              <a:off x="1288542" y="4235450"/>
              <a:ext cx="3212287" cy="264033"/>
            </a:xfrm>
            <a:prstGeom prst="rect">
              <a:avLst/>
            </a:prstGeom>
            <a:noFill/>
            <a:ln>
              <a:noFill/>
            </a:ln>
          </p:spPr>
          <p:txBody>
            <a:bodyPr wrap="none" lIns="0" tIns="0" rIns="0" bIns="0" anchor="t" anchorCtr="0">
              <a:spAutoFit/>
            </a:bodyPr>
            <a:lstStyle/>
            <a:p>
              <a:pPr algn="l"/>
              <a:r>
                <a:rPr lang="vi-VN" sz="1350" dirty="0">
                  <a:solidFill>
                    <a:schemeClr val="dk1"/>
                  </a:solidFill>
                  <a:latin typeface="Consolas"/>
                  <a:ea typeface="Consolas"/>
                  <a:cs typeface="Consolas"/>
                </a:rPr>
                <a:t>print(index + 1, elapsed, value)</a:t>
              </a:r>
            </a:p>
          </p:txBody>
        </p:sp>
        <p:sp>
          <p:nvSpPr>
            <p:cNvPr id="14" name="TextBox 14"/>
            <p:cNvSpPr txBox="1"/>
            <p:nvPr/>
          </p:nvSpPr>
          <p:spPr>
            <a:xfrm>
              <a:off x="1288542" y="4578350"/>
              <a:ext cx="1313136" cy="264033"/>
            </a:xfrm>
            <a:prstGeom prst="rect">
              <a:avLst/>
            </a:prstGeom>
            <a:noFill/>
            <a:ln>
              <a:noFill/>
            </a:ln>
          </p:spPr>
          <p:txBody>
            <a:bodyPr wrap="none" lIns="0" tIns="0" rIns="0" bIns="0" anchor="t" anchorCtr="0">
              <a:spAutoFit/>
            </a:bodyPr>
            <a:lstStyle/>
            <a:p>
              <a:pPr algn="l"/>
              <a:r>
                <a:rPr lang="vi-VN" sz="1350" dirty="0">
                  <a:solidFill>
                    <a:schemeClr val="accent2"/>
                  </a:solidFill>
                  <a:latin typeface="Consolas"/>
                  <a:ea typeface="Consolas"/>
                  <a:cs typeface="Consolas"/>
                </a:rPr>
                <a:t>time.sleep(1)</a:t>
              </a:r>
            </a:p>
          </p:txBody>
        </p:sp>
        <p:sp>
          <p:nvSpPr>
            <p:cNvPr id="15" name="TextBox 15"/>
            <p:cNvSpPr txBox="1"/>
            <p:nvPr/>
          </p:nvSpPr>
          <p:spPr>
            <a:xfrm>
              <a:off x="678942" y="5397500"/>
              <a:ext cx="3694006" cy="264033"/>
            </a:xfrm>
            <a:prstGeom prst="rect">
              <a:avLst/>
            </a:prstGeom>
            <a:noFill/>
            <a:ln>
              <a:noFill/>
            </a:ln>
          </p:spPr>
          <p:txBody>
            <a:bodyPr wrap="none" lIns="0" tIns="0" rIns="0" bIns="0" anchor="t" anchorCtr="0">
              <a:spAutoFit/>
            </a:bodyPr>
            <a:lstStyle/>
            <a:p>
              <a:pPr algn="l"/>
              <a:r>
                <a:rPr lang="vi-VN" sz="1350" b="1" dirty="0">
                  <a:solidFill>
                    <a:schemeClr val="accent1"/>
                  </a:solidFill>
                  <a:latin typeface="+mn-lt"/>
                  <a:ea typeface="+mn-ea"/>
                  <a:cs typeface="+mn-cs"/>
                </a:rPr>
                <a:t>Cần import mô-đun time trước khi chạy.</a:t>
              </a:r>
            </a:p>
          </p:txBody>
        </p:sp>
        <p:sp>
          <p:nvSpPr>
            <p:cNvPr id="16" name="TextBox 16"/>
            <p:cNvSpPr txBox="1"/>
            <p:nvPr/>
          </p:nvSpPr>
          <p:spPr>
            <a:xfrm>
              <a:off x="679704" y="5695950"/>
              <a:ext cx="5504688" cy="234696"/>
            </a:xfrm>
            <a:prstGeom prst="rect">
              <a:avLst/>
            </a:prstGeom>
            <a:noFill/>
            <a:ln>
              <a:noFill/>
            </a:ln>
          </p:spPr>
          <p:txBody>
            <a:bodyPr wrap="none" lIns="0" tIns="0" rIns="0" bIns="0" anchor="t" anchorCtr="0">
              <a:spAutoFit/>
            </a:bodyPr>
            <a:lstStyle/>
            <a:p>
              <a:pPr algn="l"/>
              <a:r>
                <a:rPr lang="vi-VN" sz="1200" dirty="0">
                  <a:solidFill>
                    <a:schemeClr val="accent5"/>
                  </a:solidFill>
                  <a:latin typeface="+mn-lt"/>
                  <a:ea typeface="+mn-ea"/>
                  <a:cs typeface="+mn-cs"/>
                </a:rPr>
                <a:t>monotonic() đo khoảng thời gian đã trôi qua, không phải thời gian lịch.</a:t>
              </a:r>
            </a:p>
          </p:txBody>
        </p:sp>
      </p:grpSp>
      <p:grpSp>
        <p:nvGrpSpPr>
          <p:cNvPr id="35" name="repeat-cycle"/>
          <p:cNvGrpSpPr/>
          <p:nvPr/>
        </p:nvGrpSpPr>
        <p:grpSpPr>
          <a:xfrm>
            <a:off x="7041642" y="1930400"/>
            <a:ext cx="4464558" cy="3898900"/>
            <a:chOff x="7041642" y="1930400"/>
            <a:chExt cx="4464558" cy="3898900"/>
          </a:xfrm>
        </p:grpSpPr>
        <p:sp>
          <p:nvSpPr>
            <p:cNvPr id="18" name="TextBox 18"/>
            <p:cNvSpPr txBox="1"/>
            <p:nvPr/>
          </p:nvSpPr>
          <p:spPr>
            <a:xfrm>
              <a:off x="7041642" y="1930400"/>
              <a:ext cx="2251756" cy="264033"/>
            </a:xfrm>
            <a:prstGeom prst="rect">
              <a:avLst/>
            </a:prstGeom>
            <a:noFill/>
            <a:ln>
              <a:noFill/>
            </a:ln>
          </p:spPr>
          <p:txBody>
            <a:bodyPr wrap="none" lIns="0" tIns="0" rIns="0" bIns="0" anchor="t" anchorCtr="0">
              <a:spAutoFit/>
            </a:bodyPr>
            <a:lstStyle/>
            <a:p>
              <a:pPr algn="l"/>
              <a:r>
                <a:rPr lang="vi-VN" sz="1350" b="1" dirty="0">
                  <a:solidFill>
                    <a:schemeClr val="accent5"/>
                  </a:solidFill>
                  <a:latin typeface="+mn-lt"/>
                  <a:ea typeface="+mn-ea"/>
                  <a:cs typeface="+mn-cs"/>
                </a:rPr>
                <a:t>MỘT VÒNG LẶP · 10 MẪU</a:t>
              </a:r>
            </a:p>
          </p:txBody>
        </p:sp>
        <p:sp>
          <p:nvSpPr>
            <p:cNvPr id="19" name="Line 19"/>
            <p:cNvSpPr/>
            <p:nvPr/>
          </p:nvSpPr>
          <p:spPr>
            <a:xfrm>
              <a:off x="7524750" y="2724150"/>
              <a:ext cx="9525" cy="1981200"/>
            </a:xfrm>
            <a:custGeom>
              <a:avLst/>
              <a:gdLst/>
              <a:ahLst/>
              <a:cxnLst/>
              <a:rect l="l" t="t" r="r" b="b"/>
              <a:pathLst>
                <a:path w="9525" h="1981200">
                  <a:moveTo>
                    <a:pt x="0" y="0"/>
                  </a:moveTo>
                  <a:lnTo>
                    <a:pt x="0" y="1981200"/>
                  </a:lnTo>
                </a:path>
              </a:pathLst>
            </a:custGeom>
            <a:noFill/>
            <a:ln w="19050">
              <a:solidFill>
                <a:schemeClr val="accent6"/>
              </a:solidFill>
            </a:ln>
          </p:spPr>
        </p:sp>
        <p:sp>
          <p:nvSpPr>
            <p:cNvPr id="20" name="Ellipse 20"/>
            <p:cNvSpPr/>
            <p:nvPr/>
          </p:nvSpPr>
          <p:spPr>
            <a:xfrm>
              <a:off x="7362825" y="2638425"/>
              <a:ext cx="323850" cy="323850"/>
            </a:xfrm>
            <a:prstGeom prst="ellipse">
              <a:avLst/>
            </a:prstGeom>
            <a:solidFill>
              <a:schemeClr val="accent1"/>
            </a:solidFill>
            <a:ln>
              <a:noFill/>
            </a:ln>
          </p:spPr>
        </p:sp>
        <p:sp>
          <p:nvSpPr>
            <p:cNvPr id="21" name="TextBox 21"/>
            <p:cNvSpPr txBox="1"/>
            <p:nvPr/>
          </p:nvSpPr>
          <p:spPr>
            <a:xfrm>
              <a:off x="7472008" y="2705100"/>
              <a:ext cx="105484" cy="234696"/>
            </a:xfrm>
            <a:prstGeom prst="rect">
              <a:avLst/>
            </a:prstGeom>
            <a:noFill/>
            <a:ln>
              <a:noFill/>
            </a:ln>
          </p:spPr>
          <p:txBody>
            <a:bodyPr wrap="none" lIns="0" tIns="0" rIns="0" bIns="0" anchor="t" anchorCtr="0">
              <a:spAutoFit/>
            </a:bodyPr>
            <a:lstStyle/>
            <a:p>
              <a:pPr algn="ctr"/>
              <a:r>
                <a:rPr lang="vi-VN" sz="1200" b="1" dirty="0">
                  <a:solidFill>
                    <a:srgbClr val="FFFDF7"/>
                  </a:solidFill>
                  <a:latin typeface="+mn-lt"/>
                  <a:ea typeface="+mn-ea"/>
                  <a:cs typeface="+mn-cs"/>
                </a:rPr>
                <a:t>1</a:t>
              </a:r>
            </a:p>
          </p:txBody>
        </p:sp>
        <p:sp>
          <p:nvSpPr>
            <p:cNvPr id="22" name="TextBox 22"/>
            <p:cNvSpPr txBox="1"/>
            <p:nvPr/>
          </p:nvSpPr>
          <p:spPr>
            <a:xfrm>
              <a:off x="7859268" y="2654300"/>
              <a:ext cx="694449" cy="322707"/>
            </a:xfrm>
            <a:prstGeom prst="rect">
              <a:avLst/>
            </a:prstGeom>
            <a:noFill/>
            <a:ln>
              <a:noFill/>
            </a:ln>
          </p:spPr>
          <p:txBody>
            <a:bodyPr wrap="none" lIns="0" tIns="0" rIns="0" bIns="0" anchor="t" anchorCtr="0">
              <a:spAutoFit/>
            </a:bodyPr>
            <a:lstStyle/>
            <a:p>
              <a:pPr algn="l"/>
              <a:r>
                <a:rPr lang="vi-VN" sz="1650" b="1" dirty="0">
                  <a:solidFill>
                    <a:schemeClr val="dk1"/>
                  </a:solidFill>
                  <a:latin typeface="+mn-lt"/>
                  <a:ea typeface="+mn-ea"/>
                  <a:cs typeface="+mn-cs"/>
                </a:rPr>
                <a:t>READ?</a:t>
              </a:r>
            </a:p>
          </p:txBody>
        </p:sp>
        <p:sp>
          <p:nvSpPr>
            <p:cNvPr id="23" name="TextBox 23"/>
            <p:cNvSpPr txBox="1"/>
            <p:nvPr/>
          </p:nvSpPr>
          <p:spPr>
            <a:xfrm>
              <a:off x="7860792" y="2978150"/>
              <a:ext cx="2655388" cy="264033"/>
            </a:xfrm>
            <a:prstGeom prst="rect">
              <a:avLst/>
            </a:prstGeom>
            <a:noFill/>
            <a:ln>
              <a:noFill/>
            </a:ln>
          </p:spPr>
          <p:txBody>
            <a:bodyPr wrap="none" lIns="0" tIns="0" rIns="0" bIns="0" anchor="t" anchorCtr="0">
              <a:spAutoFit/>
            </a:bodyPr>
            <a:lstStyle/>
            <a:p>
              <a:pPr algn="l"/>
              <a:r>
                <a:rPr lang="vi-VN" sz="1350" dirty="0">
                  <a:solidFill>
                    <a:schemeClr val="accent5"/>
                  </a:solidFill>
                  <a:latin typeface="+mn-lt"/>
                  <a:ea typeface="+mn-ea"/>
                  <a:cs typeface="+mn-cs"/>
                </a:rPr>
                <a:t>Gửi truy vấn và nhận phản hồi.</a:t>
              </a:r>
            </a:p>
          </p:txBody>
        </p:sp>
        <p:sp>
          <p:nvSpPr>
            <p:cNvPr id="24" name="Ellipse 24"/>
            <p:cNvSpPr/>
            <p:nvPr/>
          </p:nvSpPr>
          <p:spPr>
            <a:xfrm>
              <a:off x="7362825" y="3438525"/>
              <a:ext cx="323850" cy="323850"/>
            </a:xfrm>
            <a:prstGeom prst="ellipse">
              <a:avLst/>
            </a:prstGeom>
            <a:solidFill>
              <a:schemeClr val="accent3"/>
            </a:solidFill>
            <a:ln>
              <a:noFill/>
            </a:ln>
          </p:spPr>
        </p:sp>
        <p:sp>
          <p:nvSpPr>
            <p:cNvPr id="25" name="TextBox 25"/>
            <p:cNvSpPr txBox="1"/>
            <p:nvPr/>
          </p:nvSpPr>
          <p:spPr>
            <a:xfrm>
              <a:off x="7472008" y="3505200"/>
              <a:ext cx="105484" cy="234696"/>
            </a:xfrm>
            <a:prstGeom prst="rect">
              <a:avLst/>
            </a:prstGeom>
            <a:noFill/>
            <a:ln>
              <a:noFill/>
            </a:ln>
          </p:spPr>
          <p:txBody>
            <a:bodyPr wrap="none" lIns="0" tIns="0" rIns="0" bIns="0" anchor="t" anchorCtr="0">
              <a:spAutoFit/>
            </a:bodyPr>
            <a:lstStyle/>
            <a:p>
              <a:pPr algn="ctr"/>
              <a:r>
                <a:rPr lang="vi-VN" sz="1200" b="1" dirty="0">
                  <a:solidFill>
                    <a:srgbClr val="FFFDF7"/>
                  </a:solidFill>
                  <a:latin typeface="+mn-lt"/>
                  <a:ea typeface="+mn-ea"/>
                  <a:cs typeface="+mn-cs"/>
                </a:rPr>
                <a:t>2</a:t>
              </a:r>
            </a:p>
          </p:txBody>
        </p:sp>
        <p:sp>
          <p:nvSpPr>
            <p:cNvPr id="26" name="TextBox 26"/>
            <p:cNvSpPr txBox="1"/>
            <p:nvPr/>
          </p:nvSpPr>
          <p:spPr>
            <a:xfrm>
              <a:off x="7859268" y="3454400"/>
              <a:ext cx="2519751" cy="322707"/>
            </a:xfrm>
            <a:prstGeom prst="rect">
              <a:avLst/>
            </a:prstGeom>
            <a:noFill/>
            <a:ln>
              <a:noFill/>
            </a:ln>
          </p:spPr>
          <p:txBody>
            <a:bodyPr wrap="none" lIns="0" tIns="0" rIns="0" bIns="0" anchor="t" anchorCtr="0">
              <a:spAutoFit/>
            </a:bodyPr>
            <a:lstStyle/>
            <a:p>
              <a:pPr algn="l"/>
              <a:r>
                <a:rPr lang="vi-VN" sz="1650" b="1" dirty="0">
                  <a:solidFill>
                    <a:schemeClr val="dk1"/>
                  </a:solidFill>
                  <a:latin typeface="+mn-lt"/>
                  <a:ea typeface="+mn-ea"/>
                  <a:cs typeface="+mn-cs"/>
                </a:rPr>
                <a:t>Ghi giá trị và thời gian</a:t>
              </a:r>
            </a:p>
          </p:txBody>
        </p:sp>
        <p:sp>
          <p:nvSpPr>
            <p:cNvPr id="27" name="TextBox 27"/>
            <p:cNvSpPr txBox="1"/>
            <p:nvPr/>
          </p:nvSpPr>
          <p:spPr>
            <a:xfrm>
              <a:off x="7860792" y="3778250"/>
              <a:ext cx="2767032" cy="264033"/>
            </a:xfrm>
            <a:prstGeom prst="rect">
              <a:avLst/>
            </a:prstGeom>
            <a:noFill/>
            <a:ln>
              <a:noFill/>
            </a:ln>
          </p:spPr>
          <p:txBody>
            <a:bodyPr wrap="none" lIns="0" tIns="0" rIns="0" bIns="0" anchor="t" anchorCtr="0">
              <a:spAutoFit/>
            </a:bodyPr>
            <a:lstStyle/>
            <a:p>
              <a:pPr algn="l"/>
              <a:r>
                <a:rPr lang="vi-VN" sz="1350" dirty="0">
                  <a:solidFill>
                    <a:schemeClr val="accent5"/>
                  </a:solidFill>
                  <a:latin typeface="+mn-lt"/>
                  <a:ea typeface="+mn-ea"/>
                  <a:cs typeface="+mn-cs"/>
                </a:rPr>
                <a:t>index + 1 · thời gian đã trôi (s)</a:t>
              </a:r>
            </a:p>
          </p:txBody>
        </p:sp>
        <p:sp>
          <p:nvSpPr>
            <p:cNvPr id="28" name="Ellipse 28"/>
            <p:cNvSpPr/>
            <p:nvPr/>
          </p:nvSpPr>
          <p:spPr>
            <a:xfrm>
              <a:off x="7362825" y="4238625"/>
              <a:ext cx="323850" cy="323850"/>
            </a:xfrm>
            <a:prstGeom prst="ellipse">
              <a:avLst/>
            </a:prstGeom>
            <a:solidFill>
              <a:schemeClr val="accent2"/>
            </a:solidFill>
            <a:ln>
              <a:noFill/>
            </a:ln>
          </p:spPr>
        </p:sp>
        <p:sp>
          <p:nvSpPr>
            <p:cNvPr id="29" name="TextBox 29"/>
            <p:cNvSpPr txBox="1"/>
            <p:nvPr/>
          </p:nvSpPr>
          <p:spPr>
            <a:xfrm>
              <a:off x="7472008" y="4305300"/>
              <a:ext cx="105484" cy="234696"/>
            </a:xfrm>
            <a:prstGeom prst="rect">
              <a:avLst/>
            </a:prstGeom>
            <a:noFill/>
            <a:ln>
              <a:noFill/>
            </a:ln>
          </p:spPr>
          <p:txBody>
            <a:bodyPr wrap="none" lIns="0" tIns="0" rIns="0" bIns="0" anchor="t" anchorCtr="0">
              <a:spAutoFit/>
            </a:bodyPr>
            <a:lstStyle/>
            <a:p>
              <a:pPr algn="ctr"/>
              <a:r>
                <a:rPr lang="vi-VN" sz="1200" b="1" dirty="0">
                  <a:solidFill>
                    <a:srgbClr val="FFFDF7"/>
                  </a:solidFill>
                  <a:latin typeface="+mn-lt"/>
                  <a:ea typeface="+mn-ea"/>
                  <a:cs typeface="+mn-cs"/>
                </a:rPr>
                <a:t>3</a:t>
              </a:r>
            </a:p>
          </p:txBody>
        </p:sp>
        <p:sp>
          <p:nvSpPr>
            <p:cNvPr id="30" name="TextBox 30"/>
            <p:cNvSpPr txBox="1"/>
            <p:nvPr/>
          </p:nvSpPr>
          <p:spPr>
            <a:xfrm>
              <a:off x="7859268" y="4254500"/>
              <a:ext cx="1202905" cy="322707"/>
            </a:xfrm>
            <a:prstGeom prst="rect">
              <a:avLst/>
            </a:prstGeom>
            <a:noFill/>
            <a:ln>
              <a:noFill/>
            </a:ln>
          </p:spPr>
          <p:txBody>
            <a:bodyPr wrap="none" lIns="0" tIns="0" rIns="0" bIns="0" anchor="t" anchorCtr="0">
              <a:spAutoFit/>
            </a:bodyPr>
            <a:lstStyle/>
            <a:p>
              <a:pPr algn="l"/>
              <a:r>
                <a:rPr lang="vi-VN" sz="1650" b="1" dirty="0">
                  <a:solidFill>
                    <a:schemeClr val="dk1"/>
                  </a:solidFill>
                  <a:latin typeface="+mn-lt"/>
                  <a:ea typeface="+mn-ea"/>
                  <a:cs typeface="+mn-cs"/>
                </a:rPr>
                <a:t>Nghỉ 1 giây</a:t>
              </a:r>
            </a:p>
          </p:txBody>
        </p:sp>
        <p:sp>
          <p:nvSpPr>
            <p:cNvPr id="31" name="TextBox 31"/>
            <p:cNvSpPr txBox="1"/>
            <p:nvPr/>
          </p:nvSpPr>
          <p:spPr>
            <a:xfrm>
              <a:off x="7860792" y="4578350"/>
              <a:ext cx="3009798" cy="264033"/>
            </a:xfrm>
            <a:prstGeom prst="rect">
              <a:avLst/>
            </a:prstGeom>
            <a:noFill/>
            <a:ln>
              <a:noFill/>
            </a:ln>
          </p:spPr>
          <p:txBody>
            <a:bodyPr wrap="none" lIns="0" tIns="0" rIns="0" bIns="0" anchor="t" anchorCtr="0">
              <a:spAutoFit/>
            </a:bodyPr>
            <a:lstStyle/>
            <a:p>
              <a:pPr algn="l"/>
              <a:r>
                <a:rPr lang="vi-VN" sz="1350" dirty="0">
                  <a:solidFill>
                    <a:schemeClr val="accent5"/>
                  </a:solidFill>
                  <a:latin typeface="+mn-lt"/>
                  <a:ea typeface="+mn-ea"/>
                  <a:cs typeface="+mn-cs"/>
                </a:rPr>
                <a:t>Sau đó bắt đầu vòng lặp tiếp theo.</a:t>
              </a:r>
            </a:p>
          </p:txBody>
        </p:sp>
        <p:sp>
          <p:nvSpPr>
            <p:cNvPr id="32" name="Rectangle 32"/>
            <p:cNvSpPr/>
            <p:nvPr/>
          </p:nvSpPr>
          <p:spPr>
            <a:xfrm>
              <a:off x="7048500" y="5143500"/>
              <a:ext cx="4457700" cy="685800"/>
            </a:xfrm>
            <a:prstGeom prst="roundRect">
              <a:avLst>
                <a:gd name="adj" fmla="val 8333"/>
              </a:avLst>
            </a:prstGeom>
            <a:solidFill>
              <a:schemeClr val="lt2"/>
            </a:solidFill>
            <a:ln>
              <a:noFill/>
            </a:ln>
          </p:spPr>
        </p:sp>
        <p:sp>
          <p:nvSpPr>
            <p:cNvPr id="33" name="TextBox 33"/>
            <p:cNvSpPr txBox="1"/>
            <p:nvPr/>
          </p:nvSpPr>
          <p:spPr>
            <a:xfrm>
              <a:off x="7270242" y="5264150"/>
              <a:ext cx="2787781" cy="264033"/>
            </a:xfrm>
            <a:prstGeom prst="rect">
              <a:avLst/>
            </a:prstGeom>
            <a:noFill/>
            <a:ln>
              <a:noFill/>
            </a:ln>
          </p:spPr>
          <p:txBody>
            <a:bodyPr wrap="none" lIns="0" tIns="0" rIns="0" bIns="0" anchor="t" anchorCtr="0">
              <a:spAutoFit/>
            </a:bodyPr>
            <a:lstStyle/>
            <a:p>
              <a:pPr algn="l"/>
              <a:r>
                <a:rPr lang="vi-VN" sz="1350" b="1" dirty="0">
                  <a:solidFill>
                    <a:schemeClr val="accent1"/>
                  </a:solidFill>
                  <a:latin typeface="+mn-lt"/>
                  <a:ea typeface="+mn-ea"/>
                  <a:cs typeface="+mn-cs"/>
                </a:rPr>
                <a:t>Chu kỳ thực tế vượt quá 1 giây</a:t>
              </a:r>
            </a:p>
          </p:txBody>
        </p:sp>
        <p:sp>
          <p:nvSpPr>
            <p:cNvPr id="34" name="TextBox 34"/>
            <p:cNvSpPr txBox="1"/>
            <p:nvPr/>
          </p:nvSpPr>
          <p:spPr>
            <a:xfrm>
              <a:off x="7270623" y="5524500"/>
              <a:ext cx="2933670" cy="250317"/>
            </a:xfrm>
            <a:prstGeom prst="rect">
              <a:avLst/>
            </a:prstGeom>
            <a:noFill/>
            <a:ln>
              <a:noFill/>
            </a:ln>
          </p:spPr>
          <p:txBody>
            <a:bodyPr wrap="none" lIns="0" tIns="0" rIns="0" bIns="0" anchor="t" anchorCtr="0">
              <a:spAutoFit/>
            </a:bodyPr>
            <a:lstStyle/>
            <a:p>
              <a:pPr algn="l"/>
              <a:r>
                <a:rPr lang="vi-VN" sz="1280" dirty="0">
                  <a:solidFill>
                    <a:schemeClr val="dk1"/>
                  </a:solidFill>
                  <a:latin typeface="+mn-lt"/>
                  <a:ea typeface="+mn-ea"/>
                  <a:cs typeface="+mn-cs"/>
                </a:rPr>
                <a:t>do thời gian phản hồi hoặc timeout.</a:t>
              </a:r>
            </a:p>
          </p:txBody>
        </p:sp>
      </p:grpSp>
      <p:grpSp>
        <p:nvGrpSpPr>
          <p:cNvPr id="38" name="page-footer"/>
          <p:cNvGrpSpPr/>
          <p:nvPr/>
        </p:nvGrpSpPr>
        <p:grpSpPr>
          <a:xfrm>
            <a:off x="679704" y="6429375"/>
            <a:ext cx="10832592" cy="234696"/>
            <a:chOff x="679704" y="6429375"/>
            <a:chExt cx="10832592" cy="234696"/>
          </a:xfrm>
        </p:grpSpPr>
        <p:sp>
          <p:nvSpPr>
            <p:cNvPr id="36" name="TextBox 36"/>
            <p:cNvSpPr txBox="1"/>
            <p:nvPr/>
          </p:nvSpPr>
          <p:spPr>
            <a:xfrm>
              <a:off x="679704" y="6429375"/>
              <a:ext cx="4074566" cy="234696"/>
            </a:xfrm>
            <a:prstGeom prst="rect">
              <a:avLst/>
            </a:prstGeom>
            <a:noFill/>
            <a:ln>
              <a:noFill/>
            </a:ln>
          </p:spPr>
          <p:txBody>
            <a:bodyPr wrap="none" lIns="0" tIns="0" rIns="0" bIns="0" anchor="t" anchorCtr="0">
              <a:spAutoFit/>
            </a:bodyPr>
            <a:lstStyle/>
            <a:p>
              <a:pPr algn="l"/>
              <a:r>
                <a:rPr lang="vi-VN" sz="1200" dirty="0">
                  <a:solidFill>
                    <a:schemeClr val="accent5"/>
                  </a:solidFill>
                  <a:latin typeface="+mn-lt"/>
                  <a:ea typeface="+mn-ea"/>
                  <a:cs typeface="+mn-cs"/>
                </a:rPr>
                <a:t>THU THẬP · MỖI QUERY TỐN THÊM THỜI GIAN ĐÁP ỨNG</a:t>
              </a:r>
            </a:p>
          </p:txBody>
        </p:sp>
        <p:sp>
          <p:nvSpPr>
            <p:cNvPr id="37" name="TextBox 37"/>
            <p:cNvSpPr txBox="1"/>
            <p:nvPr/>
          </p:nvSpPr>
          <p:spPr>
            <a:xfrm>
              <a:off x="10958932" y="6429375"/>
              <a:ext cx="553364" cy="234696"/>
            </a:xfrm>
            <a:prstGeom prst="rect">
              <a:avLst/>
            </a:prstGeom>
            <a:noFill/>
            <a:ln>
              <a:noFill/>
            </a:ln>
          </p:spPr>
          <p:txBody>
            <a:bodyPr wrap="none" lIns="0" tIns="0" rIns="0" bIns="0" anchor="t" anchorCtr="0">
              <a:spAutoFit/>
            </a:bodyPr>
            <a:lstStyle/>
            <a:p>
              <a:pPr algn="r"/>
              <a:r>
                <a:rPr lang="vi-VN" sz="1200" dirty="0">
                  <a:solidFill>
                    <a:schemeClr val="accent5"/>
                  </a:solidFill>
                  <a:latin typeface="+mn-lt"/>
                  <a:ea typeface="+mn-ea"/>
                  <a:cs typeface="+mn-cs"/>
                </a:rPr>
                <a:t>17 / 25</a:t>
              </a:r>
            </a:p>
          </p:txBody>
        </p:sp>
      </p:grpSp>
    </p:spTree>
  </p:cSld>
  <p:clrMapOvr>
    <a:masterClrMapping/>
  </p:clrMapOvr>
  <p:transition xmlns:p14="http://schemas.microsoft.com/office/powerpoint/2010/main" p14:dur="400">
    <p:fade/>
  </p:transition>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page-title"/>
          <p:cNvGrpSpPr/>
          <p:nvPr/>
        </p:nvGrpSpPr>
        <p:grpSpPr>
          <a:xfrm>
            <a:off x="669798" y="520700"/>
            <a:ext cx="10836402" cy="955675"/>
            <a:chOff x="669798" y="520700"/>
            <a:chExt cx="10836402" cy="955675"/>
          </a:xfrm>
        </p:grpSpPr>
        <p:sp>
          <p:nvSpPr>
            <p:cNvPr id="2" name="TextBox 2"/>
            <p:cNvSpPr txBox="1"/>
            <p:nvPr/>
          </p:nvSpPr>
          <p:spPr>
            <a:xfrm>
              <a:off x="678942" y="520700"/>
              <a:ext cx="2040049" cy="264033"/>
            </a:xfrm>
            <a:prstGeom prst="rect">
              <a:avLst/>
            </a:prstGeom>
            <a:noFill/>
            <a:ln>
              <a:noFill/>
            </a:ln>
          </p:spPr>
          <p:txBody>
            <a:bodyPr wrap="none" lIns="0" tIns="0" rIns="0" bIns="0" anchor="t" anchorCtr="0">
              <a:spAutoFit/>
            </a:bodyPr>
            <a:lstStyle/>
            <a:p>
              <a:pPr algn="l"/>
              <a:r>
                <a:rPr lang="vi-VN" sz="1350" b="1" dirty="0">
                  <a:solidFill>
                    <a:schemeClr val="accent3"/>
                  </a:solidFill>
                  <a:latin typeface="+mn-lt"/>
                  <a:ea typeface="+mn-ea"/>
                  <a:cs typeface="+mn-cs"/>
                </a:rPr>
                <a:t>04 · THU THẬP DỮ LIỆU</a:t>
              </a:r>
            </a:p>
          </p:txBody>
        </p:sp>
        <p:sp>
          <p:nvSpPr>
            <p:cNvPr id="3" name="TextBox 3"/>
            <p:cNvSpPr txBox="1"/>
            <p:nvPr/>
          </p:nvSpPr>
          <p:spPr>
            <a:xfrm>
              <a:off x="669798" y="838200"/>
              <a:ext cx="7071604" cy="616077"/>
            </a:xfrm>
            <a:prstGeom prst="rect">
              <a:avLst/>
            </a:prstGeom>
            <a:noFill/>
            <a:ln>
              <a:noFill/>
            </a:ln>
          </p:spPr>
          <p:txBody>
            <a:bodyPr wrap="none" lIns="0" tIns="0" rIns="0" bIns="0" anchor="t" anchorCtr="0">
              <a:spAutoFit/>
            </a:bodyPr>
            <a:lstStyle/>
            <a:p>
              <a:pPr algn="l"/>
              <a:r>
                <a:rPr lang="vi-VN" sz="3150" b="1" dirty="0">
                  <a:solidFill>
                    <a:schemeClr val="accent1"/>
                  </a:solidFill>
                  <a:latin typeface="+mn-lt"/>
                  <a:ea typeface="+mn-ea"/>
                  <a:cs typeface="+mn-cs"/>
                </a:rPr>
                <a:t>Bước 11 — Lưu kết quả đo vào CSV</a:t>
              </a:r>
            </a:p>
          </p:txBody>
        </p:sp>
        <p:sp>
          <p:nvSpPr>
            <p:cNvPr id="4" name="Line 4"/>
            <p:cNvSpPr/>
            <p:nvPr/>
          </p:nvSpPr>
          <p:spPr>
            <a:xfrm>
              <a:off x="685800" y="1466850"/>
              <a:ext cx="10820400" cy="9525"/>
            </a:xfrm>
            <a:custGeom>
              <a:avLst/>
              <a:gdLst/>
              <a:ahLst/>
              <a:cxnLst/>
              <a:rect l="l" t="t" r="r" b="b"/>
              <a:pathLst>
                <a:path w="10820400" h="9525">
                  <a:moveTo>
                    <a:pt x="0" y="0"/>
                  </a:moveTo>
                  <a:lnTo>
                    <a:pt x="10820400" y="0"/>
                  </a:lnTo>
                </a:path>
              </a:pathLst>
            </a:custGeom>
            <a:noFill/>
            <a:ln w="14288">
              <a:solidFill>
                <a:schemeClr val="accent6"/>
              </a:solidFill>
            </a:ln>
          </p:spPr>
        </p:sp>
      </p:grpSp>
      <p:grpSp>
        <p:nvGrpSpPr>
          <p:cNvPr id="20" name="csv-writer-code"/>
          <p:cNvGrpSpPr/>
          <p:nvPr/>
        </p:nvGrpSpPr>
        <p:grpSpPr>
          <a:xfrm>
            <a:off x="678942" y="1930400"/>
            <a:ext cx="5912358" cy="4051300"/>
            <a:chOff x="678942" y="1930400"/>
            <a:chExt cx="5912358" cy="4051300"/>
          </a:xfrm>
        </p:grpSpPr>
        <p:sp>
          <p:nvSpPr>
            <p:cNvPr id="6" name="TextBox 6"/>
            <p:cNvSpPr txBox="1"/>
            <p:nvPr/>
          </p:nvSpPr>
          <p:spPr>
            <a:xfrm>
              <a:off x="678942" y="1930400"/>
              <a:ext cx="4056301" cy="264033"/>
            </a:xfrm>
            <a:prstGeom prst="rect">
              <a:avLst/>
            </a:prstGeom>
            <a:noFill/>
            <a:ln>
              <a:noFill/>
            </a:ln>
          </p:spPr>
          <p:txBody>
            <a:bodyPr wrap="none" lIns="0" tIns="0" rIns="0" bIns="0" anchor="t" anchorCtr="0">
              <a:spAutoFit/>
            </a:bodyPr>
            <a:lstStyle/>
            <a:p>
              <a:pPr algn="l"/>
              <a:r>
                <a:rPr lang="vi-VN" sz="1350" b="1" dirty="0">
                  <a:solidFill>
                    <a:schemeClr val="accent5"/>
                  </a:solidFill>
                  <a:latin typeface="+mn-lt"/>
                  <a:ea typeface="+mn-ea"/>
                  <a:cs typeface="+mn-cs"/>
                </a:rPr>
                <a:t>GHI HEADER MỘT LẦN · THÊM BẢN GHI HỢP LỆ</a:t>
              </a:r>
            </a:p>
          </p:txBody>
        </p:sp>
        <p:sp>
          <p:nvSpPr>
            <p:cNvPr id="7" name="Rectangle 7"/>
            <p:cNvSpPr/>
            <p:nvPr/>
          </p:nvSpPr>
          <p:spPr>
            <a:xfrm>
              <a:off x="685800" y="2305050"/>
              <a:ext cx="5905500" cy="3676650"/>
            </a:xfrm>
            <a:prstGeom prst="roundRect">
              <a:avLst>
                <a:gd name="adj" fmla="val 1554"/>
              </a:avLst>
            </a:prstGeom>
            <a:solidFill>
              <a:schemeClr val="lt2"/>
            </a:solidFill>
            <a:ln>
              <a:noFill/>
            </a:ln>
          </p:spPr>
        </p:sp>
        <p:sp>
          <p:nvSpPr>
            <p:cNvPr id="8" name="TextBox 8"/>
            <p:cNvSpPr txBox="1"/>
            <p:nvPr/>
          </p:nvSpPr>
          <p:spPr>
            <a:xfrm>
              <a:off x="908304" y="2489200"/>
              <a:ext cx="900684" cy="234696"/>
            </a:xfrm>
            <a:prstGeom prst="rect">
              <a:avLst/>
            </a:prstGeom>
            <a:noFill/>
            <a:ln>
              <a:noFill/>
            </a:ln>
          </p:spPr>
          <p:txBody>
            <a:bodyPr wrap="none" lIns="0" tIns="0" rIns="0" bIns="0" anchor="t" anchorCtr="0">
              <a:spAutoFit/>
            </a:bodyPr>
            <a:lstStyle/>
            <a:p>
              <a:pPr algn="l"/>
              <a:r>
                <a:rPr lang="vi-VN" sz="1200" dirty="0">
                  <a:solidFill>
                    <a:schemeClr val="accent1"/>
                  </a:solidFill>
                  <a:latin typeface="Consolas"/>
                  <a:ea typeface="Consolas"/>
                  <a:cs typeface="Consolas"/>
                </a:rPr>
                <a:t>import csv</a:t>
              </a:r>
            </a:p>
          </p:txBody>
        </p:sp>
        <p:sp>
          <p:nvSpPr>
            <p:cNvPr id="9" name="TextBox 9"/>
            <p:cNvSpPr txBox="1"/>
            <p:nvPr/>
          </p:nvSpPr>
          <p:spPr>
            <a:xfrm>
              <a:off x="908304" y="2774950"/>
              <a:ext cx="2588819" cy="234696"/>
            </a:xfrm>
            <a:prstGeom prst="rect">
              <a:avLst/>
            </a:prstGeom>
            <a:noFill/>
            <a:ln>
              <a:noFill/>
            </a:ln>
          </p:spPr>
          <p:txBody>
            <a:bodyPr wrap="none" lIns="0" tIns="0" rIns="0" bIns="0" anchor="t" anchorCtr="0">
              <a:spAutoFit/>
            </a:bodyPr>
            <a:lstStyle/>
            <a:p>
              <a:pPr algn="l"/>
              <a:r>
                <a:rPr lang="vi-VN" sz="1200" dirty="0">
                  <a:solidFill>
                    <a:schemeClr val="accent1"/>
                  </a:solidFill>
                  <a:latin typeface="Consolas"/>
                  <a:ea typeface="Consolas"/>
                  <a:cs typeface="Consolas"/>
                </a:rPr>
                <a:t>from datetime import datetime</a:t>
              </a:r>
            </a:p>
          </p:txBody>
        </p:sp>
        <p:sp>
          <p:nvSpPr>
            <p:cNvPr id="10" name="TextBox 10"/>
            <p:cNvSpPr txBox="1"/>
            <p:nvPr/>
          </p:nvSpPr>
          <p:spPr>
            <a:xfrm>
              <a:off x="908304" y="3117850"/>
              <a:ext cx="3921557" cy="234696"/>
            </a:xfrm>
            <a:prstGeom prst="rect">
              <a:avLst/>
            </a:prstGeom>
            <a:noFill/>
            <a:ln>
              <a:noFill/>
            </a:ln>
          </p:spPr>
          <p:txBody>
            <a:bodyPr wrap="none" lIns="0" tIns="0" rIns="0" bIns="0" anchor="t" anchorCtr="0">
              <a:spAutoFit/>
            </a:bodyPr>
            <a:lstStyle/>
            <a:p>
              <a:pPr algn="l"/>
              <a:r>
                <a:rPr lang="vi-VN" sz="1200" dirty="0">
                  <a:solidFill>
                    <a:schemeClr val="dk1"/>
                  </a:solidFill>
                  <a:latin typeface="Consolas"/>
                  <a:ea typeface="Consolas"/>
                  <a:cs typeface="Consolas"/>
                </a:rPr>
                <a:t>with open("ket_qua_do.csv", "w", newline="",</a:t>
              </a:r>
            </a:p>
          </p:txBody>
        </p:sp>
        <p:sp>
          <p:nvSpPr>
            <p:cNvPr id="11" name="TextBox 11"/>
            <p:cNvSpPr txBox="1"/>
            <p:nvPr/>
          </p:nvSpPr>
          <p:spPr>
            <a:xfrm>
              <a:off x="1670304" y="3384550"/>
              <a:ext cx="2677668" cy="234696"/>
            </a:xfrm>
            <a:prstGeom prst="rect">
              <a:avLst/>
            </a:prstGeom>
            <a:noFill/>
            <a:ln>
              <a:noFill/>
            </a:ln>
          </p:spPr>
          <p:txBody>
            <a:bodyPr wrap="none" lIns="0" tIns="0" rIns="0" bIns="0" anchor="t" anchorCtr="0">
              <a:spAutoFit/>
            </a:bodyPr>
            <a:lstStyle/>
            <a:p>
              <a:pPr algn="l"/>
              <a:r>
                <a:rPr lang="vi-VN" sz="1200" dirty="0">
                  <a:solidFill>
                    <a:schemeClr val="dk1"/>
                  </a:solidFill>
                  <a:latin typeface="Consolas"/>
                  <a:ea typeface="Consolas"/>
                  <a:cs typeface="Consolas"/>
                </a:rPr>
                <a:t>encoding="utf-8-sig") as file:</a:t>
              </a:r>
            </a:p>
          </p:txBody>
        </p:sp>
        <p:sp>
          <p:nvSpPr>
            <p:cNvPr id="12" name="TextBox 12"/>
            <p:cNvSpPr txBox="1"/>
            <p:nvPr/>
          </p:nvSpPr>
          <p:spPr>
            <a:xfrm>
              <a:off x="1289304" y="3670300"/>
              <a:ext cx="2233422" cy="234696"/>
            </a:xfrm>
            <a:prstGeom prst="rect">
              <a:avLst/>
            </a:prstGeom>
            <a:noFill/>
            <a:ln>
              <a:noFill/>
            </a:ln>
          </p:spPr>
          <p:txBody>
            <a:bodyPr wrap="none" lIns="0" tIns="0" rIns="0" bIns="0" anchor="t" anchorCtr="0">
              <a:spAutoFit/>
            </a:bodyPr>
            <a:lstStyle/>
            <a:p>
              <a:pPr algn="l"/>
              <a:r>
                <a:rPr lang="vi-VN" sz="1200" dirty="0">
                  <a:solidFill>
                    <a:schemeClr val="dk1"/>
                  </a:solidFill>
                  <a:latin typeface="Consolas"/>
                  <a:ea typeface="Consolas"/>
                  <a:cs typeface="Consolas"/>
                </a:rPr>
                <a:t>writer = csv.writer(file)</a:t>
              </a:r>
            </a:p>
          </p:txBody>
        </p:sp>
        <p:sp>
          <p:nvSpPr>
            <p:cNvPr id="13" name="TextBox 13"/>
            <p:cNvSpPr txBox="1"/>
            <p:nvPr/>
          </p:nvSpPr>
          <p:spPr>
            <a:xfrm>
              <a:off x="1289304" y="3956050"/>
              <a:ext cx="4543501" cy="234696"/>
            </a:xfrm>
            <a:prstGeom prst="rect">
              <a:avLst/>
            </a:prstGeom>
            <a:noFill/>
            <a:ln>
              <a:noFill/>
            </a:ln>
          </p:spPr>
          <p:txBody>
            <a:bodyPr wrap="none" lIns="0" tIns="0" rIns="0" bIns="0" anchor="t" anchorCtr="0">
              <a:spAutoFit/>
            </a:bodyPr>
            <a:lstStyle/>
            <a:p>
              <a:pPr algn="l"/>
              <a:r>
                <a:rPr lang="vi-VN" sz="1200" dirty="0">
                  <a:solidFill>
                    <a:schemeClr val="dk1"/>
                  </a:solidFill>
                  <a:latin typeface="Consolas"/>
                  <a:ea typeface="Consolas"/>
                  <a:cs typeface="Consolas"/>
                </a:rPr>
                <a:t>writer.writerow(["timestamp", "function", "value"])</a:t>
              </a:r>
            </a:p>
          </p:txBody>
        </p:sp>
        <p:sp>
          <p:nvSpPr>
            <p:cNvPr id="14" name="TextBox 14"/>
            <p:cNvSpPr txBox="1"/>
            <p:nvPr/>
          </p:nvSpPr>
          <p:spPr>
            <a:xfrm>
              <a:off x="1289304" y="4241800"/>
              <a:ext cx="1700327" cy="234696"/>
            </a:xfrm>
            <a:prstGeom prst="rect">
              <a:avLst/>
            </a:prstGeom>
            <a:noFill/>
            <a:ln>
              <a:noFill/>
            </a:ln>
          </p:spPr>
          <p:txBody>
            <a:bodyPr wrap="none" lIns="0" tIns="0" rIns="0" bIns="0" anchor="t" anchorCtr="0">
              <a:spAutoFit/>
            </a:bodyPr>
            <a:lstStyle/>
            <a:p>
              <a:pPr algn="l"/>
              <a:r>
                <a:rPr lang="vi-VN" sz="1200" dirty="0">
                  <a:solidFill>
                    <a:schemeClr val="dk1"/>
                  </a:solidFill>
                  <a:latin typeface="Consolas"/>
                  <a:ea typeface="Consolas"/>
                  <a:cs typeface="Consolas"/>
                </a:rPr>
                <a:t>for i in range(10):</a:t>
              </a:r>
            </a:p>
          </p:txBody>
        </p:sp>
        <p:sp>
          <p:nvSpPr>
            <p:cNvPr id="15" name="TextBox 15"/>
            <p:cNvSpPr txBox="1"/>
            <p:nvPr/>
          </p:nvSpPr>
          <p:spPr>
            <a:xfrm>
              <a:off x="1670304" y="4527550"/>
              <a:ext cx="3328240" cy="234696"/>
            </a:xfrm>
            <a:prstGeom prst="rect">
              <a:avLst/>
            </a:prstGeom>
            <a:noFill/>
            <a:ln>
              <a:noFill/>
            </a:ln>
          </p:spPr>
          <p:txBody>
            <a:bodyPr wrap="none" lIns="0" tIns="0" rIns="0" bIns="0" anchor="t" anchorCtr="0">
              <a:spAutoFit/>
            </a:bodyPr>
            <a:lstStyle/>
            <a:p>
              <a:pPr algn="l"/>
              <a:r>
                <a:rPr lang="vi-VN" sz="1200" dirty="0">
                  <a:solidFill>
                    <a:schemeClr val="dk1"/>
                  </a:solidFill>
                  <a:latin typeface="Consolas"/>
                  <a:ea typeface="Consolas"/>
                  <a:cs typeface="Consolas"/>
                </a:rPr>
                <a:t>value = send_command(device, "READ?")</a:t>
              </a:r>
            </a:p>
          </p:txBody>
        </p:sp>
        <p:sp>
          <p:nvSpPr>
            <p:cNvPr id="16" name="TextBox 16"/>
            <p:cNvSpPr txBox="1"/>
            <p:nvPr/>
          </p:nvSpPr>
          <p:spPr>
            <a:xfrm>
              <a:off x="1670304" y="4813300"/>
              <a:ext cx="3033065" cy="234696"/>
            </a:xfrm>
            <a:prstGeom prst="rect">
              <a:avLst/>
            </a:prstGeom>
            <a:noFill/>
            <a:ln>
              <a:noFill/>
            </a:ln>
          </p:spPr>
          <p:txBody>
            <a:bodyPr wrap="none" lIns="0" tIns="0" rIns="0" bIns="0" anchor="t" anchorCtr="0">
              <a:spAutoFit/>
            </a:bodyPr>
            <a:lstStyle/>
            <a:p>
              <a:pPr algn="l"/>
              <a:r>
                <a:rPr lang="vi-VN" sz="1200" dirty="0">
                  <a:solidFill>
                    <a:schemeClr val="dk1"/>
                  </a:solidFill>
                  <a:latin typeface="Consolas"/>
                  <a:ea typeface="Consolas"/>
                  <a:cs typeface="Consolas"/>
                </a:rPr>
                <a:t>stamp = datetime.now().isoformat()</a:t>
              </a:r>
            </a:p>
          </p:txBody>
        </p:sp>
        <p:sp>
          <p:nvSpPr>
            <p:cNvPr id="17" name="TextBox 17"/>
            <p:cNvSpPr txBox="1"/>
            <p:nvPr/>
          </p:nvSpPr>
          <p:spPr>
            <a:xfrm>
              <a:off x="1670304" y="5099050"/>
              <a:ext cx="811835" cy="234696"/>
            </a:xfrm>
            <a:prstGeom prst="rect">
              <a:avLst/>
            </a:prstGeom>
            <a:noFill/>
            <a:ln>
              <a:noFill/>
            </a:ln>
          </p:spPr>
          <p:txBody>
            <a:bodyPr wrap="none" lIns="0" tIns="0" rIns="0" bIns="0" anchor="t" anchorCtr="0">
              <a:spAutoFit/>
            </a:bodyPr>
            <a:lstStyle/>
            <a:p>
              <a:pPr algn="l"/>
              <a:r>
                <a:rPr lang="vi-VN" sz="1200" dirty="0">
                  <a:solidFill>
                    <a:schemeClr val="accent2"/>
                  </a:solidFill>
                  <a:latin typeface="Consolas"/>
                  <a:ea typeface="Consolas"/>
                  <a:cs typeface="Consolas"/>
                </a:rPr>
                <a:t>if value:</a:t>
              </a:r>
            </a:p>
          </p:txBody>
        </p:sp>
        <p:sp>
          <p:nvSpPr>
            <p:cNvPr id="18" name="TextBox 18"/>
            <p:cNvSpPr txBox="1"/>
            <p:nvPr/>
          </p:nvSpPr>
          <p:spPr>
            <a:xfrm>
              <a:off x="2051304" y="5384800"/>
              <a:ext cx="3786104" cy="234696"/>
            </a:xfrm>
            <a:prstGeom prst="rect">
              <a:avLst/>
            </a:prstGeom>
            <a:noFill/>
            <a:ln>
              <a:noFill/>
            </a:ln>
          </p:spPr>
          <p:txBody>
            <a:bodyPr wrap="none" lIns="0" tIns="0" rIns="0" bIns="0" anchor="t" anchorCtr="0">
              <a:spAutoFit/>
            </a:bodyPr>
            <a:lstStyle/>
            <a:p>
              <a:pPr algn="l"/>
              <a:r>
                <a:rPr lang="vi-VN" sz="1200" dirty="0">
                  <a:solidFill>
                    <a:schemeClr val="dk1"/>
                  </a:solidFill>
                  <a:latin typeface="Consolas"/>
                  <a:ea typeface="Consolas"/>
                  <a:cs typeface="Consolas"/>
                </a:rPr>
                <a:t>writer.writerow([stamp, "VOLT:DC", value])</a:t>
              </a:r>
            </a:p>
          </p:txBody>
        </p:sp>
        <p:sp>
          <p:nvSpPr>
            <p:cNvPr id="19" name="TextBox 19"/>
            <p:cNvSpPr txBox="1"/>
            <p:nvPr/>
          </p:nvSpPr>
          <p:spPr>
            <a:xfrm>
              <a:off x="2051304" y="5670550"/>
              <a:ext cx="1078382" cy="234696"/>
            </a:xfrm>
            <a:prstGeom prst="rect">
              <a:avLst/>
            </a:prstGeom>
            <a:noFill/>
            <a:ln>
              <a:noFill/>
            </a:ln>
          </p:spPr>
          <p:txBody>
            <a:bodyPr wrap="none" lIns="0" tIns="0" rIns="0" bIns="0" anchor="t" anchorCtr="0">
              <a:spAutoFit/>
            </a:bodyPr>
            <a:lstStyle/>
            <a:p>
              <a:pPr algn="l"/>
              <a:r>
                <a:rPr lang="vi-VN" sz="1200" dirty="0">
                  <a:solidFill>
                    <a:schemeClr val="dk1"/>
                  </a:solidFill>
                  <a:latin typeface="Consolas"/>
                  <a:ea typeface="Consolas"/>
                  <a:cs typeface="Consolas"/>
                </a:rPr>
                <a:t>file.flush()</a:t>
              </a:r>
            </a:p>
          </p:txBody>
        </p:sp>
      </p:grpSp>
      <p:grpSp>
        <p:nvGrpSpPr>
          <p:cNvPr id="37" name="csv-record-table"/>
          <p:cNvGrpSpPr/>
          <p:nvPr/>
        </p:nvGrpSpPr>
        <p:grpSpPr>
          <a:xfrm>
            <a:off x="7041642" y="1930400"/>
            <a:ext cx="4615711" cy="3866896"/>
            <a:chOff x="7041642" y="1930400"/>
            <a:chExt cx="4615711" cy="3866896"/>
          </a:xfrm>
        </p:grpSpPr>
        <p:sp>
          <p:nvSpPr>
            <p:cNvPr id="21" name="TextBox 21"/>
            <p:cNvSpPr txBox="1"/>
            <p:nvPr/>
          </p:nvSpPr>
          <p:spPr>
            <a:xfrm>
              <a:off x="7041642" y="1930400"/>
              <a:ext cx="1636799" cy="264033"/>
            </a:xfrm>
            <a:prstGeom prst="rect">
              <a:avLst/>
            </a:prstGeom>
            <a:noFill/>
            <a:ln>
              <a:noFill/>
            </a:ln>
          </p:spPr>
          <p:txBody>
            <a:bodyPr wrap="none" lIns="0" tIns="0" rIns="0" bIns="0" anchor="t" anchorCtr="0">
              <a:spAutoFit/>
            </a:bodyPr>
            <a:lstStyle/>
            <a:p>
              <a:pPr algn="l"/>
              <a:r>
                <a:rPr lang="vi-VN" sz="1350" b="1" dirty="0">
                  <a:solidFill>
                    <a:schemeClr val="accent5"/>
                  </a:solidFill>
                  <a:latin typeface="+mn-lt"/>
                  <a:ea typeface="+mn-ea"/>
                  <a:cs typeface="+mn-cs"/>
                </a:rPr>
                <a:t>CẤU TRÚC TỆP CSV</a:t>
              </a:r>
            </a:p>
          </p:txBody>
        </p:sp>
        <p:sp>
          <p:nvSpPr>
            <p:cNvPr id="22" name="TextBox 22"/>
            <p:cNvSpPr txBox="1"/>
            <p:nvPr/>
          </p:nvSpPr>
          <p:spPr>
            <a:xfrm>
              <a:off x="7042404" y="2324100"/>
              <a:ext cx="603626" cy="234696"/>
            </a:xfrm>
            <a:prstGeom prst="rect">
              <a:avLst/>
            </a:prstGeom>
            <a:noFill/>
            <a:ln>
              <a:noFill/>
            </a:ln>
          </p:spPr>
          <p:txBody>
            <a:bodyPr wrap="none" lIns="0" tIns="0" rIns="0" bIns="0" anchor="t" anchorCtr="0">
              <a:spAutoFit/>
            </a:bodyPr>
            <a:lstStyle/>
            <a:p>
              <a:pPr algn="l"/>
              <a:r>
                <a:rPr lang="vi-VN" sz="1200" b="1" dirty="0">
                  <a:solidFill>
                    <a:schemeClr val="accent5"/>
                  </a:solidFill>
                  <a:latin typeface="+mn-lt"/>
                  <a:ea typeface="+mn-ea"/>
                  <a:cs typeface="+mn-cs"/>
                </a:rPr>
                <a:t>HEADER</a:t>
              </a:r>
            </a:p>
          </p:txBody>
        </p:sp>
        <p:grpSp>
          <p:nvGrpSpPr>
            <p:cNvPr id="31" name="csv-records"/>
            <p:cNvGrpSpPr/>
            <p:nvPr/>
          </p:nvGrpSpPr>
          <p:grpSpPr>
            <a:xfrm>
              <a:off x="7048500" y="2609850"/>
              <a:ext cx="4457700" cy="1238250"/>
              <a:chOff x="7048500" y="2609850"/>
              <a:chExt cx="4457700" cy="1238250"/>
            </a:xfrm>
          </p:grpSpPr>
          <p:sp>
            <p:nvSpPr>
              <p:cNvPr id="23" name="Rectangle 23"/>
              <p:cNvSpPr/>
              <p:nvPr/>
            </p:nvSpPr>
            <p:spPr>
              <a:xfrm>
                <a:off x="7048500" y="2609850"/>
                <a:ext cx="4457700" cy="514350"/>
              </a:xfrm>
              <a:prstGeom prst="rect">
                <a:avLst/>
              </a:prstGeom>
              <a:solidFill>
                <a:schemeClr val="accent1"/>
              </a:solidFill>
              <a:ln>
                <a:noFill/>
              </a:ln>
            </p:spPr>
          </p:sp>
          <p:sp>
            <p:nvSpPr>
              <p:cNvPr id="24" name="TextBox 24"/>
              <p:cNvSpPr txBox="1"/>
              <p:nvPr/>
            </p:nvSpPr>
            <p:spPr>
              <a:xfrm>
                <a:off x="7194804" y="2781300"/>
                <a:ext cx="877260" cy="234696"/>
              </a:xfrm>
              <a:prstGeom prst="rect">
                <a:avLst/>
              </a:prstGeom>
              <a:noFill/>
              <a:ln>
                <a:noFill/>
              </a:ln>
            </p:spPr>
            <p:txBody>
              <a:bodyPr wrap="none" lIns="0" tIns="0" rIns="0" bIns="0" anchor="t" anchorCtr="0">
                <a:spAutoFit/>
              </a:bodyPr>
              <a:lstStyle/>
              <a:p>
                <a:pPr algn="l"/>
                <a:r>
                  <a:rPr lang="vi-VN" sz="1200" b="1" dirty="0">
                    <a:solidFill>
                      <a:srgbClr val="FFFDF7"/>
                    </a:solidFill>
                    <a:latin typeface="+mn-lt"/>
                    <a:ea typeface="+mn-ea"/>
                    <a:cs typeface="+mn-cs"/>
                  </a:rPr>
                  <a:t>timestamp</a:t>
                </a:r>
              </a:p>
            </p:txBody>
          </p:sp>
          <p:sp>
            <p:nvSpPr>
              <p:cNvPr id="25" name="TextBox 25"/>
              <p:cNvSpPr txBox="1"/>
              <p:nvPr/>
            </p:nvSpPr>
            <p:spPr>
              <a:xfrm>
                <a:off x="8661654" y="2781300"/>
                <a:ext cx="716120" cy="234696"/>
              </a:xfrm>
              <a:prstGeom prst="rect">
                <a:avLst/>
              </a:prstGeom>
              <a:noFill/>
              <a:ln>
                <a:noFill/>
              </a:ln>
            </p:spPr>
            <p:txBody>
              <a:bodyPr wrap="none" lIns="0" tIns="0" rIns="0" bIns="0" anchor="t" anchorCtr="0">
                <a:spAutoFit/>
              </a:bodyPr>
              <a:lstStyle/>
              <a:p>
                <a:pPr algn="l"/>
                <a:r>
                  <a:rPr lang="vi-VN" sz="1200" b="1" dirty="0">
                    <a:solidFill>
                      <a:srgbClr val="FFFDF7"/>
                    </a:solidFill>
                    <a:latin typeface="+mn-lt"/>
                    <a:ea typeface="+mn-ea"/>
                    <a:cs typeface="+mn-cs"/>
                  </a:rPr>
                  <a:t>function</a:t>
                </a:r>
              </a:p>
            </p:txBody>
          </p:sp>
          <p:sp>
            <p:nvSpPr>
              <p:cNvPr id="26" name="TextBox 26"/>
              <p:cNvSpPr txBox="1"/>
              <p:nvPr/>
            </p:nvSpPr>
            <p:spPr>
              <a:xfrm>
                <a:off x="10185654" y="2781300"/>
                <a:ext cx="436245" cy="234696"/>
              </a:xfrm>
              <a:prstGeom prst="rect">
                <a:avLst/>
              </a:prstGeom>
              <a:noFill/>
              <a:ln>
                <a:noFill/>
              </a:ln>
            </p:spPr>
            <p:txBody>
              <a:bodyPr wrap="none" lIns="0" tIns="0" rIns="0" bIns="0" anchor="t" anchorCtr="0">
                <a:spAutoFit/>
              </a:bodyPr>
              <a:lstStyle/>
              <a:p>
                <a:pPr algn="l"/>
                <a:r>
                  <a:rPr lang="vi-VN" sz="1200" b="1" dirty="0">
                    <a:solidFill>
                      <a:srgbClr val="FFFDF7"/>
                    </a:solidFill>
                    <a:latin typeface="+mn-lt"/>
                    <a:ea typeface="+mn-ea"/>
                    <a:cs typeface="+mn-cs"/>
                  </a:rPr>
                  <a:t>value</a:t>
                </a:r>
              </a:p>
            </p:txBody>
          </p:sp>
          <p:sp>
            <p:nvSpPr>
              <p:cNvPr id="27" name="Rectangle 27"/>
              <p:cNvSpPr/>
              <p:nvPr/>
            </p:nvSpPr>
            <p:spPr>
              <a:xfrm>
                <a:off x="7048500" y="3143250"/>
                <a:ext cx="4457700" cy="704850"/>
              </a:xfrm>
              <a:prstGeom prst="rect">
                <a:avLst/>
              </a:prstGeom>
              <a:solidFill>
                <a:schemeClr val="lt2"/>
              </a:solidFill>
              <a:ln>
                <a:noFill/>
              </a:ln>
            </p:spPr>
          </p:sp>
          <p:sp>
            <p:nvSpPr>
              <p:cNvPr id="28" name="TextBox 28"/>
              <p:cNvSpPr txBox="1"/>
              <p:nvPr/>
            </p:nvSpPr>
            <p:spPr>
              <a:xfrm>
                <a:off x="7194804" y="3276600"/>
                <a:ext cx="1430066" cy="234696"/>
              </a:xfrm>
              <a:prstGeom prst="rect">
                <a:avLst/>
              </a:prstGeom>
              <a:noFill/>
              <a:ln>
                <a:noFill/>
              </a:ln>
            </p:spPr>
            <p:txBody>
              <a:bodyPr wrap="none" lIns="0" tIns="0" rIns="0" bIns="0" anchor="t" anchorCtr="0">
                <a:spAutoFit/>
              </a:bodyPr>
              <a:lstStyle/>
              <a:p>
                <a:pPr algn="l"/>
                <a:r>
                  <a:rPr lang="vi-VN" sz="1200" dirty="0">
                    <a:solidFill>
                      <a:schemeClr val="dk1"/>
                    </a:solidFill>
                    <a:latin typeface="+mn-lt"/>
                    <a:ea typeface="+mn-ea"/>
                    <a:cs typeface="+mn-cs"/>
                  </a:rPr>
                  <a:t>Thời gian ISO 8601</a:t>
                </a:r>
              </a:p>
            </p:txBody>
          </p:sp>
          <p:sp>
            <p:nvSpPr>
              <p:cNvPr id="29" name="TextBox 29"/>
              <p:cNvSpPr txBox="1"/>
              <p:nvPr/>
            </p:nvSpPr>
            <p:spPr>
              <a:xfrm>
                <a:off x="8661654" y="3276600"/>
                <a:ext cx="703478" cy="234696"/>
              </a:xfrm>
              <a:prstGeom prst="rect">
                <a:avLst/>
              </a:prstGeom>
              <a:noFill/>
              <a:ln>
                <a:noFill/>
              </a:ln>
            </p:spPr>
            <p:txBody>
              <a:bodyPr wrap="none" lIns="0" tIns="0" rIns="0" bIns="0" anchor="t" anchorCtr="0">
                <a:spAutoFit/>
              </a:bodyPr>
              <a:lstStyle/>
              <a:p>
                <a:pPr algn="l"/>
                <a:r>
                  <a:rPr lang="vi-VN" sz="1200" dirty="0">
                    <a:solidFill>
                      <a:schemeClr val="dk1"/>
                    </a:solidFill>
                    <a:latin typeface="+mn-lt"/>
                    <a:ea typeface="+mn-ea"/>
                    <a:cs typeface="+mn-cs"/>
                  </a:rPr>
                  <a:t>VOLT:DC</a:t>
                </a:r>
              </a:p>
            </p:txBody>
          </p:sp>
          <p:sp>
            <p:nvSpPr>
              <p:cNvPr id="30" name="TextBox 30"/>
              <p:cNvSpPr txBox="1"/>
              <p:nvPr/>
            </p:nvSpPr>
            <p:spPr>
              <a:xfrm>
                <a:off x="10185654" y="3276600"/>
                <a:ext cx="957224" cy="234696"/>
              </a:xfrm>
              <a:prstGeom prst="rect">
                <a:avLst/>
              </a:prstGeom>
              <a:noFill/>
              <a:ln>
                <a:noFill/>
              </a:ln>
            </p:spPr>
            <p:txBody>
              <a:bodyPr wrap="none" lIns="0" tIns="0" rIns="0" bIns="0" anchor="t" anchorCtr="0">
                <a:spAutoFit/>
              </a:bodyPr>
              <a:lstStyle/>
              <a:p>
                <a:pPr algn="l"/>
                <a:r>
                  <a:rPr lang="vi-VN" sz="1200" dirty="0">
                    <a:solidFill>
                      <a:schemeClr val="dk1"/>
                    </a:solidFill>
                    <a:latin typeface="+mn-lt"/>
                    <a:ea typeface="+mn-ea"/>
                    <a:cs typeface="+mn-cs"/>
                  </a:rPr>
                  <a:t>phản hồi gốc</a:t>
                </a:r>
              </a:p>
            </p:txBody>
          </p:sp>
        </p:grpSp>
        <p:sp>
          <p:nvSpPr>
            <p:cNvPr id="32" name="TextBox 32"/>
            <p:cNvSpPr txBox="1"/>
            <p:nvPr/>
          </p:nvSpPr>
          <p:spPr>
            <a:xfrm>
              <a:off x="7041642" y="4102100"/>
              <a:ext cx="1006000" cy="264033"/>
            </a:xfrm>
            <a:prstGeom prst="rect">
              <a:avLst/>
            </a:prstGeom>
            <a:noFill/>
            <a:ln>
              <a:noFill/>
            </a:ln>
          </p:spPr>
          <p:txBody>
            <a:bodyPr wrap="none" lIns="0" tIns="0" rIns="0" bIns="0" anchor="t" anchorCtr="0">
              <a:spAutoFit/>
            </a:bodyPr>
            <a:lstStyle/>
            <a:p>
              <a:pPr algn="l"/>
              <a:r>
                <a:rPr lang="vi-VN" sz="1350" b="1" dirty="0">
                  <a:solidFill>
                    <a:schemeClr val="accent1"/>
                  </a:solidFill>
                  <a:latin typeface="+mn-lt"/>
                  <a:ea typeface="+mn-ea"/>
                  <a:cs typeface="+mn-cs"/>
                </a:rPr>
                <a:t>newline=""</a:t>
              </a:r>
            </a:p>
          </p:txBody>
        </p:sp>
        <p:sp>
          <p:nvSpPr>
            <p:cNvPr id="33" name="TextBox 33"/>
            <p:cNvSpPr txBox="1"/>
            <p:nvPr/>
          </p:nvSpPr>
          <p:spPr>
            <a:xfrm>
              <a:off x="7042023" y="4381500"/>
              <a:ext cx="3362145" cy="250317"/>
            </a:xfrm>
            <a:prstGeom prst="rect">
              <a:avLst/>
            </a:prstGeom>
            <a:noFill/>
            <a:ln>
              <a:noFill/>
            </a:ln>
          </p:spPr>
          <p:txBody>
            <a:bodyPr wrap="none" lIns="0" tIns="0" rIns="0" bIns="0" anchor="t" anchorCtr="0">
              <a:spAutoFit/>
            </a:bodyPr>
            <a:lstStyle/>
            <a:p>
              <a:pPr algn="l"/>
              <a:r>
                <a:rPr lang="vi-VN" sz="1280" dirty="0">
                  <a:solidFill>
                    <a:schemeClr val="dk1"/>
                  </a:solidFill>
                  <a:latin typeface="+mn-lt"/>
                  <a:ea typeface="+mn-ea"/>
                  <a:cs typeface="+mn-cs"/>
                </a:rPr>
                <a:t>Để csv.writer quản lý ký tự xuống dòng.</a:t>
              </a:r>
            </a:p>
          </p:txBody>
        </p:sp>
        <p:sp>
          <p:nvSpPr>
            <p:cNvPr id="34" name="TextBox 34"/>
            <p:cNvSpPr txBox="1"/>
            <p:nvPr/>
          </p:nvSpPr>
          <p:spPr>
            <a:xfrm>
              <a:off x="7041642" y="4787900"/>
              <a:ext cx="910588" cy="264033"/>
            </a:xfrm>
            <a:prstGeom prst="rect">
              <a:avLst/>
            </a:prstGeom>
            <a:noFill/>
            <a:ln>
              <a:noFill/>
            </a:ln>
          </p:spPr>
          <p:txBody>
            <a:bodyPr wrap="none" lIns="0" tIns="0" rIns="0" bIns="0" anchor="t" anchorCtr="0">
              <a:spAutoFit/>
            </a:bodyPr>
            <a:lstStyle/>
            <a:p>
              <a:pPr algn="l"/>
              <a:r>
                <a:rPr lang="vi-VN" sz="1350" b="1" dirty="0">
                  <a:solidFill>
                    <a:schemeClr val="accent1"/>
                  </a:solidFill>
                  <a:latin typeface="+mn-lt"/>
                  <a:ea typeface="+mn-ea"/>
                  <a:cs typeface="+mn-cs"/>
                </a:rPr>
                <a:t>utf-8-sig</a:t>
              </a:r>
            </a:p>
          </p:txBody>
        </p:sp>
        <p:sp>
          <p:nvSpPr>
            <p:cNvPr id="35" name="TextBox 35"/>
            <p:cNvSpPr txBox="1"/>
            <p:nvPr/>
          </p:nvSpPr>
          <p:spPr>
            <a:xfrm>
              <a:off x="7042023" y="5067300"/>
              <a:ext cx="4615330" cy="250317"/>
            </a:xfrm>
            <a:prstGeom prst="rect">
              <a:avLst/>
            </a:prstGeom>
            <a:noFill/>
            <a:ln>
              <a:noFill/>
            </a:ln>
          </p:spPr>
          <p:txBody>
            <a:bodyPr wrap="none" lIns="0" tIns="0" rIns="0" bIns="0" anchor="t" anchorCtr="0">
              <a:spAutoFit/>
            </a:bodyPr>
            <a:lstStyle/>
            <a:p>
              <a:pPr algn="l"/>
              <a:r>
                <a:rPr lang="vi-VN" sz="1280" dirty="0">
                  <a:solidFill>
                    <a:schemeClr val="dk1"/>
                  </a:solidFill>
                  <a:latin typeface="+mn-lt"/>
                  <a:ea typeface="+mn-ea"/>
                  <a:cs typeface="+mn-cs"/>
                </a:rPr>
                <a:t>Tương thích với cách mở CSV trong Excel trên Windows.</a:t>
              </a:r>
            </a:p>
          </p:txBody>
        </p:sp>
        <p:sp>
          <p:nvSpPr>
            <p:cNvPr id="36" name="TextBox 36"/>
            <p:cNvSpPr txBox="1"/>
            <p:nvPr/>
          </p:nvSpPr>
          <p:spPr>
            <a:xfrm>
              <a:off x="7042404" y="5562600"/>
              <a:ext cx="4056507" cy="234696"/>
            </a:xfrm>
            <a:prstGeom prst="rect">
              <a:avLst/>
            </a:prstGeom>
            <a:noFill/>
            <a:ln>
              <a:noFill/>
            </a:ln>
          </p:spPr>
          <p:txBody>
            <a:bodyPr wrap="none" lIns="0" tIns="0" rIns="0" bIns="0" anchor="t" anchorCtr="0">
              <a:spAutoFit/>
            </a:bodyPr>
            <a:lstStyle/>
            <a:p>
              <a:pPr algn="l"/>
              <a:r>
                <a:rPr lang="vi-VN" sz="1200" dirty="0">
                  <a:solidFill>
                    <a:schemeClr val="accent2"/>
                  </a:solidFill>
                  <a:latin typeface="+mn-lt"/>
                  <a:ea typeface="+mn-ea"/>
                  <a:cs typeface="+mn-cs"/>
                </a:rPr>
                <a:t>Bản ghi minh họa; không phải dữ liệu đo thực nghiệm.</a:t>
              </a:r>
            </a:p>
          </p:txBody>
        </p:sp>
      </p:grpSp>
      <p:grpSp>
        <p:nvGrpSpPr>
          <p:cNvPr id="40" name="page-footer"/>
          <p:cNvGrpSpPr/>
          <p:nvPr/>
        </p:nvGrpSpPr>
        <p:grpSpPr>
          <a:xfrm>
            <a:off x="679704" y="6429375"/>
            <a:ext cx="10832592" cy="234696"/>
            <a:chOff x="679704" y="6429375"/>
            <a:chExt cx="10832592" cy="234696"/>
          </a:xfrm>
        </p:grpSpPr>
        <p:sp>
          <p:nvSpPr>
            <p:cNvPr id="38" name="TextBox 38"/>
            <p:cNvSpPr txBox="1"/>
            <p:nvPr/>
          </p:nvSpPr>
          <p:spPr>
            <a:xfrm>
              <a:off x="679704" y="6429375"/>
              <a:ext cx="2862682" cy="234696"/>
            </a:xfrm>
            <a:prstGeom prst="rect">
              <a:avLst/>
            </a:prstGeom>
            <a:noFill/>
            <a:ln>
              <a:noFill/>
            </a:ln>
          </p:spPr>
          <p:txBody>
            <a:bodyPr wrap="none" lIns="0" tIns="0" rIns="0" bIns="0" anchor="t" anchorCtr="0">
              <a:spAutoFit/>
            </a:bodyPr>
            <a:lstStyle/>
            <a:p>
              <a:pPr algn="l"/>
              <a:r>
                <a:rPr lang="vi-VN" sz="1200" dirty="0">
                  <a:solidFill>
                    <a:schemeClr val="accent5"/>
                  </a:solidFill>
                  <a:latin typeface="+mn-lt"/>
                  <a:ea typeface="+mn-ea"/>
                  <a:cs typeface="+mn-cs"/>
                </a:rPr>
                <a:t>CSV · TIMESTAMP, FUNCTION, VALUE</a:t>
              </a:r>
            </a:p>
          </p:txBody>
        </p:sp>
        <p:sp>
          <p:nvSpPr>
            <p:cNvPr id="39" name="TextBox 39"/>
            <p:cNvSpPr txBox="1"/>
            <p:nvPr/>
          </p:nvSpPr>
          <p:spPr>
            <a:xfrm>
              <a:off x="10958932" y="6429375"/>
              <a:ext cx="553364" cy="234696"/>
            </a:xfrm>
            <a:prstGeom prst="rect">
              <a:avLst/>
            </a:prstGeom>
            <a:noFill/>
            <a:ln>
              <a:noFill/>
            </a:ln>
          </p:spPr>
          <p:txBody>
            <a:bodyPr wrap="none" lIns="0" tIns="0" rIns="0" bIns="0" anchor="t" anchorCtr="0">
              <a:spAutoFit/>
            </a:bodyPr>
            <a:lstStyle/>
            <a:p>
              <a:pPr algn="r"/>
              <a:r>
                <a:rPr lang="vi-VN" sz="1200" dirty="0">
                  <a:solidFill>
                    <a:schemeClr val="accent5"/>
                  </a:solidFill>
                  <a:latin typeface="+mn-lt"/>
                  <a:ea typeface="+mn-ea"/>
                  <a:cs typeface="+mn-cs"/>
                </a:rPr>
                <a:t>18 / 25</a:t>
              </a:r>
            </a:p>
          </p:txBody>
        </p:sp>
      </p:grpSp>
    </p:spTree>
  </p:cSld>
  <p:clrMapOvr>
    <a:masterClrMapping/>
  </p:clrMapOvr>
  <p:transition xmlns:p14="http://schemas.microsoft.com/office/powerpoint/2010/main" p14:dur="400">
    <p:fade/>
  </p:transition>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page-title"/>
          <p:cNvGrpSpPr/>
          <p:nvPr/>
        </p:nvGrpSpPr>
        <p:grpSpPr>
          <a:xfrm>
            <a:off x="669798" y="520700"/>
            <a:ext cx="10972433" cy="955675"/>
            <a:chOff x="669798" y="520700"/>
            <a:chExt cx="10972433" cy="955675"/>
          </a:xfrm>
        </p:grpSpPr>
        <p:sp>
          <p:nvSpPr>
            <p:cNvPr id="2" name="TextBox 2"/>
            <p:cNvSpPr txBox="1"/>
            <p:nvPr/>
          </p:nvSpPr>
          <p:spPr>
            <a:xfrm>
              <a:off x="678942" y="520700"/>
              <a:ext cx="1606555" cy="264033"/>
            </a:xfrm>
            <a:prstGeom prst="rect">
              <a:avLst/>
            </a:prstGeom>
            <a:noFill/>
            <a:ln>
              <a:noFill/>
            </a:ln>
          </p:spPr>
          <p:txBody>
            <a:bodyPr wrap="none" lIns="0" tIns="0" rIns="0" bIns="0" anchor="t" anchorCtr="0">
              <a:spAutoFit/>
            </a:bodyPr>
            <a:lstStyle/>
            <a:p>
              <a:pPr algn="l"/>
              <a:r>
                <a:rPr lang="vi-VN" sz="1350" b="1" dirty="0">
                  <a:solidFill>
                    <a:schemeClr val="accent3"/>
                  </a:solidFill>
                  <a:latin typeface="+mn-lt"/>
                  <a:ea typeface="+mn-ea"/>
                  <a:cs typeface="+mn-cs"/>
                </a:rPr>
                <a:t>05 · MATPLOTLIB</a:t>
              </a:r>
            </a:p>
          </p:txBody>
        </p:sp>
        <p:sp>
          <p:nvSpPr>
            <p:cNvPr id="3" name="TextBox 3"/>
            <p:cNvSpPr txBox="1"/>
            <p:nvPr/>
          </p:nvSpPr>
          <p:spPr>
            <a:xfrm>
              <a:off x="669798" y="838200"/>
              <a:ext cx="10972433" cy="616077"/>
            </a:xfrm>
            <a:prstGeom prst="rect">
              <a:avLst/>
            </a:prstGeom>
            <a:noFill/>
            <a:ln>
              <a:noFill/>
            </a:ln>
          </p:spPr>
          <p:txBody>
            <a:bodyPr wrap="none" lIns="0" tIns="0" rIns="0" bIns="0" anchor="t" anchorCtr="0">
              <a:spAutoFit/>
            </a:bodyPr>
            <a:lstStyle/>
            <a:p>
              <a:pPr algn="l"/>
              <a:r>
                <a:rPr lang="vi-VN" sz="3150" b="1" dirty="0">
                  <a:solidFill>
                    <a:schemeClr val="accent1"/>
                  </a:solidFill>
                  <a:latin typeface="+mn-lt"/>
                  <a:ea typeface="+mn-ea"/>
                  <a:cs typeface="+mn-cs"/>
                </a:rPr>
                <a:t>Matplotlib 1 — Trực quan hóa dữ liệu dạng danh sách</a:t>
              </a:r>
            </a:p>
          </p:txBody>
        </p:sp>
        <p:sp>
          <p:nvSpPr>
            <p:cNvPr id="4" name="Line 4"/>
            <p:cNvSpPr/>
            <p:nvPr/>
          </p:nvSpPr>
          <p:spPr>
            <a:xfrm>
              <a:off x="685800" y="1466850"/>
              <a:ext cx="10820400" cy="9525"/>
            </a:xfrm>
            <a:custGeom>
              <a:avLst/>
              <a:gdLst/>
              <a:ahLst/>
              <a:cxnLst/>
              <a:rect l="l" t="t" r="r" b="b"/>
              <a:pathLst>
                <a:path w="10820400" h="9525">
                  <a:moveTo>
                    <a:pt x="0" y="0"/>
                  </a:moveTo>
                  <a:lnTo>
                    <a:pt x="10820400" y="0"/>
                  </a:lnTo>
                </a:path>
              </a:pathLst>
            </a:custGeom>
            <a:noFill/>
            <a:ln w="14288">
              <a:solidFill>
                <a:schemeClr val="accent6"/>
              </a:solidFill>
            </a:ln>
          </p:spPr>
        </p:sp>
      </p:grpSp>
      <p:grpSp>
        <p:nvGrpSpPr>
          <p:cNvPr id="7" name="static-voltage-heading"/>
          <p:cNvGrpSpPr/>
          <p:nvPr/>
        </p:nvGrpSpPr>
        <p:grpSpPr>
          <a:xfrm>
            <a:off x="869442" y="1911350"/>
            <a:ext cx="4015976" cy="264033"/>
            <a:chOff x="869442" y="1911350"/>
            <a:chExt cx="4015976" cy="264033"/>
          </a:xfrm>
        </p:grpSpPr>
        <p:sp>
          <p:nvSpPr>
            <p:cNvPr id="6" name="TextBox 6"/>
            <p:cNvSpPr txBox="1"/>
            <p:nvPr/>
          </p:nvSpPr>
          <p:spPr>
            <a:xfrm>
              <a:off x="869442" y="1911350"/>
              <a:ext cx="4015976" cy="264033"/>
            </a:xfrm>
            <a:prstGeom prst="rect">
              <a:avLst/>
            </a:prstGeom>
            <a:noFill/>
            <a:ln>
              <a:noFill/>
            </a:ln>
          </p:spPr>
          <p:txBody>
            <a:bodyPr wrap="none" lIns="0" tIns="0" rIns="0" bIns="0" anchor="t" anchorCtr="0">
              <a:spAutoFit/>
            </a:bodyPr>
            <a:lstStyle/>
            <a:p>
              <a:pPr algn="l"/>
              <a:r>
                <a:rPr lang="vi-VN" sz="1350" b="1" dirty="0">
                  <a:solidFill>
                    <a:schemeClr val="accent5"/>
                  </a:solidFill>
                  <a:latin typeface="+mn-lt"/>
                  <a:ea typeface="+mn-ea"/>
                  <a:cs typeface="+mn-cs"/>
                </a:rPr>
                <a:t>ĐIỆN ÁP THEO THỜI GIAN · DỮ LIỆU MINH HỌA</a:t>
              </a:r>
            </a:p>
          </p:txBody>
        </p:sp>
      </p:grpSp>
      <p:grpSp>
        <p:nvGrpSpPr>
          <p:cNvPr id="36" name="static-voltage"/>
          <p:cNvGrpSpPr/>
          <p:nvPr/>
        </p:nvGrpSpPr>
        <p:grpSpPr>
          <a:xfrm>
            <a:off x="569066" y="2247900"/>
            <a:ext cx="6517534" cy="3409950"/>
            <a:chOff x="569066" y="2247900"/>
            <a:chExt cx="6517534" cy="3409950"/>
          </a:xfrm>
        </p:grpSpPr>
        <p:grpSp>
          <p:nvGrpSpPr>
            <p:cNvPr id="35" name="static-voltage-chartArea"/>
            <p:cNvGrpSpPr/>
            <p:nvPr/>
          </p:nvGrpSpPr>
          <p:grpSpPr>
            <a:xfrm>
              <a:off x="569066" y="2247900"/>
              <a:ext cx="6517534" cy="3409950"/>
              <a:chOff x="569066" y="2247900"/>
              <a:chExt cx="6517534" cy="3409950"/>
            </a:xfrm>
          </p:grpSpPr>
          <p:sp>
            <p:nvSpPr>
              <p:cNvPr id="8" name="Rectangle 8"/>
              <p:cNvSpPr/>
              <p:nvPr/>
            </p:nvSpPr>
            <p:spPr>
              <a:xfrm>
                <a:off x="876300" y="2247900"/>
                <a:ext cx="6210300" cy="3409950"/>
              </a:xfrm>
              <a:prstGeom prst="rect">
                <a:avLst/>
              </a:prstGeom>
              <a:solidFill>
                <a:srgbClr val="FFFDF7"/>
              </a:solidFill>
              <a:ln>
                <a:noFill/>
              </a:ln>
            </p:spPr>
          </p:sp>
          <p:sp>
            <p:nvSpPr>
              <p:cNvPr id="9" name="TextBox 9"/>
              <p:cNvSpPr txBox="1"/>
              <p:nvPr/>
            </p:nvSpPr>
            <p:spPr>
              <a:xfrm>
                <a:off x="1193673" y="2438400"/>
                <a:ext cx="787195" cy="250317"/>
              </a:xfrm>
              <a:prstGeom prst="rect">
                <a:avLst/>
              </a:prstGeom>
              <a:noFill/>
              <a:ln>
                <a:noFill/>
              </a:ln>
            </p:spPr>
            <p:txBody>
              <a:bodyPr wrap="none" lIns="0" tIns="0" rIns="0" bIns="0" anchor="t" anchorCtr="0">
                <a:spAutoFit/>
              </a:bodyPr>
              <a:lstStyle/>
              <a:p>
                <a:pPr algn="l"/>
                <a:r>
                  <a:rPr lang="vi-VN" sz="1280" b="1" dirty="0">
                    <a:solidFill>
                      <a:schemeClr val="accent1"/>
                    </a:solidFill>
                    <a:latin typeface="+mn-lt"/>
                    <a:ea typeface="+mn-ea"/>
                    <a:cs typeface="+mn-cs"/>
                  </a:rPr>
                  <a:t>VOLT:DC</a:t>
                </a:r>
              </a:p>
            </p:txBody>
          </p:sp>
          <p:sp>
            <p:nvSpPr>
              <p:cNvPr id="10" name="Line 10"/>
              <p:cNvSpPr/>
              <p:nvPr/>
            </p:nvSpPr>
            <p:spPr>
              <a:xfrm>
                <a:off x="1524000" y="2781300"/>
                <a:ext cx="5238750" cy="9525"/>
              </a:xfrm>
              <a:custGeom>
                <a:avLst/>
                <a:gdLst/>
                <a:ahLst/>
                <a:cxnLst/>
                <a:rect l="l" t="t" r="r" b="b"/>
                <a:pathLst>
                  <a:path w="5238750" h="9525">
                    <a:moveTo>
                      <a:pt x="0" y="0"/>
                    </a:moveTo>
                    <a:lnTo>
                      <a:pt x="5238750" y="0"/>
                    </a:lnTo>
                  </a:path>
                </a:pathLst>
              </a:custGeom>
              <a:noFill/>
              <a:ln w="14288">
                <a:solidFill>
                  <a:srgbClr val="E3DDD3"/>
                </a:solidFill>
              </a:ln>
            </p:spPr>
          </p:sp>
          <p:sp>
            <p:nvSpPr>
              <p:cNvPr id="11" name="Line 11"/>
              <p:cNvSpPr/>
              <p:nvPr/>
            </p:nvSpPr>
            <p:spPr>
              <a:xfrm>
                <a:off x="1524000" y="3495675"/>
                <a:ext cx="5238750" cy="9525"/>
              </a:xfrm>
              <a:custGeom>
                <a:avLst/>
                <a:gdLst/>
                <a:ahLst/>
                <a:cxnLst/>
                <a:rect l="l" t="t" r="r" b="b"/>
                <a:pathLst>
                  <a:path w="5238750" h="9525">
                    <a:moveTo>
                      <a:pt x="0" y="0"/>
                    </a:moveTo>
                    <a:lnTo>
                      <a:pt x="5238750" y="0"/>
                    </a:lnTo>
                  </a:path>
                </a:pathLst>
              </a:custGeom>
              <a:noFill/>
              <a:ln w="14288">
                <a:solidFill>
                  <a:srgbClr val="E3DDD3"/>
                </a:solidFill>
              </a:ln>
            </p:spPr>
          </p:sp>
          <p:sp>
            <p:nvSpPr>
              <p:cNvPr id="12" name="Line 12"/>
              <p:cNvSpPr/>
              <p:nvPr/>
            </p:nvSpPr>
            <p:spPr>
              <a:xfrm>
                <a:off x="1524000" y="4210050"/>
                <a:ext cx="5238750" cy="9525"/>
              </a:xfrm>
              <a:custGeom>
                <a:avLst/>
                <a:gdLst/>
                <a:ahLst/>
                <a:cxnLst/>
                <a:rect l="l" t="t" r="r" b="b"/>
                <a:pathLst>
                  <a:path w="5238750" h="9525">
                    <a:moveTo>
                      <a:pt x="0" y="0"/>
                    </a:moveTo>
                    <a:lnTo>
                      <a:pt x="5238750" y="0"/>
                    </a:lnTo>
                  </a:path>
                </a:pathLst>
              </a:custGeom>
              <a:noFill/>
              <a:ln w="14288">
                <a:solidFill>
                  <a:srgbClr val="E3DDD3"/>
                </a:solidFill>
              </a:ln>
            </p:spPr>
          </p:sp>
          <p:sp>
            <p:nvSpPr>
              <p:cNvPr id="13" name="Line 13"/>
              <p:cNvSpPr/>
              <p:nvPr/>
            </p:nvSpPr>
            <p:spPr>
              <a:xfrm>
                <a:off x="1524000" y="4924425"/>
                <a:ext cx="5238750" cy="9525"/>
              </a:xfrm>
              <a:custGeom>
                <a:avLst/>
                <a:gdLst/>
                <a:ahLst/>
                <a:cxnLst/>
                <a:rect l="l" t="t" r="r" b="b"/>
                <a:pathLst>
                  <a:path w="5238750" h="9525">
                    <a:moveTo>
                      <a:pt x="0" y="0"/>
                    </a:moveTo>
                    <a:lnTo>
                      <a:pt x="5238750" y="0"/>
                    </a:lnTo>
                  </a:path>
                </a:pathLst>
              </a:custGeom>
              <a:noFill/>
              <a:ln w="14288">
                <a:solidFill>
                  <a:schemeClr val="accent6"/>
                </a:solidFill>
              </a:ln>
            </p:spPr>
          </p:sp>
          <p:sp>
            <p:nvSpPr>
              <p:cNvPr id="14" name="Line 14"/>
              <p:cNvSpPr/>
              <p:nvPr/>
            </p:nvSpPr>
            <p:spPr>
              <a:xfrm>
                <a:off x="1524000" y="2781300"/>
                <a:ext cx="9525" cy="2143125"/>
              </a:xfrm>
              <a:custGeom>
                <a:avLst/>
                <a:gdLst/>
                <a:ahLst/>
                <a:cxnLst/>
                <a:rect l="l" t="t" r="r" b="b"/>
                <a:pathLst>
                  <a:path w="9525" h="2143125">
                    <a:moveTo>
                      <a:pt x="0" y="0"/>
                    </a:moveTo>
                    <a:lnTo>
                      <a:pt x="0" y="2143125"/>
                    </a:lnTo>
                  </a:path>
                </a:pathLst>
              </a:custGeom>
              <a:noFill/>
              <a:ln w="19050">
                <a:solidFill>
                  <a:schemeClr val="accent1"/>
                </a:solidFill>
              </a:ln>
            </p:spPr>
          </p:sp>
          <p:sp>
            <p:nvSpPr>
              <p:cNvPr id="15" name="Line 15"/>
              <p:cNvSpPr/>
              <p:nvPr/>
            </p:nvSpPr>
            <p:spPr>
              <a:xfrm>
                <a:off x="1524000" y="4924425"/>
                <a:ext cx="5238750" cy="9525"/>
              </a:xfrm>
              <a:custGeom>
                <a:avLst/>
                <a:gdLst/>
                <a:ahLst/>
                <a:cxnLst/>
                <a:rect l="l" t="t" r="r" b="b"/>
                <a:pathLst>
                  <a:path w="5238750" h="9525">
                    <a:moveTo>
                      <a:pt x="0" y="0"/>
                    </a:moveTo>
                    <a:lnTo>
                      <a:pt x="5238750" y="0"/>
                    </a:lnTo>
                  </a:path>
                </a:pathLst>
              </a:custGeom>
              <a:noFill/>
              <a:ln w="19050">
                <a:solidFill>
                  <a:schemeClr val="accent1"/>
                </a:solidFill>
              </a:ln>
            </p:spPr>
          </p:sp>
          <p:sp>
            <p:nvSpPr>
              <p:cNvPr id="16" name="TextBox 16"/>
              <p:cNvSpPr txBox="1"/>
              <p:nvPr/>
            </p:nvSpPr>
            <p:spPr>
              <a:xfrm>
                <a:off x="1126632" y="4832350"/>
                <a:ext cx="260208" cy="220028"/>
              </a:xfrm>
              <a:prstGeom prst="rect">
                <a:avLst/>
              </a:prstGeom>
              <a:noFill/>
              <a:ln>
                <a:noFill/>
              </a:ln>
            </p:spPr>
            <p:txBody>
              <a:bodyPr wrap="none" lIns="0" tIns="0" rIns="0" bIns="0" anchor="t" anchorCtr="0">
                <a:spAutoFit/>
              </a:bodyPr>
              <a:lstStyle/>
              <a:p>
                <a:pPr algn="r"/>
                <a:r>
                  <a:rPr lang="vi-VN" sz="1120" dirty="0">
                    <a:solidFill>
                      <a:schemeClr val="accent5"/>
                    </a:solidFill>
                    <a:latin typeface="+mn-lt"/>
                    <a:ea typeface="+mn-ea"/>
                    <a:cs typeface="+mn-cs"/>
                  </a:rPr>
                  <a:t>0.0</a:t>
                </a:r>
              </a:p>
            </p:txBody>
          </p:sp>
          <p:sp>
            <p:nvSpPr>
              <p:cNvPr id="17" name="TextBox 17"/>
              <p:cNvSpPr txBox="1"/>
              <p:nvPr/>
            </p:nvSpPr>
            <p:spPr>
              <a:xfrm>
                <a:off x="1126632" y="4117975"/>
                <a:ext cx="260208" cy="220028"/>
              </a:xfrm>
              <a:prstGeom prst="rect">
                <a:avLst/>
              </a:prstGeom>
              <a:noFill/>
              <a:ln>
                <a:noFill/>
              </a:ln>
            </p:spPr>
            <p:txBody>
              <a:bodyPr wrap="none" lIns="0" tIns="0" rIns="0" bIns="0" anchor="t" anchorCtr="0">
                <a:spAutoFit/>
              </a:bodyPr>
              <a:lstStyle/>
              <a:p>
                <a:pPr algn="r"/>
                <a:r>
                  <a:rPr lang="vi-VN" sz="1120" dirty="0">
                    <a:solidFill>
                      <a:schemeClr val="accent5"/>
                    </a:solidFill>
                    <a:latin typeface="+mn-lt"/>
                    <a:ea typeface="+mn-ea"/>
                    <a:cs typeface="+mn-cs"/>
                  </a:rPr>
                  <a:t>0.2</a:t>
                </a:r>
              </a:p>
            </p:txBody>
          </p:sp>
          <p:sp>
            <p:nvSpPr>
              <p:cNvPr id="18" name="TextBox 18"/>
              <p:cNvSpPr txBox="1"/>
              <p:nvPr/>
            </p:nvSpPr>
            <p:spPr>
              <a:xfrm>
                <a:off x="1126632" y="3403600"/>
                <a:ext cx="260208" cy="220028"/>
              </a:xfrm>
              <a:prstGeom prst="rect">
                <a:avLst/>
              </a:prstGeom>
              <a:noFill/>
              <a:ln>
                <a:noFill/>
              </a:ln>
            </p:spPr>
            <p:txBody>
              <a:bodyPr wrap="none" lIns="0" tIns="0" rIns="0" bIns="0" anchor="t" anchorCtr="0">
                <a:spAutoFit/>
              </a:bodyPr>
              <a:lstStyle/>
              <a:p>
                <a:pPr algn="r"/>
                <a:r>
                  <a:rPr lang="vi-VN" sz="1120" dirty="0">
                    <a:solidFill>
                      <a:schemeClr val="accent5"/>
                    </a:solidFill>
                    <a:latin typeface="+mn-lt"/>
                    <a:ea typeface="+mn-ea"/>
                    <a:cs typeface="+mn-cs"/>
                  </a:rPr>
                  <a:t>0.4</a:t>
                </a:r>
              </a:p>
            </p:txBody>
          </p:sp>
          <p:sp>
            <p:nvSpPr>
              <p:cNvPr id="19" name="TextBox 19"/>
              <p:cNvSpPr txBox="1"/>
              <p:nvPr/>
            </p:nvSpPr>
            <p:spPr>
              <a:xfrm>
                <a:off x="1126632" y="2689225"/>
                <a:ext cx="260208" cy="220028"/>
              </a:xfrm>
              <a:prstGeom prst="rect">
                <a:avLst/>
              </a:prstGeom>
              <a:noFill/>
              <a:ln>
                <a:noFill/>
              </a:ln>
            </p:spPr>
            <p:txBody>
              <a:bodyPr wrap="none" lIns="0" tIns="0" rIns="0" bIns="0" anchor="t" anchorCtr="0">
                <a:spAutoFit/>
              </a:bodyPr>
              <a:lstStyle/>
              <a:p>
                <a:pPr algn="r"/>
                <a:r>
                  <a:rPr lang="vi-VN" sz="1120" dirty="0">
                    <a:solidFill>
                      <a:schemeClr val="accent5"/>
                    </a:solidFill>
                    <a:latin typeface="+mn-lt"/>
                    <a:ea typeface="+mn-ea"/>
                    <a:cs typeface="+mn-cs"/>
                  </a:rPr>
                  <a:t>0.6</a:t>
                </a:r>
              </a:p>
            </p:txBody>
          </p:sp>
          <p:sp>
            <p:nvSpPr>
              <p:cNvPr id="20" name="TextBox 20"/>
              <p:cNvSpPr txBox="1"/>
              <p:nvPr/>
            </p:nvSpPr>
            <p:spPr>
              <a:xfrm>
                <a:off x="2132142" y="5022850"/>
                <a:ext cx="94356" cy="220028"/>
              </a:xfrm>
              <a:prstGeom prst="rect">
                <a:avLst/>
              </a:prstGeom>
              <a:noFill/>
              <a:ln>
                <a:noFill/>
              </a:ln>
            </p:spPr>
            <p:txBody>
              <a:bodyPr wrap="none" lIns="0" tIns="0" rIns="0" bIns="0" anchor="t" anchorCtr="0">
                <a:spAutoFit/>
              </a:bodyPr>
              <a:lstStyle/>
              <a:p>
                <a:pPr algn="ctr"/>
                <a:r>
                  <a:rPr lang="vi-VN" sz="1120" dirty="0">
                    <a:solidFill>
                      <a:schemeClr val="accent5"/>
                    </a:solidFill>
                    <a:latin typeface="+mn-lt"/>
                    <a:ea typeface="+mn-ea"/>
                    <a:cs typeface="+mn-cs"/>
                  </a:rPr>
                  <a:t>0</a:t>
                </a:r>
              </a:p>
            </p:txBody>
          </p:sp>
          <p:sp>
            <p:nvSpPr>
              <p:cNvPr id="21" name="TextBox 21"/>
              <p:cNvSpPr txBox="1"/>
              <p:nvPr/>
            </p:nvSpPr>
            <p:spPr>
              <a:xfrm>
                <a:off x="3440877" y="5022850"/>
                <a:ext cx="94356" cy="220028"/>
              </a:xfrm>
              <a:prstGeom prst="rect">
                <a:avLst/>
              </a:prstGeom>
              <a:noFill/>
              <a:ln>
                <a:noFill/>
              </a:ln>
            </p:spPr>
            <p:txBody>
              <a:bodyPr wrap="none" lIns="0" tIns="0" rIns="0" bIns="0" anchor="t" anchorCtr="0">
                <a:spAutoFit/>
              </a:bodyPr>
              <a:lstStyle/>
              <a:p>
                <a:pPr algn="ctr"/>
                <a:r>
                  <a:rPr lang="vi-VN" sz="1120" dirty="0">
                    <a:solidFill>
                      <a:schemeClr val="accent5"/>
                    </a:solidFill>
                    <a:latin typeface="+mn-lt"/>
                    <a:ea typeface="+mn-ea"/>
                    <a:cs typeface="+mn-cs"/>
                  </a:rPr>
                  <a:t>1</a:t>
                </a:r>
              </a:p>
            </p:txBody>
          </p:sp>
          <p:sp>
            <p:nvSpPr>
              <p:cNvPr id="22" name="TextBox 22"/>
              <p:cNvSpPr txBox="1"/>
              <p:nvPr/>
            </p:nvSpPr>
            <p:spPr>
              <a:xfrm>
                <a:off x="4751517" y="5022850"/>
                <a:ext cx="94356" cy="220028"/>
              </a:xfrm>
              <a:prstGeom prst="rect">
                <a:avLst/>
              </a:prstGeom>
              <a:noFill/>
              <a:ln>
                <a:noFill/>
              </a:ln>
            </p:spPr>
            <p:txBody>
              <a:bodyPr wrap="none" lIns="0" tIns="0" rIns="0" bIns="0" anchor="t" anchorCtr="0">
                <a:spAutoFit/>
              </a:bodyPr>
              <a:lstStyle/>
              <a:p>
                <a:pPr algn="ctr"/>
                <a:r>
                  <a:rPr lang="vi-VN" sz="1120" dirty="0">
                    <a:solidFill>
                      <a:schemeClr val="accent5"/>
                    </a:solidFill>
                    <a:latin typeface="+mn-lt"/>
                    <a:ea typeface="+mn-ea"/>
                    <a:cs typeface="+mn-cs"/>
                  </a:rPr>
                  <a:t>2</a:t>
                </a:r>
              </a:p>
            </p:txBody>
          </p:sp>
          <p:sp>
            <p:nvSpPr>
              <p:cNvPr id="23" name="TextBox 23"/>
              <p:cNvSpPr txBox="1"/>
              <p:nvPr/>
            </p:nvSpPr>
            <p:spPr>
              <a:xfrm>
                <a:off x="6060252" y="5022850"/>
                <a:ext cx="94356" cy="220028"/>
              </a:xfrm>
              <a:prstGeom prst="rect">
                <a:avLst/>
              </a:prstGeom>
              <a:noFill/>
              <a:ln>
                <a:noFill/>
              </a:ln>
            </p:spPr>
            <p:txBody>
              <a:bodyPr wrap="none" lIns="0" tIns="0" rIns="0" bIns="0" anchor="t" anchorCtr="0">
                <a:spAutoFit/>
              </a:bodyPr>
              <a:lstStyle/>
              <a:p>
                <a:pPr algn="ctr"/>
                <a:r>
                  <a:rPr lang="vi-VN" sz="1120" dirty="0">
                    <a:solidFill>
                      <a:schemeClr val="accent5"/>
                    </a:solidFill>
                    <a:latin typeface="+mn-lt"/>
                    <a:ea typeface="+mn-ea"/>
                    <a:cs typeface="+mn-cs"/>
                  </a:rPr>
                  <a:t>3</a:t>
                </a:r>
              </a:p>
            </p:txBody>
          </p:sp>
          <p:sp>
            <p:nvSpPr>
              <p:cNvPr id="24" name="TextBox 24"/>
              <p:cNvSpPr txBox="1"/>
              <p:nvPr/>
            </p:nvSpPr>
            <p:spPr>
              <a:xfrm>
                <a:off x="3603701" y="5314950"/>
                <a:ext cx="1079348" cy="250317"/>
              </a:xfrm>
              <a:prstGeom prst="rect">
                <a:avLst/>
              </a:prstGeom>
              <a:noFill/>
              <a:ln>
                <a:noFill/>
              </a:ln>
            </p:spPr>
            <p:txBody>
              <a:bodyPr wrap="none" lIns="0" tIns="0" rIns="0" bIns="0" anchor="t" anchorCtr="0">
                <a:spAutoFit/>
              </a:bodyPr>
              <a:lstStyle/>
              <a:p>
                <a:pPr algn="ctr"/>
                <a:r>
                  <a:rPr lang="vi-VN" sz="1280" dirty="0">
                    <a:solidFill>
                      <a:schemeClr val="dk1"/>
                    </a:solidFill>
                    <a:latin typeface="+mn-lt"/>
                    <a:ea typeface="+mn-ea"/>
                    <a:cs typeface="+mn-cs"/>
                  </a:rPr>
                  <a:t>Thời gian (s)</a:t>
                </a:r>
              </a:p>
            </p:txBody>
          </p:sp>
          <p:sp>
            <p:nvSpPr>
              <p:cNvPr id="25" name="TextBox 25"/>
              <p:cNvSpPr txBox="1"/>
              <p:nvPr/>
            </p:nvSpPr>
            <p:spPr>
              <a:xfrm rot="-5400000">
                <a:off x="569066" y="3722942"/>
                <a:ext cx="940986" cy="250317"/>
              </a:xfrm>
              <a:prstGeom prst="rect">
                <a:avLst/>
              </a:prstGeom>
              <a:noFill/>
              <a:ln>
                <a:noFill/>
              </a:ln>
            </p:spPr>
            <p:txBody>
              <a:bodyPr wrap="none" lIns="0" tIns="0" rIns="0" bIns="0" anchor="t" anchorCtr="0">
                <a:spAutoFit/>
              </a:bodyPr>
              <a:lstStyle/>
              <a:p>
                <a:pPr algn="ctr"/>
                <a:r>
                  <a:rPr lang="vi-VN" sz="1280" dirty="0">
                    <a:solidFill>
                      <a:schemeClr val="dk1"/>
                    </a:solidFill>
                    <a:latin typeface="+mn-lt"/>
                    <a:ea typeface="+mn-ea"/>
                    <a:cs typeface="+mn-cs"/>
                  </a:rPr>
                  <a:t>Điện áp (V)</a:t>
                </a:r>
              </a:p>
            </p:txBody>
          </p:sp>
          <p:sp>
            <p:nvSpPr>
              <p:cNvPr id="26" name="Polyline 26"/>
              <p:cNvSpPr/>
              <p:nvPr/>
            </p:nvSpPr>
            <p:spPr>
              <a:xfrm>
                <a:off x="2179320" y="3067050"/>
                <a:ext cx="3928110" cy="1143000"/>
              </a:xfrm>
              <a:custGeom>
                <a:avLst/>
                <a:gdLst/>
                <a:ahLst/>
                <a:cxnLst/>
                <a:rect l="l" t="t" r="r" b="b"/>
                <a:pathLst>
                  <a:path w="3928110" h="1143000">
                    <a:moveTo>
                      <a:pt x="0" y="1143000"/>
                    </a:moveTo>
                    <a:lnTo>
                      <a:pt x="1308735" y="607695"/>
                    </a:lnTo>
                    <a:lnTo>
                      <a:pt x="2619375" y="750570"/>
                    </a:lnTo>
                    <a:lnTo>
                      <a:pt x="3928110" y="0"/>
                    </a:lnTo>
                  </a:path>
                </a:pathLst>
              </a:custGeom>
              <a:noFill/>
              <a:ln w="28575">
                <a:solidFill>
                  <a:schemeClr val="accent2"/>
                </a:solidFill>
              </a:ln>
            </p:spPr>
          </p:sp>
          <p:sp>
            <p:nvSpPr>
              <p:cNvPr id="27" name="Ellipse 27"/>
              <p:cNvSpPr/>
              <p:nvPr/>
            </p:nvSpPr>
            <p:spPr>
              <a:xfrm>
                <a:off x="2122170" y="4152900"/>
                <a:ext cx="114300" cy="114300"/>
              </a:xfrm>
              <a:prstGeom prst="ellipse">
                <a:avLst/>
              </a:prstGeom>
              <a:solidFill>
                <a:schemeClr val="accent2"/>
              </a:solidFill>
              <a:ln>
                <a:noFill/>
              </a:ln>
            </p:spPr>
          </p:sp>
          <p:sp>
            <p:nvSpPr>
              <p:cNvPr id="28" name="Ellipse 28"/>
              <p:cNvSpPr/>
              <p:nvPr/>
            </p:nvSpPr>
            <p:spPr>
              <a:xfrm>
                <a:off x="3430905" y="3617595"/>
                <a:ext cx="114300" cy="114300"/>
              </a:xfrm>
              <a:prstGeom prst="ellipse">
                <a:avLst/>
              </a:prstGeom>
              <a:solidFill>
                <a:schemeClr val="accent2"/>
              </a:solidFill>
              <a:ln>
                <a:noFill/>
              </a:ln>
            </p:spPr>
          </p:sp>
          <p:sp>
            <p:nvSpPr>
              <p:cNvPr id="29" name="Ellipse 29"/>
              <p:cNvSpPr/>
              <p:nvPr/>
            </p:nvSpPr>
            <p:spPr>
              <a:xfrm>
                <a:off x="4741545" y="3760470"/>
                <a:ext cx="114300" cy="114300"/>
              </a:xfrm>
              <a:prstGeom prst="ellipse">
                <a:avLst/>
              </a:prstGeom>
              <a:solidFill>
                <a:schemeClr val="accent2"/>
              </a:solidFill>
              <a:ln>
                <a:noFill/>
              </a:ln>
            </p:spPr>
          </p:sp>
          <p:sp>
            <p:nvSpPr>
              <p:cNvPr id="30" name="Ellipse 30"/>
              <p:cNvSpPr/>
              <p:nvPr/>
            </p:nvSpPr>
            <p:spPr>
              <a:xfrm>
                <a:off x="6050280" y="3009900"/>
                <a:ext cx="114300" cy="114300"/>
              </a:xfrm>
              <a:prstGeom prst="ellipse">
                <a:avLst/>
              </a:prstGeom>
              <a:solidFill>
                <a:schemeClr val="accent2"/>
              </a:solidFill>
              <a:ln>
                <a:noFill/>
              </a:ln>
            </p:spPr>
          </p:sp>
          <p:sp>
            <p:nvSpPr>
              <p:cNvPr id="31" name="TextBox 31"/>
              <p:cNvSpPr txBox="1"/>
              <p:nvPr/>
            </p:nvSpPr>
            <p:spPr>
              <a:xfrm>
                <a:off x="1999461" y="3917950"/>
                <a:ext cx="359719" cy="220028"/>
              </a:xfrm>
              <a:prstGeom prst="rect">
                <a:avLst/>
              </a:prstGeom>
              <a:noFill/>
              <a:ln>
                <a:noFill/>
              </a:ln>
            </p:spPr>
            <p:txBody>
              <a:bodyPr wrap="none" lIns="0" tIns="0" rIns="0" bIns="0" anchor="t" anchorCtr="0">
                <a:spAutoFit/>
              </a:bodyPr>
              <a:lstStyle/>
              <a:p>
                <a:pPr algn="ctr"/>
                <a:r>
                  <a:rPr lang="vi-VN" sz="1120" b="1" dirty="0">
                    <a:solidFill>
                      <a:schemeClr val="accent1"/>
                    </a:solidFill>
                    <a:latin typeface="+mn-lt"/>
                    <a:ea typeface="+mn-ea"/>
                    <a:cs typeface="+mn-cs"/>
                  </a:rPr>
                  <a:t>0.20</a:t>
                </a:r>
              </a:p>
            </p:txBody>
          </p:sp>
          <p:sp>
            <p:nvSpPr>
              <p:cNvPr id="32" name="TextBox 32"/>
              <p:cNvSpPr txBox="1"/>
              <p:nvPr/>
            </p:nvSpPr>
            <p:spPr>
              <a:xfrm>
                <a:off x="3308196" y="3384550"/>
                <a:ext cx="359719" cy="220028"/>
              </a:xfrm>
              <a:prstGeom prst="rect">
                <a:avLst/>
              </a:prstGeom>
              <a:noFill/>
              <a:ln>
                <a:noFill/>
              </a:ln>
            </p:spPr>
            <p:txBody>
              <a:bodyPr wrap="none" lIns="0" tIns="0" rIns="0" bIns="0" anchor="t" anchorCtr="0">
                <a:spAutoFit/>
              </a:bodyPr>
              <a:lstStyle/>
              <a:p>
                <a:pPr algn="ctr"/>
                <a:r>
                  <a:rPr lang="vi-VN" sz="1120" b="1" dirty="0">
                    <a:solidFill>
                      <a:schemeClr val="accent1"/>
                    </a:solidFill>
                    <a:latin typeface="+mn-lt"/>
                    <a:ea typeface="+mn-ea"/>
                    <a:cs typeface="+mn-cs"/>
                  </a:rPr>
                  <a:t>0.35</a:t>
                </a:r>
              </a:p>
            </p:txBody>
          </p:sp>
          <p:sp>
            <p:nvSpPr>
              <p:cNvPr id="33" name="TextBox 33"/>
              <p:cNvSpPr txBox="1"/>
              <p:nvPr/>
            </p:nvSpPr>
            <p:spPr>
              <a:xfrm>
                <a:off x="4618836" y="3527425"/>
                <a:ext cx="359719" cy="220028"/>
              </a:xfrm>
              <a:prstGeom prst="rect">
                <a:avLst/>
              </a:prstGeom>
              <a:noFill/>
              <a:ln>
                <a:noFill/>
              </a:ln>
            </p:spPr>
            <p:txBody>
              <a:bodyPr wrap="none" lIns="0" tIns="0" rIns="0" bIns="0" anchor="t" anchorCtr="0">
                <a:spAutoFit/>
              </a:bodyPr>
              <a:lstStyle/>
              <a:p>
                <a:pPr algn="ctr"/>
                <a:r>
                  <a:rPr lang="vi-VN" sz="1120" b="1" dirty="0">
                    <a:solidFill>
                      <a:schemeClr val="accent1"/>
                    </a:solidFill>
                    <a:latin typeface="+mn-lt"/>
                    <a:ea typeface="+mn-ea"/>
                    <a:cs typeface="+mn-cs"/>
                  </a:rPr>
                  <a:t>0.31</a:t>
                </a:r>
              </a:p>
            </p:txBody>
          </p:sp>
          <p:sp>
            <p:nvSpPr>
              <p:cNvPr id="34" name="TextBox 34"/>
              <p:cNvSpPr txBox="1"/>
              <p:nvPr/>
            </p:nvSpPr>
            <p:spPr>
              <a:xfrm>
                <a:off x="5927571" y="2774950"/>
                <a:ext cx="359719" cy="220028"/>
              </a:xfrm>
              <a:prstGeom prst="rect">
                <a:avLst/>
              </a:prstGeom>
              <a:noFill/>
              <a:ln>
                <a:noFill/>
              </a:ln>
            </p:spPr>
            <p:txBody>
              <a:bodyPr wrap="none" lIns="0" tIns="0" rIns="0" bIns="0" anchor="t" anchorCtr="0">
                <a:spAutoFit/>
              </a:bodyPr>
              <a:lstStyle/>
              <a:p>
                <a:pPr algn="ctr"/>
                <a:r>
                  <a:rPr lang="vi-VN" sz="1120" b="1" dirty="0">
                    <a:solidFill>
                      <a:schemeClr val="accent1"/>
                    </a:solidFill>
                    <a:latin typeface="+mn-lt"/>
                    <a:ea typeface="+mn-ea"/>
                    <a:cs typeface="+mn-cs"/>
                  </a:rPr>
                  <a:t>0.52</a:t>
                </a:r>
              </a:p>
            </p:txBody>
          </p:sp>
        </p:grpSp>
      </p:grpSp>
      <p:grpSp>
        <p:nvGrpSpPr>
          <p:cNvPr id="51" name="static-plot-code"/>
          <p:cNvGrpSpPr/>
          <p:nvPr/>
        </p:nvGrpSpPr>
        <p:grpSpPr>
          <a:xfrm>
            <a:off x="7575042" y="1911350"/>
            <a:ext cx="3931158" cy="4038346"/>
            <a:chOff x="7575042" y="1911350"/>
            <a:chExt cx="3931158" cy="4038346"/>
          </a:xfrm>
        </p:grpSpPr>
        <p:sp>
          <p:nvSpPr>
            <p:cNvPr id="37" name="TextBox 37"/>
            <p:cNvSpPr txBox="1"/>
            <p:nvPr/>
          </p:nvSpPr>
          <p:spPr>
            <a:xfrm>
              <a:off x="7575042" y="1911350"/>
              <a:ext cx="1935775" cy="264033"/>
            </a:xfrm>
            <a:prstGeom prst="rect">
              <a:avLst/>
            </a:prstGeom>
            <a:noFill/>
            <a:ln>
              <a:noFill/>
            </a:ln>
          </p:spPr>
          <p:txBody>
            <a:bodyPr wrap="none" lIns="0" tIns="0" rIns="0" bIns="0" anchor="t" anchorCtr="0">
              <a:spAutoFit/>
            </a:bodyPr>
            <a:lstStyle/>
            <a:p>
              <a:pPr algn="l"/>
              <a:r>
                <a:rPr lang="vi-VN" sz="1350" b="1" dirty="0">
                  <a:solidFill>
                    <a:schemeClr val="accent5"/>
                  </a:solidFill>
                  <a:latin typeface="+mn-lt"/>
                  <a:ea typeface="+mn-ea"/>
                  <a:cs typeface="+mn-cs"/>
                </a:rPr>
                <a:t>CODE · ve_do_thi.py</a:t>
              </a:r>
            </a:p>
          </p:txBody>
        </p:sp>
        <p:sp>
          <p:nvSpPr>
            <p:cNvPr id="38" name="Rectangle 38"/>
            <p:cNvSpPr/>
            <p:nvPr/>
          </p:nvSpPr>
          <p:spPr>
            <a:xfrm>
              <a:off x="7581900" y="2247900"/>
              <a:ext cx="3924300" cy="3314700"/>
            </a:xfrm>
            <a:prstGeom prst="roundRect">
              <a:avLst>
                <a:gd name="adj" fmla="val 1724"/>
              </a:avLst>
            </a:prstGeom>
            <a:solidFill>
              <a:schemeClr val="lt2"/>
            </a:solidFill>
            <a:ln>
              <a:noFill/>
            </a:ln>
          </p:spPr>
        </p:sp>
        <p:sp>
          <p:nvSpPr>
            <p:cNvPr id="39" name="TextBox 39"/>
            <p:cNvSpPr txBox="1"/>
            <p:nvPr/>
          </p:nvSpPr>
          <p:spPr>
            <a:xfrm>
              <a:off x="7766304" y="2451100"/>
              <a:ext cx="2766517" cy="234696"/>
            </a:xfrm>
            <a:prstGeom prst="rect">
              <a:avLst/>
            </a:prstGeom>
            <a:noFill/>
            <a:ln>
              <a:noFill/>
            </a:ln>
          </p:spPr>
          <p:txBody>
            <a:bodyPr wrap="none" lIns="0" tIns="0" rIns="0" bIns="0" anchor="t" anchorCtr="0">
              <a:spAutoFit/>
            </a:bodyPr>
            <a:lstStyle/>
            <a:p>
              <a:pPr algn="l"/>
              <a:r>
                <a:rPr lang="vi-VN" sz="1200" dirty="0">
                  <a:solidFill>
                    <a:schemeClr val="accent1"/>
                  </a:solidFill>
                  <a:latin typeface="Consolas"/>
                  <a:ea typeface="Consolas"/>
                  <a:cs typeface="Consolas"/>
                </a:rPr>
                <a:t>import matplotlib.pyplot as plt</a:t>
              </a:r>
            </a:p>
          </p:txBody>
        </p:sp>
        <p:sp>
          <p:nvSpPr>
            <p:cNvPr id="40" name="TextBox 40"/>
            <p:cNvSpPr txBox="1"/>
            <p:nvPr/>
          </p:nvSpPr>
          <p:spPr>
            <a:xfrm>
              <a:off x="7766304" y="2736850"/>
              <a:ext cx="1878025" cy="234696"/>
            </a:xfrm>
            <a:prstGeom prst="rect">
              <a:avLst/>
            </a:prstGeom>
            <a:noFill/>
            <a:ln>
              <a:noFill/>
            </a:ln>
          </p:spPr>
          <p:txBody>
            <a:bodyPr wrap="none" lIns="0" tIns="0" rIns="0" bIns="0" anchor="t" anchorCtr="0">
              <a:spAutoFit/>
            </a:bodyPr>
            <a:lstStyle/>
            <a:p>
              <a:pPr algn="l"/>
              <a:r>
                <a:rPr lang="vi-VN" sz="1200" dirty="0">
                  <a:solidFill>
                    <a:schemeClr val="dk1"/>
                  </a:solidFill>
                  <a:latin typeface="Consolas"/>
                  <a:ea typeface="Consolas"/>
                  <a:cs typeface="Consolas"/>
                </a:rPr>
                <a:t>time_s = [0, 1, 2, 3]</a:t>
              </a:r>
            </a:p>
          </p:txBody>
        </p:sp>
        <p:sp>
          <p:nvSpPr>
            <p:cNvPr id="41" name="TextBox 41"/>
            <p:cNvSpPr txBox="1"/>
            <p:nvPr/>
          </p:nvSpPr>
          <p:spPr>
            <a:xfrm>
              <a:off x="7766304" y="3022600"/>
              <a:ext cx="1966874" cy="234696"/>
            </a:xfrm>
            <a:prstGeom prst="rect">
              <a:avLst/>
            </a:prstGeom>
            <a:noFill/>
            <a:ln>
              <a:noFill/>
            </a:ln>
          </p:spPr>
          <p:txBody>
            <a:bodyPr wrap="none" lIns="0" tIns="0" rIns="0" bIns="0" anchor="t" anchorCtr="0">
              <a:spAutoFit/>
            </a:bodyPr>
            <a:lstStyle/>
            <a:p>
              <a:pPr algn="l"/>
              <a:r>
                <a:rPr lang="vi-VN" sz="1200" dirty="0">
                  <a:solidFill>
                    <a:schemeClr val="dk1"/>
                  </a:solidFill>
                  <a:latin typeface="Consolas"/>
                  <a:ea typeface="Consolas"/>
                  <a:cs typeface="Consolas"/>
                </a:rPr>
                <a:t>voltage = [0.20, 0.35,</a:t>
              </a:r>
            </a:p>
          </p:txBody>
        </p:sp>
        <p:sp>
          <p:nvSpPr>
            <p:cNvPr id="42" name="TextBox 42"/>
            <p:cNvSpPr txBox="1"/>
            <p:nvPr/>
          </p:nvSpPr>
          <p:spPr>
            <a:xfrm>
              <a:off x="8147304" y="3270250"/>
              <a:ext cx="989533" cy="234696"/>
            </a:xfrm>
            <a:prstGeom prst="rect">
              <a:avLst/>
            </a:prstGeom>
            <a:noFill/>
            <a:ln>
              <a:noFill/>
            </a:ln>
          </p:spPr>
          <p:txBody>
            <a:bodyPr wrap="none" lIns="0" tIns="0" rIns="0" bIns="0" anchor="t" anchorCtr="0">
              <a:spAutoFit/>
            </a:bodyPr>
            <a:lstStyle/>
            <a:p>
              <a:pPr algn="l"/>
              <a:r>
                <a:rPr lang="vi-VN" sz="1200" dirty="0">
                  <a:solidFill>
                    <a:schemeClr val="dk1"/>
                  </a:solidFill>
                  <a:latin typeface="Consolas"/>
                  <a:ea typeface="Consolas"/>
                  <a:cs typeface="Consolas"/>
                </a:rPr>
                <a:t>0.31, 0.52]</a:t>
              </a:r>
            </a:p>
          </p:txBody>
        </p:sp>
        <p:sp>
          <p:nvSpPr>
            <p:cNvPr id="43" name="TextBox 43"/>
            <p:cNvSpPr txBox="1"/>
            <p:nvPr/>
          </p:nvSpPr>
          <p:spPr>
            <a:xfrm>
              <a:off x="7766304" y="3575050"/>
              <a:ext cx="2144573" cy="234696"/>
            </a:xfrm>
            <a:prstGeom prst="rect">
              <a:avLst/>
            </a:prstGeom>
            <a:noFill/>
            <a:ln>
              <a:noFill/>
            </a:ln>
          </p:spPr>
          <p:txBody>
            <a:bodyPr wrap="none" lIns="0" tIns="0" rIns="0" bIns="0" anchor="t" anchorCtr="0">
              <a:spAutoFit/>
            </a:bodyPr>
            <a:lstStyle/>
            <a:p>
              <a:pPr algn="l"/>
              <a:r>
                <a:rPr lang="vi-VN" sz="1200" dirty="0">
                  <a:solidFill>
                    <a:schemeClr val="dk1"/>
                  </a:solidFill>
                  <a:latin typeface="Consolas"/>
                  <a:ea typeface="Consolas"/>
                  <a:cs typeface="Consolas"/>
                </a:rPr>
                <a:t>fig, ax = plt.subplots()</a:t>
              </a:r>
            </a:p>
          </p:txBody>
        </p:sp>
        <p:sp>
          <p:nvSpPr>
            <p:cNvPr id="44" name="TextBox 44"/>
            <p:cNvSpPr txBox="1"/>
            <p:nvPr/>
          </p:nvSpPr>
          <p:spPr>
            <a:xfrm>
              <a:off x="7766304" y="3860800"/>
              <a:ext cx="2144573" cy="234696"/>
            </a:xfrm>
            <a:prstGeom prst="rect">
              <a:avLst/>
            </a:prstGeom>
            <a:noFill/>
            <a:ln>
              <a:noFill/>
            </a:ln>
          </p:spPr>
          <p:txBody>
            <a:bodyPr wrap="none" lIns="0" tIns="0" rIns="0" bIns="0" anchor="t" anchorCtr="0">
              <a:spAutoFit/>
            </a:bodyPr>
            <a:lstStyle/>
            <a:p>
              <a:pPr algn="l"/>
              <a:r>
                <a:rPr lang="vi-VN" sz="1200" dirty="0">
                  <a:solidFill>
                    <a:schemeClr val="dk1"/>
                  </a:solidFill>
                  <a:latin typeface="Consolas"/>
                  <a:ea typeface="Consolas"/>
                  <a:cs typeface="Consolas"/>
                </a:rPr>
                <a:t>ax.plot(time_s, voltage,</a:t>
              </a:r>
            </a:p>
          </p:txBody>
        </p:sp>
        <p:sp>
          <p:nvSpPr>
            <p:cNvPr id="45" name="TextBox 45"/>
            <p:cNvSpPr txBox="1"/>
            <p:nvPr/>
          </p:nvSpPr>
          <p:spPr>
            <a:xfrm>
              <a:off x="8528304" y="4108450"/>
              <a:ext cx="2546909" cy="234696"/>
            </a:xfrm>
            <a:prstGeom prst="rect">
              <a:avLst/>
            </a:prstGeom>
            <a:noFill/>
            <a:ln>
              <a:noFill/>
            </a:ln>
          </p:spPr>
          <p:txBody>
            <a:bodyPr wrap="none" lIns="0" tIns="0" rIns="0" bIns="0" anchor="t" anchorCtr="0">
              <a:spAutoFit/>
            </a:bodyPr>
            <a:lstStyle/>
            <a:p>
              <a:pPr algn="l"/>
              <a:r>
                <a:rPr lang="vi-VN" sz="1200" dirty="0">
                  <a:solidFill>
                    <a:schemeClr val="dk1"/>
                  </a:solidFill>
                  <a:latin typeface="Consolas"/>
                  <a:ea typeface="Consolas"/>
                  <a:cs typeface="Consolas"/>
                </a:rPr>
                <a:t>marker="o", label="VOLT:DC")</a:t>
              </a:r>
            </a:p>
          </p:txBody>
        </p:sp>
        <p:sp>
          <p:nvSpPr>
            <p:cNvPr id="46" name="TextBox 46"/>
            <p:cNvSpPr txBox="1"/>
            <p:nvPr/>
          </p:nvSpPr>
          <p:spPr>
            <a:xfrm>
              <a:off x="7766304" y="4413250"/>
              <a:ext cx="2685212" cy="234696"/>
            </a:xfrm>
            <a:prstGeom prst="rect">
              <a:avLst/>
            </a:prstGeom>
            <a:noFill/>
            <a:ln>
              <a:noFill/>
            </a:ln>
          </p:spPr>
          <p:txBody>
            <a:bodyPr wrap="none" lIns="0" tIns="0" rIns="0" bIns="0" anchor="t" anchorCtr="0">
              <a:spAutoFit/>
            </a:bodyPr>
            <a:lstStyle/>
            <a:p>
              <a:pPr algn="l"/>
              <a:r>
                <a:rPr lang="vi-VN" sz="1200" dirty="0">
                  <a:solidFill>
                    <a:schemeClr val="dk1"/>
                  </a:solidFill>
                  <a:latin typeface="Consolas"/>
                  <a:ea typeface="Consolas"/>
                  <a:cs typeface="Consolas"/>
                </a:rPr>
                <a:t>ax.set(xlabel="Thời gian (s)",</a:t>
              </a:r>
            </a:p>
          </p:txBody>
        </p:sp>
        <p:sp>
          <p:nvSpPr>
            <p:cNvPr id="47" name="TextBox 47"/>
            <p:cNvSpPr txBox="1"/>
            <p:nvPr/>
          </p:nvSpPr>
          <p:spPr>
            <a:xfrm>
              <a:off x="8414004" y="4660900"/>
              <a:ext cx="1894273" cy="234696"/>
            </a:xfrm>
            <a:prstGeom prst="rect">
              <a:avLst/>
            </a:prstGeom>
            <a:noFill/>
            <a:ln>
              <a:noFill/>
            </a:ln>
          </p:spPr>
          <p:txBody>
            <a:bodyPr wrap="none" lIns="0" tIns="0" rIns="0" bIns="0" anchor="t" anchorCtr="0">
              <a:spAutoFit/>
            </a:bodyPr>
            <a:lstStyle/>
            <a:p>
              <a:pPr algn="l"/>
              <a:r>
                <a:rPr lang="vi-VN" sz="1200" dirty="0">
                  <a:solidFill>
                    <a:schemeClr val="dk1"/>
                  </a:solidFill>
                  <a:latin typeface="Consolas"/>
                  <a:ea typeface="Consolas"/>
                  <a:cs typeface="Consolas"/>
                </a:rPr>
                <a:t>ylabel="Điện áp (V)",</a:t>
              </a:r>
            </a:p>
          </p:txBody>
        </p:sp>
        <p:sp>
          <p:nvSpPr>
            <p:cNvPr id="48" name="TextBox 48"/>
            <p:cNvSpPr txBox="1"/>
            <p:nvPr/>
          </p:nvSpPr>
          <p:spPr>
            <a:xfrm>
              <a:off x="8414004" y="4908550"/>
              <a:ext cx="2240407" cy="234696"/>
            </a:xfrm>
            <a:prstGeom prst="rect">
              <a:avLst/>
            </a:prstGeom>
            <a:noFill/>
            <a:ln>
              <a:noFill/>
            </a:ln>
          </p:spPr>
          <p:txBody>
            <a:bodyPr wrap="none" lIns="0" tIns="0" rIns="0" bIns="0" anchor="t" anchorCtr="0">
              <a:spAutoFit/>
            </a:bodyPr>
            <a:lstStyle/>
            <a:p>
              <a:pPr algn="l"/>
              <a:r>
                <a:rPr lang="vi-VN" sz="1200" dirty="0">
                  <a:solidFill>
                    <a:schemeClr val="dk1"/>
                  </a:solidFill>
                  <a:latin typeface="Consolas"/>
                  <a:ea typeface="Consolas"/>
                  <a:cs typeface="Consolas"/>
                </a:rPr>
                <a:t>title="Dữ liệu minh họa")</a:t>
              </a:r>
            </a:p>
          </p:txBody>
        </p:sp>
        <p:sp>
          <p:nvSpPr>
            <p:cNvPr id="49" name="TextBox 49"/>
            <p:cNvSpPr txBox="1"/>
            <p:nvPr/>
          </p:nvSpPr>
          <p:spPr>
            <a:xfrm>
              <a:off x="7766304" y="5175250"/>
              <a:ext cx="3033065" cy="234696"/>
            </a:xfrm>
            <a:prstGeom prst="rect">
              <a:avLst/>
            </a:prstGeom>
            <a:noFill/>
            <a:ln>
              <a:noFill/>
            </a:ln>
          </p:spPr>
          <p:txBody>
            <a:bodyPr wrap="none" lIns="0" tIns="0" rIns="0" bIns="0" anchor="t" anchorCtr="0">
              <a:spAutoFit/>
            </a:bodyPr>
            <a:lstStyle/>
            <a:p>
              <a:pPr algn="l"/>
              <a:r>
                <a:rPr lang="vi-VN" sz="1200" dirty="0">
                  <a:solidFill>
                    <a:schemeClr val="dk1"/>
                  </a:solidFill>
                  <a:latin typeface="Consolas"/>
                  <a:ea typeface="Consolas"/>
                  <a:cs typeface="Consolas"/>
                </a:rPr>
                <a:t>ax.grid(); ax.legend(); plt.show()</a:t>
              </a:r>
            </a:p>
          </p:txBody>
        </p:sp>
        <p:sp>
          <p:nvSpPr>
            <p:cNvPr id="50" name="TextBox 50"/>
            <p:cNvSpPr txBox="1"/>
            <p:nvPr/>
          </p:nvSpPr>
          <p:spPr>
            <a:xfrm>
              <a:off x="7575804" y="5715000"/>
              <a:ext cx="2435513" cy="234696"/>
            </a:xfrm>
            <a:prstGeom prst="rect">
              <a:avLst/>
            </a:prstGeom>
            <a:noFill/>
            <a:ln>
              <a:noFill/>
            </a:ln>
          </p:spPr>
          <p:txBody>
            <a:bodyPr wrap="none" lIns="0" tIns="0" rIns="0" bIns="0" anchor="t" anchorCtr="0">
              <a:spAutoFit/>
            </a:bodyPr>
            <a:lstStyle/>
            <a:p>
              <a:pPr algn="l"/>
              <a:r>
                <a:rPr lang="vi-VN" sz="1200" b="1" dirty="0">
                  <a:solidFill>
                    <a:schemeClr val="accent2"/>
                  </a:solidFill>
                  <a:latin typeface="+mn-lt"/>
                  <a:ea typeface="+mn-ea"/>
                  <a:cs typeface="+mn-cs"/>
                </a:rPr>
                <a:t>Nhãn trục, đơn vị và chú giải.</a:t>
              </a:r>
            </a:p>
          </p:txBody>
        </p:sp>
      </p:grpSp>
      <p:grpSp>
        <p:nvGrpSpPr>
          <p:cNvPr id="54" name="page-footer"/>
          <p:cNvGrpSpPr/>
          <p:nvPr/>
        </p:nvGrpSpPr>
        <p:grpSpPr>
          <a:xfrm>
            <a:off x="679704" y="6429375"/>
            <a:ext cx="10832592" cy="234696"/>
            <a:chOff x="679704" y="6429375"/>
            <a:chExt cx="10832592" cy="234696"/>
          </a:xfrm>
        </p:grpSpPr>
        <p:sp>
          <p:nvSpPr>
            <p:cNvPr id="52" name="TextBox 52"/>
            <p:cNvSpPr txBox="1"/>
            <p:nvPr/>
          </p:nvSpPr>
          <p:spPr>
            <a:xfrm>
              <a:off x="679704" y="6429375"/>
              <a:ext cx="3332074" cy="234696"/>
            </a:xfrm>
            <a:prstGeom prst="rect">
              <a:avLst/>
            </a:prstGeom>
            <a:noFill/>
            <a:ln>
              <a:noFill/>
            </a:ln>
          </p:spPr>
          <p:txBody>
            <a:bodyPr wrap="none" lIns="0" tIns="0" rIns="0" bIns="0" anchor="t" anchorCtr="0">
              <a:spAutoFit/>
            </a:bodyPr>
            <a:lstStyle/>
            <a:p>
              <a:pPr algn="l"/>
              <a:r>
                <a:rPr lang="vi-VN" sz="1200" dirty="0">
                  <a:solidFill>
                    <a:schemeClr val="accent5"/>
                  </a:solidFill>
                  <a:latin typeface="+mn-lt"/>
                  <a:ea typeface="+mn-ea"/>
                  <a:cs typeface="+mn-cs"/>
                </a:rPr>
                <a:t>MATPLOTLIB · DANH SÁCH → BIỂU ĐỒ ĐƯỜNG</a:t>
              </a:r>
            </a:p>
          </p:txBody>
        </p:sp>
        <p:sp>
          <p:nvSpPr>
            <p:cNvPr id="53" name="TextBox 53"/>
            <p:cNvSpPr txBox="1"/>
            <p:nvPr/>
          </p:nvSpPr>
          <p:spPr>
            <a:xfrm>
              <a:off x="10958932" y="6429375"/>
              <a:ext cx="553364" cy="234696"/>
            </a:xfrm>
            <a:prstGeom prst="rect">
              <a:avLst/>
            </a:prstGeom>
            <a:noFill/>
            <a:ln>
              <a:noFill/>
            </a:ln>
          </p:spPr>
          <p:txBody>
            <a:bodyPr wrap="none" lIns="0" tIns="0" rIns="0" bIns="0" anchor="t" anchorCtr="0">
              <a:spAutoFit/>
            </a:bodyPr>
            <a:lstStyle/>
            <a:p>
              <a:pPr algn="r"/>
              <a:r>
                <a:rPr lang="vi-VN" sz="1200" dirty="0">
                  <a:solidFill>
                    <a:schemeClr val="accent5"/>
                  </a:solidFill>
                  <a:latin typeface="+mn-lt"/>
                  <a:ea typeface="+mn-ea"/>
                  <a:cs typeface="+mn-cs"/>
                </a:rPr>
                <a:t>19 / 25</a:t>
              </a:r>
            </a:p>
          </p:txBody>
        </p:sp>
      </p:grpSp>
    </p:spTree>
  </p:cSld>
  <p:clrMapOvr>
    <a:masterClrMapping/>
  </p:clrMapOvr>
  <p:transition xmlns:p14="http://schemas.microsoft.com/office/powerpoint/2010/main" p14:dur="400">
    <p:fade/>
  </p:transition>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page-title"/>
          <p:cNvGrpSpPr/>
          <p:nvPr/>
        </p:nvGrpSpPr>
        <p:grpSpPr>
          <a:xfrm>
            <a:off x="669798" y="520700"/>
            <a:ext cx="10836402" cy="955675"/>
            <a:chOff x="669798" y="520700"/>
            <a:chExt cx="10836402" cy="955675"/>
          </a:xfrm>
        </p:grpSpPr>
        <p:sp>
          <p:nvSpPr>
            <p:cNvPr id="2" name="TextBox 2"/>
            <p:cNvSpPr txBox="1"/>
            <p:nvPr/>
          </p:nvSpPr>
          <p:spPr>
            <a:xfrm>
              <a:off x="678942" y="520700"/>
              <a:ext cx="1606555" cy="264033"/>
            </a:xfrm>
            <a:prstGeom prst="rect">
              <a:avLst/>
            </a:prstGeom>
            <a:noFill/>
            <a:ln>
              <a:noFill/>
            </a:ln>
          </p:spPr>
          <p:txBody>
            <a:bodyPr wrap="none" lIns="0" tIns="0" rIns="0" bIns="0" anchor="t" anchorCtr="0">
              <a:spAutoFit/>
            </a:bodyPr>
            <a:lstStyle/>
            <a:p>
              <a:pPr algn="l"/>
              <a:r>
                <a:rPr lang="vi-VN" sz="1350" b="1" dirty="0">
                  <a:solidFill>
                    <a:schemeClr val="accent3"/>
                  </a:solidFill>
                  <a:latin typeface="+mn-lt"/>
                  <a:ea typeface="+mn-ea"/>
                  <a:cs typeface="+mn-cs"/>
                </a:rPr>
                <a:t>05 · MATPLOTLIB</a:t>
              </a:r>
            </a:p>
          </p:txBody>
        </p:sp>
        <p:sp>
          <p:nvSpPr>
            <p:cNvPr id="3" name="TextBox 3"/>
            <p:cNvSpPr txBox="1"/>
            <p:nvPr/>
          </p:nvSpPr>
          <p:spPr>
            <a:xfrm>
              <a:off x="669798" y="838200"/>
              <a:ext cx="8948498" cy="616077"/>
            </a:xfrm>
            <a:prstGeom prst="rect">
              <a:avLst/>
            </a:prstGeom>
            <a:noFill/>
            <a:ln>
              <a:noFill/>
            </a:ln>
          </p:spPr>
          <p:txBody>
            <a:bodyPr wrap="none" lIns="0" tIns="0" rIns="0" bIns="0" anchor="t" anchorCtr="0">
              <a:spAutoFit/>
            </a:bodyPr>
            <a:lstStyle/>
            <a:p>
              <a:pPr algn="l"/>
              <a:r>
                <a:rPr lang="vi-VN" sz="3150" b="1" dirty="0">
                  <a:solidFill>
                    <a:schemeClr val="accent1"/>
                  </a:solidFill>
                  <a:latin typeface="+mn-lt"/>
                  <a:ea typeface="+mn-ea"/>
                  <a:cs typeface="+mn-cs"/>
                </a:rPr>
                <a:t>Matplotlib 2 — Đọc và biểu diễn dữ liệu CSV</a:t>
              </a:r>
            </a:p>
          </p:txBody>
        </p:sp>
        <p:sp>
          <p:nvSpPr>
            <p:cNvPr id="4" name="Line 4"/>
            <p:cNvSpPr/>
            <p:nvPr/>
          </p:nvSpPr>
          <p:spPr>
            <a:xfrm>
              <a:off x="685800" y="1466850"/>
              <a:ext cx="10820400" cy="9525"/>
            </a:xfrm>
            <a:custGeom>
              <a:avLst/>
              <a:gdLst/>
              <a:ahLst/>
              <a:cxnLst/>
              <a:rect l="l" t="t" r="r" b="b"/>
              <a:pathLst>
                <a:path w="10820400" h="9525">
                  <a:moveTo>
                    <a:pt x="0" y="0"/>
                  </a:moveTo>
                  <a:lnTo>
                    <a:pt x="10820400" y="0"/>
                  </a:lnTo>
                </a:path>
              </a:pathLst>
            </a:custGeom>
            <a:noFill/>
            <a:ln w="14288">
              <a:solidFill>
                <a:schemeClr val="accent6"/>
              </a:solidFill>
            </a:ln>
          </p:spPr>
        </p:sp>
      </p:grpSp>
      <p:grpSp>
        <p:nvGrpSpPr>
          <p:cNvPr id="25" name="csv-plot-code"/>
          <p:cNvGrpSpPr/>
          <p:nvPr/>
        </p:nvGrpSpPr>
        <p:grpSpPr>
          <a:xfrm>
            <a:off x="678942" y="1930400"/>
            <a:ext cx="4636008" cy="4337050"/>
            <a:chOff x="678942" y="1930400"/>
            <a:chExt cx="4636008" cy="4337050"/>
          </a:xfrm>
        </p:grpSpPr>
        <p:sp>
          <p:nvSpPr>
            <p:cNvPr id="6" name="TextBox 6"/>
            <p:cNvSpPr txBox="1"/>
            <p:nvPr/>
          </p:nvSpPr>
          <p:spPr>
            <a:xfrm>
              <a:off x="678942" y="1930400"/>
              <a:ext cx="3582482" cy="264033"/>
            </a:xfrm>
            <a:prstGeom prst="rect">
              <a:avLst/>
            </a:prstGeom>
            <a:noFill/>
            <a:ln>
              <a:noFill/>
            </a:ln>
          </p:spPr>
          <p:txBody>
            <a:bodyPr wrap="none" lIns="0" tIns="0" rIns="0" bIns="0" anchor="t" anchorCtr="0">
              <a:spAutoFit/>
            </a:bodyPr>
            <a:lstStyle/>
            <a:p>
              <a:pPr algn="l"/>
              <a:r>
                <a:rPr lang="vi-VN" sz="1350" b="1" dirty="0">
                  <a:solidFill>
                    <a:schemeClr val="accent5"/>
                  </a:solidFill>
                  <a:latin typeface="+mn-lt"/>
                  <a:ea typeface="+mn-ea"/>
                  <a:cs typeface="+mn-cs"/>
                </a:rPr>
                <a:t>ĐỌC CSV → CHUYỂN SANG SỐ → BIỂU DIỄN</a:t>
              </a:r>
            </a:p>
          </p:txBody>
        </p:sp>
        <p:sp>
          <p:nvSpPr>
            <p:cNvPr id="7" name="Rectangle 7"/>
            <p:cNvSpPr/>
            <p:nvPr/>
          </p:nvSpPr>
          <p:spPr>
            <a:xfrm>
              <a:off x="685800" y="2305050"/>
              <a:ext cx="4629150" cy="3962400"/>
            </a:xfrm>
            <a:prstGeom prst="roundRect">
              <a:avLst>
                <a:gd name="adj" fmla="val 1442"/>
              </a:avLst>
            </a:prstGeom>
            <a:solidFill>
              <a:schemeClr val="lt2"/>
            </a:solidFill>
            <a:ln>
              <a:noFill/>
            </a:ln>
          </p:spPr>
        </p:sp>
        <p:sp>
          <p:nvSpPr>
            <p:cNvPr id="8" name="TextBox 8"/>
            <p:cNvSpPr txBox="1"/>
            <p:nvPr/>
          </p:nvSpPr>
          <p:spPr>
            <a:xfrm>
              <a:off x="870585" y="2260600"/>
              <a:ext cx="840689" cy="220028"/>
            </a:xfrm>
            <a:prstGeom prst="rect">
              <a:avLst/>
            </a:prstGeom>
            <a:noFill/>
            <a:ln>
              <a:noFill/>
            </a:ln>
          </p:spPr>
          <p:txBody>
            <a:bodyPr wrap="none" lIns="0" tIns="0" rIns="0" bIns="0" anchor="t" anchorCtr="0">
              <a:spAutoFit/>
            </a:bodyPr>
            <a:lstStyle/>
            <a:p>
              <a:pPr algn="l"/>
              <a:r>
                <a:rPr lang="vi-VN" sz="1120" dirty="0">
                  <a:solidFill>
                    <a:schemeClr val="accent1"/>
                  </a:solidFill>
                  <a:latin typeface="Consolas"/>
                  <a:ea typeface="Consolas"/>
                  <a:cs typeface="Consolas"/>
                </a:rPr>
                <a:t>import csv</a:t>
              </a:r>
            </a:p>
          </p:txBody>
        </p:sp>
        <p:sp>
          <p:nvSpPr>
            <p:cNvPr id="9" name="TextBox 9"/>
            <p:cNvSpPr txBox="1"/>
            <p:nvPr/>
          </p:nvSpPr>
          <p:spPr>
            <a:xfrm>
              <a:off x="870585" y="2489200"/>
              <a:ext cx="2582134" cy="220028"/>
            </a:xfrm>
            <a:prstGeom prst="rect">
              <a:avLst/>
            </a:prstGeom>
            <a:noFill/>
            <a:ln>
              <a:noFill/>
            </a:ln>
          </p:spPr>
          <p:txBody>
            <a:bodyPr wrap="none" lIns="0" tIns="0" rIns="0" bIns="0" anchor="t" anchorCtr="0">
              <a:spAutoFit/>
            </a:bodyPr>
            <a:lstStyle/>
            <a:p>
              <a:pPr algn="l"/>
              <a:r>
                <a:rPr lang="vi-VN" sz="1120" dirty="0">
                  <a:solidFill>
                    <a:schemeClr val="accent1"/>
                  </a:solidFill>
                  <a:latin typeface="Consolas"/>
                  <a:ea typeface="Consolas"/>
                  <a:cs typeface="Consolas"/>
                </a:rPr>
                <a:t>import matplotlib.pyplot as plt</a:t>
              </a:r>
            </a:p>
          </p:txBody>
        </p:sp>
        <p:sp>
          <p:nvSpPr>
            <p:cNvPr id="10" name="TextBox 10"/>
            <p:cNvSpPr txBox="1"/>
            <p:nvPr/>
          </p:nvSpPr>
          <p:spPr>
            <a:xfrm>
              <a:off x="870585" y="2717800"/>
              <a:ext cx="1006541" cy="220028"/>
            </a:xfrm>
            <a:prstGeom prst="rect">
              <a:avLst/>
            </a:prstGeom>
            <a:noFill/>
            <a:ln>
              <a:noFill/>
            </a:ln>
          </p:spPr>
          <p:txBody>
            <a:bodyPr wrap="none" lIns="0" tIns="0" rIns="0" bIns="0" anchor="t" anchorCtr="0">
              <a:spAutoFit/>
            </a:bodyPr>
            <a:lstStyle/>
            <a:p>
              <a:pPr algn="l"/>
              <a:r>
                <a:rPr lang="vi-VN" sz="1120" dirty="0">
                  <a:solidFill>
                    <a:schemeClr val="dk1"/>
                  </a:solidFill>
                  <a:latin typeface="Consolas"/>
                  <a:ea typeface="Consolas"/>
                  <a:cs typeface="Consolas"/>
                </a:rPr>
                <a:t>voltage = []</a:t>
              </a:r>
            </a:p>
          </p:txBody>
        </p:sp>
        <p:sp>
          <p:nvSpPr>
            <p:cNvPr id="11" name="TextBox 11"/>
            <p:cNvSpPr txBox="1"/>
            <p:nvPr/>
          </p:nvSpPr>
          <p:spPr>
            <a:xfrm>
              <a:off x="870585" y="2946400"/>
              <a:ext cx="3245541" cy="220028"/>
            </a:xfrm>
            <a:prstGeom prst="rect">
              <a:avLst/>
            </a:prstGeom>
            <a:noFill/>
            <a:ln>
              <a:noFill/>
            </a:ln>
          </p:spPr>
          <p:txBody>
            <a:bodyPr wrap="none" lIns="0" tIns="0" rIns="0" bIns="0" anchor="t" anchorCtr="0">
              <a:spAutoFit/>
            </a:bodyPr>
            <a:lstStyle/>
            <a:p>
              <a:pPr algn="l"/>
              <a:r>
                <a:rPr lang="vi-VN" sz="1120" dirty="0">
                  <a:solidFill>
                    <a:schemeClr val="dk1"/>
                  </a:solidFill>
                  <a:latin typeface="Consolas"/>
                  <a:ea typeface="Consolas"/>
                  <a:cs typeface="Consolas"/>
                </a:rPr>
                <a:t>with open("ket_qua_do.csv", newline="",</a:t>
              </a:r>
            </a:p>
          </p:txBody>
        </p:sp>
        <p:sp>
          <p:nvSpPr>
            <p:cNvPr id="12" name="TextBox 12"/>
            <p:cNvSpPr txBox="1"/>
            <p:nvPr/>
          </p:nvSpPr>
          <p:spPr>
            <a:xfrm>
              <a:off x="1632585" y="3175000"/>
              <a:ext cx="2499208" cy="220028"/>
            </a:xfrm>
            <a:prstGeom prst="rect">
              <a:avLst/>
            </a:prstGeom>
            <a:noFill/>
            <a:ln>
              <a:noFill/>
            </a:ln>
          </p:spPr>
          <p:txBody>
            <a:bodyPr wrap="none" lIns="0" tIns="0" rIns="0" bIns="0" anchor="t" anchorCtr="0">
              <a:spAutoFit/>
            </a:bodyPr>
            <a:lstStyle/>
            <a:p>
              <a:pPr algn="l"/>
              <a:r>
                <a:rPr lang="vi-VN" sz="1120" dirty="0">
                  <a:solidFill>
                    <a:schemeClr val="dk1"/>
                  </a:solidFill>
                  <a:latin typeface="Consolas"/>
                  <a:ea typeface="Consolas"/>
                  <a:cs typeface="Consolas"/>
                </a:rPr>
                <a:t>encoding="utf-8-sig") as file:</a:t>
              </a:r>
            </a:p>
          </p:txBody>
        </p:sp>
        <p:sp>
          <p:nvSpPr>
            <p:cNvPr id="13" name="TextBox 13"/>
            <p:cNvSpPr txBox="1"/>
            <p:nvPr/>
          </p:nvSpPr>
          <p:spPr>
            <a:xfrm>
              <a:off x="1251585" y="3403600"/>
              <a:ext cx="2677076" cy="220028"/>
            </a:xfrm>
            <a:prstGeom prst="rect">
              <a:avLst/>
            </a:prstGeom>
            <a:noFill/>
            <a:ln>
              <a:noFill/>
            </a:ln>
          </p:spPr>
          <p:txBody>
            <a:bodyPr wrap="none" lIns="0" tIns="0" rIns="0" bIns="0" anchor="t" anchorCtr="0">
              <a:spAutoFit/>
            </a:bodyPr>
            <a:lstStyle/>
            <a:p>
              <a:pPr algn="l"/>
              <a:r>
                <a:rPr lang="vi-VN" sz="1120" dirty="0">
                  <a:solidFill>
                    <a:schemeClr val="dk1"/>
                  </a:solidFill>
                  <a:latin typeface="Consolas"/>
                  <a:ea typeface="Consolas"/>
                  <a:cs typeface="Consolas"/>
                </a:rPr>
                <a:t>for row in csv.DictReader(file):</a:t>
              </a:r>
            </a:p>
          </p:txBody>
        </p:sp>
        <p:sp>
          <p:nvSpPr>
            <p:cNvPr id="14" name="TextBox 14"/>
            <p:cNvSpPr txBox="1"/>
            <p:nvPr/>
          </p:nvSpPr>
          <p:spPr>
            <a:xfrm>
              <a:off x="1632585" y="3632200"/>
              <a:ext cx="343134" cy="220028"/>
            </a:xfrm>
            <a:prstGeom prst="rect">
              <a:avLst/>
            </a:prstGeom>
            <a:noFill/>
            <a:ln>
              <a:noFill/>
            </a:ln>
          </p:spPr>
          <p:txBody>
            <a:bodyPr wrap="none" lIns="0" tIns="0" rIns="0" bIns="0" anchor="t" anchorCtr="0">
              <a:spAutoFit/>
            </a:bodyPr>
            <a:lstStyle/>
            <a:p>
              <a:pPr algn="l"/>
              <a:r>
                <a:rPr lang="vi-VN" sz="1120" dirty="0">
                  <a:solidFill>
                    <a:schemeClr val="dk1"/>
                  </a:solidFill>
                  <a:latin typeface="Consolas"/>
                  <a:ea typeface="Consolas"/>
                  <a:cs typeface="Consolas"/>
                </a:rPr>
                <a:t>try:</a:t>
              </a:r>
            </a:p>
          </p:txBody>
        </p:sp>
        <p:sp>
          <p:nvSpPr>
            <p:cNvPr id="15" name="TextBox 15"/>
            <p:cNvSpPr txBox="1"/>
            <p:nvPr/>
          </p:nvSpPr>
          <p:spPr>
            <a:xfrm>
              <a:off x="2013585" y="3860800"/>
              <a:ext cx="2250430" cy="220028"/>
            </a:xfrm>
            <a:prstGeom prst="rect">
              <a:avLst/>
            </a:prstGeom>
            <a:noFill/>
            <a:ln>
              <a:noFill/>
            </a:ln>
          </p:spPr>
          <p:txBody>
            <a:bodyPr wrap="none" lIns="0" tIns="0" rIns="0" bIns="0" anchor="t" anchorCtr="0">
              <a:spAutoFit/>
            </a:bodyPr>
            <a:lstStyle/>
            <a:p>
              <a:pPr algn="l"/>
              <a:r>
                <a:rPr lang="vi-VN" sz="1120" dirty="0">
                  <a:solidFill>
                    <a:schemeClr val="accent2"/>
                  </a:solidFill>
                  <a:latin typeface="Consolas"/>
                  <a:ea typeface="Consolas"/>
                  <a:cs typeface="Consolas"/>
                </a:rPr>
                <a:t>value = float(row["value"])</a:t>
              </a:r>
            </a:p>
          </p:txBody>
        </p:sp>
        <p:sp>
          <p:nvSpPr>
            <p:cNvPr id="16" name="TextBox 16"/>
            <p:cNvSpPr txBox="1"/>
            <p:nvPr/>
          </p:nvSpPr>
          <p:spPr>
            <a:xfrm>
              <a:off x="1632585" y="4089400"/>
              <a:ext cx="2522677" cy="220028"/>
            </a:xfrm>
            <a:prstGeom prst="rect">
              <a:avLst/>
            </a:prstGeom>
            <a:noFill/>
            <a:ln>
              <a:noFill/>
            </a:ln>
          </p:spPr>
          <p:txBody>
            <a:bodyPr wrap="none" lIns="0" tIns="0" rIns="0" bIns="0" anchor="t" anchorCtr="0">
              <a:spAutoFit/>
            </a:bodyPr>
            <a:lstStyle/>
            <a:p>
              <a:pPr algn="l"/>
              <a:r>
                <a:rPr lang="vi-VN" sz="1120" dirty="0">
                  <a:solidFill>
                    <a:schemeClr val="dk1"/>
                  </a:solidFill>
                  <a:latin typeface="Consolas"/>
                  <a:ea typeface="Consolas"/>
                  <a:cs typeface="Consolas"/>
                </a:rPr>
                <a:t>except (KeyError, ValueError):</a:t>
              </a:r>
            </a:p>
          </p:txBody>
        </p:sp>
        <p:sp>
          <p:nvSpPr>
            <p:cNvPr id="17" name="TextBox 17"/>
            <p:cNvSpPr txBox="1"/>
            <p:nvPr/>
          </p:nvSpPr>
          <p:spPr>
            <a:xfrm>
              <a:off x="2013585" y="4318000"/>
              <a:ext cx="674837" cy="220028"/>
            </a:xfrm>
            <a:prstGeom prst="rect">
              <a:avLst/>
            </a:prstGeom>
            <a:noFill/>
            <a:ln>
              <a:noFill/>
            </a:ln>
          </p:spPr>
          <p:txBody>
            <a:bodyPr wrap="none" lIns="0" tIns="0" rIns="0" bIns="0" anchor="t" anchorCtr="0">
              <a:spAutoFit/>
            </a:bodyPr>
            <a:lstStyle/>
            <a:p>
              <a:pPr algn="l"/>
              <a:r>
                <a:rPr lang="vi-VN" sz="1120" dirty="0">
                  <a:solidFill>
                    <a:schemeClr val="dk1"/>
                  </a:solidFill>
                  <a:latin typeface="Consolas"/>
                  <a:ea typeface="Consolas"/>
                  <a:cs typeface="Consolas"/>
                </a:rPr>
                <a:t>continue</a:t>
              </a:r>
            </a:p>
          </p:txBody>
        </p:sp>
        <p:sp>
          <p:nvSpPr>
            <p:cNvPr id="18" name="TextBox 18"/>
            <p:cNvSpPr txBox="1"/>
            <p:nvPr/>
          </p:nvSpPr>
          <p:spPr>
            <a:xfrm>
              <a:off x="1251585" y="4546600"/>
              <a:ext cx="1752874" cy="220028"/>
            </a:xfrm>
            <a:prstGeom prst="rect">
              <a:avLst/>
            </a:prstGeom>
            <a:noFill/>
            <a:ln>
              <a:noFill/>
            </a:ln>
          </p:spPr>
          <p:txBody>
            <a:bodyPr wrap="none" lIns="0" tIns="0" rIns="0" bIns="0" anchor="t" anchorCtr="0">
              <a:spAutoFit/>
            </a:bodyPr>
            <a:lstStyle/>
            <a:p>
              <a:pPr algn="l"/>
              <a:r>
                <a:rPr lang="vi-VN" sz="1120" dirty="0">
                  <a:solidFill>
                    <a:schemeClr val="dk1"/>
                  </a:solidFill>
                  <a:latin typeface="Consolas"/>
                  <a:ea typeface="Consolas"/>
                  <a:cs typeface="Consolas"/>
                </a:rPr>
                <a:t>voltage.append(value)</a:t>
              </a:r>
            </a:p>
          </p:txBody>
        </p:sp>
        <p:sp>
          <p:nvSpPr>
            <p:cNvPr id="19" name="TextBox 19"/>
            <p:cNvSpPr txBox="1"/>
            <p:nvPr/>
          </p:nvSpPr>
          <p:spPr>
            <a:xfrm>
              <a:off x="870585" y="4775200"/>
              <a:ext cx="2416282" cy="220028"/>
            </a:xfrm>
            <a:prstGeom prst="rect">
              <a:avLst/>
            </a:prstGeom>
            <a:noFill/>
            <a:ln>
              <a:noFill/>
            </a:ln>
          </p:spPr>
          <p:txBody>
            <a:bodyPr wrap="none" lIns="0" tIns="0" rIns="0" bIns="0" anchor="t" anchorCtr="0">
              <a:spAutoFit/>
            </a:bodyPr>
            <a:lstStyle/>
            <a:p>
              <a:pPr algn="l"/>
              <a:r>
                <a:rPr lang="vi-VN" sz="1120" dirty="0">
                  <a:solidFill>
                    <a:schemeClr val="dk1"/>
                  </a:solidFill>
                  <a:latin typeface="Consolas"/>
                  <a:ea typeface="Consolas"/>
                  <a:cs typeface="Consolas"/>
                </a:rPr>
                <a:t>samples = range(len(voltage))</a:t>
              </a:r>
            </a:p>
          </p:txBody>
        </p:sp>
        <p:sp>
          <p:nvSpPr>
            <p:cNvPr id="20" name="TextBox 20"/>
            <p:cNvSpPr txBox="1"/>
            <p:nvPr/>
          </p:nvSpPr>
          <p:spPr>
            <a:xfrm>
              <a:off x="870585" y="5003800"/>
              <a:ext cx="2001652" cy="220028"/>
            </a:xfrm>
            <a:prstGeom prst="rect">
              <a:avLst/>
            </a:prstGeom>
            <a:noFill/>
            <a:ln>
              <a:noFill/>
            </a:ln>
          </p:spPr>
          <p:txBody>
            <a:bodyPr wrap="none" lIns="0" tIns="0" rIns="0" bIns="0" anchor="t" anchorCtr="0">
              <a:spAutoFit/>
            </a:bodyPr>
            <a:lstStyle/>
            <a:p>
              <a:pPr algn="l"/>
              <a:r>
                <a:rPr lang="vi-VN" sz="1120" dirty="0">
                  <a:solidFill>
                    <a:schemeClr val="dk1"/>
                  </a:solidFill>
                  <a:latin typeface="Consolas"/>
                  <a:ea typeface="Consolas"/>
                  <a:cs typeface="Consolas"/>
                </a:rPr>
                <a:t>fig, ax = plt.subplots()</a:t>
              </a:r>
            </a:p>
          </p:txBody>
        </p:sp>
        <p:sp>
          <p:nvSpPr>
            <p:cNvPr id="21" name="TextBox 21"/>
            <p:cNvSpPr txBox="1"/>
            <p:nvPr/>
          </p:nvSpPr>
          <p:spPr>
            <a:xfrm>
              <a:off x="870585" y="5232400"/>
              <a:ext cx="2582134" cy="220028"/>
            </a:xfrm>
            <a:prstGeom prst="rect">
              <a:avLst/>
            </a:prstGeom>
            <a:noFill/>
            <a:ln>
              <a:noFill/>
            </a:ln>
          </p:spPr>
          <p:txBody>
            <a:bodyPr wrap="none" lIns="0" tIns="0" rIns="0" bIns="0" anchor="t" anchorCtr="0">
              <a:spAutoFit/>
            </a:bodyPr>
            <a:lstStyle/>
            <a:p>
              <a:pPr algn="l"/>
              <a:r>
                <a:rPr lang="vi-VN" sz="1120" dirty="0">
                  <a:solidFill>
                    <a:schemeClr val="dk1"/>
                  </a:solidFill>
                  <a:latin typeface="Consolas"/>
                  <a:ea typeface="Consolas"/>
                  <a:cs typeface="Consolas"/>
                </a:rPr>
                <a:t>ax.plot(samples, voltage, "o-",</a:t>
              </a:r>
            </a:p>
          </p:txBody>
        </p:sp>
        <p:sp>
          <p:nvSpPr>
            <p:cNvPr id="22" name="TextBox 22"/>
            <p:cNvSpPr txBox="1"/>
            <p:nvPr/>
          </p:nvSpPr>
          <p:spPr>
            <a:xfrm>
              <a:off x="1251585" y="5461000"/>
              <a:ext cx="1379210" cy="220028"/>
            </a:xfrm>
            <a:prstGeom prst="rect">
              <a:avLst/>
            </a:prstGeom>
            <a:noFill/>
            <a:ln>
              <a:noFill/>
            </a:ln>
          </p:spPr>
          <p:txBody>
            <a:bodyPr wrap="none" lIns="0" tIns="0" rIns="0" bIns="0" anchor="t" anchorCtr="0">
              <a:spAutoFit/>
            </a:bodyPr>
            <a:lstStyle/>
            <a:p>
              <a:pPr algn="l"/>
              <a:r>
                <a:rPr lang="vi-VN" sz="1120" dirty="0">
                  <a:solidFill>
                    <a:schemeClr val="dk1"/>
                  </a:solidFill>
                  <a:latin typeface="Consolas"/>
                  <a:ea typeface="Consolas"/>
                  <a:cs typeface="Consolas"/>
                </a:rPr>
                <a:t>label="VOLT:DC")</a:t>
              </a:r>
            </a:p>
          </p:txBody>
        </p:sp>
        <p:sp>
          <p:nvSpPr>
            <p:cNvPr id="23" name="TextBox 23"/>
            <p:cNvSpPr txBox="1"/>
            <p:nvPr/>
          </p:nvSpPr>
          <p:spPr>
            <a:xfrm>
              <a:off x="869442" y="5664200"/>
              <a:ext cx="4238244" cy="264033"/>
            </a:xfrm>
            <a:prstGeom prst="rect">
              <a:avLst/>
            </a:prstGeom>
            <a:noFill/>
            <a:ln>
              <a:noFill/>
            </a:ln>
          </p:spPr>
          <p:txBody>
            <a:bodyPr wrap="none" lIns="0" tIns="0" rIns="0" bIns="0" anchor="t" anchorCtr="0">
              <a:spAutoFit/>
            </a:bodyPr>
            <a:lstStyle/>
            <a:p>
              <a:pPr algn="l"/>
              <a:r>
                <a:rPr lang="vi-VN" sz="1350" dirty="0">
                  <a:solidFill>
                    <a:schemeClr val="dk1"/>
                  </a:solidFill>
                  <a:latin typeface="Consolas"/>
                  <a:ea typeface="Consolas"/>
                  <a:cs typeface="Consolas"/>
                </a:rPr>
                <a:t>ax.set(xlabel="Mẫu", ylabel="Điện áp (V)")</a:t>
              </a:r>
            </a:p>
          </p:txBody>
        </p:sp>
        <p:sp>
          <p:nvSpPr>
            <p:cNvPr id="24" name="TextBox 24"/>
            <p:cNvSpPr txBox="1"/>
            <p:nvPr/>
          </p:nvSpPr>
          <p:spPr>
            <a:xfrm>
              <a:off x="869442" y="5892800"/>
              <a:ext cx="3820619" cy="264033"/>
            </a:xfrm>
            <a:prstGeom prst="rect">
              <a:avLst/>
            </a:prstGeom>
            <a:noFill/>
            <a:ln>
              <a:noFill/>
            </a:ln>
          </p:spPr>
          <p:txBody>
            <a:bodyPr wrap="none" lIns="0" tIns="0" rIns="0" bIns="0" anchor="t" anchorCtr="0">
              <a:spAutoFit/>
            </a:bodyPr>
            <a:lstStyle/>
            <a:p>
              <a:pPr algn="l"/>
              <a:r>
                <a:rPr lang="vi-VN" sz="1350" dirty="0">
                  <a:solidFill>
                    <a:schemeClr val="dk1"/>
                  </a:solidFill>
                  <a:latin typeface="Consolas"/>
                  <a:ea typeface="Consolas"/>
                  <a:cs typeface="Consolas"/>
                </a:rPr>
                <a:t>ax.grid(True); ax.legend(); plt.show()</a:t>
              </a:r>
            </a:p>
          </p:txBody>
        </p:sp>
      </p:grpSp>
      <p:grpSp>
        <p:nvGrpSpPr>
          <p:cNvPr id="35" name="csv-sample-table"/>
          <p:cNvGrpSpPr/>
          <p:nvPr/>
        </p:nvGrpSpPr>
        <p:grpSpPr>
          <a:xfrm>
            <a:off x="5631942" y="1930400"/>
            <a:ext cx="5874258" cy="1308100"/>
            <a:chOff x="5631942" y="1930400"/>
            <a:chExt cx="5874258" cy="1308100"/>
          </a:xfrm>
        </p:grpSpPr>
        <p:sp>
          <p:nvSpPr>
            <p:cNvPr id="26" name="TextBox 26"/>
            <p:cNvSpPr txBox="1"/>
            <p:nvPr/>
          </p:nvSpPr>
          <p:spPr>
            <a:xfrm>
              <a:off x="5631942" y="1930400"/>
              <a:ext cx="2443300" cy="264033"/>
            </a:xfrm>
            <a:prstGeom prst="rect">
              <a:avLst/>
            </a:prstGeom>
            <a:noFill/>
            <a:ln>
              <a:noFill/>
            </a:ln>
          </p:spPr>
          <p:txBody>
            <a:bodyPr wrap="none" lIns="0" tIns="0" rIns="0" bIns="0" anchor="t" anchorCtr="0">
              <a:spAutoFit/>
            </a:bodyPr>
            <a:lstStyle/>
            <a:p>
              <a:pPr algn="l"/>
              <a:r>
                <a:rPr lang="vi-VN" sz="1350" b="1" dirty="0">
                  <a:solidFill>
                    <a:schemeClr val="accent5"/>
                  </a:solidFill>
                  <a:latin typeface="+mn-lt"/>
                  <a:ea typeface="+mn-ea"/>
                  <a:cs typeface="+mn-cs"/>
                </a:rPr>
                <a:t>CÙNG BỘ DỮ LIỆU MINH HỌA</a:t>
              </a:r>
            </a:p>
          </p:txBody>
        </p:sp>
        <p:sp>
          <p:nvSpPr>
            <p:cNvPr id="27" name="Rectangle 27"/>
            <p:cNvSpPr/>
            <p:nvPr/>
          </p:nvSpPr>
          <p:spPr>
            <a:xfrm>
              <a:off x="5638800" y="2266950"/>
              <a:ext cx="5867400" cy="476250"/>
            </a:xfrm>
            <a:prstGeom prst="rect">
              <a:avLst/>
            </a:prstGeom>
            <a:solidFill>
              <a:schemeClr val="accent1"/>
            </a:solidFill>
            <a:ln>
              <a:noFill/>
            </a:ln>
          </p:spPr>
        </p:sp>
        <p:sp>
          <p:nvSpPr>
            <p:cNvPr id="28" name="TextBox 28"/>
            <p:cNvSpPr txBox="1"/>
            <p:nvPr/>
          </p:nvSpPr>
          <p:spPr>
            <a:xfrm>
              <a:off x="5804154" y="2419350"/>
              <a:ext cx="877260" cy="234696"/>
            </a:xfrm>
            <a:prstGeom prst="rect">
              <a:avLst/>
            </a:prstGeom>
            <a:noFill/>
            <a:ln>
              <a:noFill/>
            </a:ln>
          </p:spPr>
          <p:txBody>
            <a:bodyPr wrap="none" lIns="0" tIns="0" rIns="0" bIns="0" anchor="t" anchorCtr="0">
              <a:spAutoFit/>
            </a:bodyPr>
            <a:lstStyle/>
            <a:p>
              <a:pPr algn="l"/>
              <a:r>
                <a:rPr lang="vi-VN" sz="1200" b="1" dirty="0">
                  <a:solidFill>
                    <a:srgbClr val="FFFDF7"/>
                  </a:solidFill>
                  <a:latin typeface="+mn-lt"/>
                  <a:ea typeface="+mn-ea"/>
                  <a:cs typeface="+mn-cs"/>
                </a:rPr>
                <a:t>timestamp</a:t>
              </a:r>
            </a:p>
          </p:txBody>
        </p:sp>
        <p:sp>
          <p:nvSpPr>
            <p:cNvPr id="29" name="TextBox 29"/>
            <p:cNvSpPr txBox="1"/>
            <p:nvPr/>
          </p:nvSpPr>
          <p:spPr>
            <a:xfrm>
              <a:off x="8052054" y="2419350"/>
              <a:ext cx="716120" cy="234696"/>
            </a:xfrm>
            <a:prstGeom prst="rect">
              <a:avLst/>
            </a:prstGeom>
            <a:noFill/>
            <a:ln>
              <a:noFill/>
            </a:ln>
          </p:spPr>
          <p:txBody>
            <a:bodyPr wrap="none" lIns="0" tIns="0" rIns="0" bIns="0" anchor="t" anchorCtr="0">
              <a:spAutoFit/>
            </a:bodyPr>
            <a:lstStyle/>
            <a:p>
              <a:pPr algn="l"/>
              <a:r>
                <a:rPr lang="vi-VN" sz="1200" b="1" dirty="0">
                  <a:solidFill>
                    <a:srgbClr val="FFFDF7"/>
                  </a:solidFill>
                  <a:latin typeface="+mn-lt"/>
                  <a:ea typeface="+mn-ea"/>
                  <a:cs typeface="+mn-cs"/>
                </a:rPr>
                <a:t>function</a:t>
              </a:r>
            </a:p>
          </p:txBody>
        </p:sp>
        <p:sp>
          <p:nvSpPr>
            <p:cNvPr id="30" name="TextBox 30"/>
            <p:cNvSpPr txBox="1"/>
            <p:nvPr/>
          </p:nvSpPr>
          <p:spPr>
            <a:xfrm>
              <a:off x="10280904" y="2419350"/>
              <a:ext cx="436245" cy="234696"/>
            </a:xfrm>
            <a:prstGeom prst="rect">
              <a:avLst/>
            </a:prstGeom>
            <a:noFill/>
            <a:ln>
              <a:noFill/>
            </a:ln>
          </p:spPr>
          <p:txBody>
            <a:bodyPr wrap="none" lIns="0" tIns="0" rIns="0" bIns="0" anchor="t" anchorCtr="0">
              <a:spAutoFit/>
            </a:bodyPr>
            <a:lstStyle/>
            <a:p>
              <a:pPr algn="l"/>
              <a:r>
                <a:rPr lang="vi-VN" sz="1200" b="1" dirty="0">
                  <a:solidFill>
                    <a:srgbClr val="FFFDF7"/>
                  </a:solidFill>
                  <a:latin typeface="+mn-lt"/>
                  <a:ea typeface="+mn-ea"/>
                  <a:cs typeface="+mn-cs"/>
                </a:rPr>
                <a:t>value</a:t>
              </a:r>
            </a:p>
          </p:txBody>
        </p:sp>
        <p:sp>
          <p:nvSpPr>
            <p:cNvPr id="31" name="Rectangle 31"/>
            <p:cNvSpPr/>
            <p:nvPr/>
          </p:nvSpPr>
          <p:spPr>
            <a:xfrm>
              <a:off x="5638800" y="2762250"/>
              <a:ext cx="5867400" cy="476250"/>
            </a:xfrm>
            <a:prstGeom prst="rect">
              <a:avLst/>
            </a:prstGeom>
            <a:solidFill>
              <a:schemeClr val="lt2"/>
            </a:solidFill>
            <a:ln>
              <a:noFill/>
            </a:ln>
          </p:spPr>
        </p:sp>
        <p:sp>
          <p:nvSpPr>
            <p:cNvPr id="32" name="TextBox 32"/>
            <p:cNvSpPr txBox="1"/>
            <p:nvPr/>
          </p:nvSpPr>
          <p:spPr>
            <a:xfrm>
              <a:off x="5804154" y="2914650"/>
              <a:ext cx="1280312" cy="234696"/>
            </a:xfrm>
            <a:prstGeom prst="rect">
              <a:avLst/>
            </a:prstGeom>
            <a:noFill/>
            <a:ln>
              <a:noFill/>
            </a:ln>
          </p:spPr>
          <p:txBody>
            <a:bodyPr wrap="none" lIns="0" tIns="0" rIns="0" bIns="0" anchor="t" anchorCtr="0">
              <a:spAutoFit/>
            </a:bodyPr>
            <a:lstStyle/>
            <a:p>
              <a:pPr algn="l"/>
              <a:r>
                <a:rPr lang="vi-VN" sz="1200" dirty="0">
                  <a:solidFill>
                    <a:schemeClr val="dk1"/>
                  </a:solidFill>
                  <a:latin typeface="+mn-lt"/>
                  <a:ea typeface="+mn-ea"/>
                  <a:cs typeface="+mn-cs"/>
                </a:rPr>
                <a:t>t0 · t1 · t2 · t3</a:t>
              </a:r>
            </a:p>
          </p:txBody>
        </p:sp>
        <p:sp>
          <p:nvSpPr>
            <p:cNvPr id="33" name="TextBox 33"/>
            <p:cNvSpPr txBox="1"/>
            <p:nvPr/>
          </p:nvSpPr>
          <p:spPr>
            <a:xfrm>
              <a:off x="8052054" y="2927350"/>
              <a:ext cx="669341" cy="234696"/>
            </a:xfrm>
            <a:prstGeom prst="rect">
              <a:avLst/>
            </a:prstGeom>
            <a:noFill/>
            <a:ln>
              <a:noFill/>
            </a:ln>
          </p:spPr>
          <p:txBody>
            <a:bodyPr wrap="none" lIns="0" tIns="0" rIns="0" bIns="0" anchor="t" anchorCtr="0">
              <a:spAutoFit/>
            </a:bodyPr>
            <a:lstStyle/>
            <a:p>
              <a:pPr algn="l"/>
              <a:r>
                <a:rPr lang="vi-VN" sz="1200" dirty="0">
                  <a:solidFill>
                    <a:schemeClr val="dk1"/>
                  </a:solidFill>
                  <a:latin typeface="Consolas"/>
                  <a:ea typeface="Consolas"/>
                  <a:cs typeface="Consolas"/>
                </a:rPr>
                <a:t>VOLT:DC</a:t>
              </a:r>
            </a:p>
          </p:txBody>
        </p:sp>
        <p:sp>
          <p:nvSpPr>
            <p:cNvPr id="34" name="TextBox 34"/>
            <p:cNvSpPr txBox="1"/>
            <p:nvPr/>
          </p:nvSpPr>
          <p:spPr>
            <a:xfrm>
              <a:off x="10280904" y="2927350"/>
              <a:ext cx="811835" cy="234696"/>
            </a:xfrm>
            <a:prstGeom prst="rect">
              <a:avLst/>
            </a:prstGeom>
            <a:noFill/>
            <a:ln>
              <a:noFill/>
            </a:ln>
          </p:spPr>
          <p:txBody>
            <a:bodyPr wrap="none" lIns="0" tIns="0" rIns="0" bIns="0" anchor="t" anchorCtr="0">
              <a:spAutoFit/>
            </a:bodyPr>
            <a:lstStyle/>
            <a:p>
              <a:pPr algn="l"/>
              <a:r>
                <a:rPr lang="vi-VN" sz="1200" b="1" dirty="0">
                  <a:solidFill>
                    <a:schemeClr val="accent2"/>
                  </a:solidFill>
                  <a:latin typeface="Consolas"/>
                  <a:ea typeface="Consolas"/>
                  <a:cs typeface="Consolas"/>
                </a:rPr>
                <a:t>0.20…0.52</a:t>
              </a:r>
            </a:p>
          </p:txBody>
        </p:sp>
      </p:grpSp>
      <p:grpSp>
        <p:nvGrpSpPr>
          <p:cNvPr id="37" name="csv-voltage-heading"/>
          <p:cNvGrpSpPr/>
          <p:nvPr/>
        </p:nvGrpSpPr>
        <p:grpSpPr>
          <a:xfrm>
            <a:off x="5631942" y="3683000"/>
            <a:ext cx="3659389" cy="264033"/>
            <a:chOff x="5631942" y="3683000"/>
            <a:chExt cx="3659389" cy="264033"/>
          </a:xfrm>
        </p:grpSpPr>
        <p:sp>
          <p:nvSpPr>
            <p:cNvPr id="36" name="TextBox 36"/>
            <p:cNvSpPr txBox="1"/>
            <p:nvPr/>
          </p:nvSpPr>
          <p:spPr>
            <a:xfrm>
              <a:off x="5631942" y="3683000"/>
              <a:ext cx="3659389" cy="264033"/>
            </a:xfrm>
            <a:prstGeom prst="rect">
              <a:avLst/>
            </a:prstGeom>
            <a:noFill/>
            <a:ln>
              <a:noFill/>
            </a:ln>
          </p:spPr>
          <p:txBody>
            <a:bodyPr wrap="none" lIns="0" tIns="0" rIns="0" bIns="0" anchor="t" anchorCtr="0">
              <a:spAutoFit/>
            </a:bodyPr>
            <a:lstStyle/>
            <a:p>
              <a:pPr algn="l"/>
              <a:r>
                <a:rPr lang="vi-VN" sz="1350" b="1" dirty="0">
                  <a:solidFill>
                    <a:schemeClr val="accent5"/>
                  </a:solidFill>
                  <a:latin typeface="+mn-lt"/>
                  <a:ea typeface="+mn-ea"/>
                  <a:cs typeface="+mn-cs"/>
                </a:rPr>
                <a:t>BIỂU DIỄN CỘT value · DỮ LIỆU MINH HỌA</a:t>
              </a:r>
            </a:p>
          </p:txBody>
        </p:sp>
      </p:grpSp>
      <p:grpSp>
        <p:nvGrpSpPr>
          <p:cNvPr id="64" name="csv-voltage"/>
          <p:cNvGrpSpPr/>
          <p:nvPr/>
        </p:nvGrpSpPr>
        <p:grpSpPr>
          <a:xfrm>
            <a:off x="5416460" y="3981450"/>
            <a:ext cx="6089740" cy="2023428"/>
            <a:chOff x="5416460" y="3981450"/>
            <a:chExt cx="6089740" cy="2023428"/>
          </a:xfrm>
        </p:grpSpPr>
        <p:grpSp>
          <p:nvGrpSpPr>
            <p:cNvPr id="63" name="csv-voltage-chartArea"/>
            <p:cNvGrpSpPr/>
            <p:nvPr/>
          </p:nvGrpSpPr>
          <p:grpSpPr>
            <a:xfrm>
              <a:off x="5416460" y="3981450"/>
              <a:ext cx="6089740" cy="2023428"/>
              <a:chOff x="5416460" y="3981450"/>
              <a:chExt cx="6089740" cy="2023428"/>
            </a:xfrm>
          </p:grpSpPr>
          <p:sp>
            <p:nvSpPr>
              <p:cNvPr id="38" name="Rectangle 38"/>
              <p:cNvSpPr/>
              <p:nvPr/>
            </p:nvSpPr>
            <p:spPr>
              <a:xfrm>
                <a:off x="5638800" y="3981450"/>
                <a:ext cx="5867400" cy="2019300"/>
              </a:xfrm>
              <a:prstGeom prst="rect">
                <a:avLst/>
              </a:prstGeom>
              <a:solidFill>
                <a:srgbClr val="FFFDF7"/>
              </a:solidFill>
              <a:ln>
                <a:noFill/>
              </a:ln>
            </p:spPr>
          </p:sp>
          <p:sp>
            <p:nvSpPr>
              <p:cNvPr id="39" name="Line 39"/>
              <p:cNvSpPr/>
              <p:nvPr/>
            </p:nvSpPr>
            <p:spPr>
              <a:xfrm>
                <a:off x="6362700" y="4152900"/>
                <a:ext cx="4914900" cy="9525"/>
              </a:xfrm>
              <a:custGeom>
                <a:avLst/>
                <a:gdLst/>
                <a:ahLst/>
                <a:cxnLst/>
                <a:rect l="l" t="t" r="r" b="b"/>
                <a:pathLst>
                  <a:path w="4914900" h="9525">
                    <a:moveTo>
                      <a:pt x="0" y="0"/>
                    </a:moveTo>
                    <a:lnTo>
                      <a:pt x="4914900" y="0"/>
                    </a:lnTo>
                  </a:path>
                </a:pathLst>
              </a:custGeom>
              <a:noFill/>
              <a:ln w="14288">
                <a:solidFill>
                  <a:srgbClr val="E3DDD3"/>
                </a:solidFill>
              </a:ln>
            </p:spPr>
          </p:sp>
          <p:sp>
            <p:nvSpPr>
              <p:cNvPr id="40" name="Line 40"/>
              <p:cNvSpPr/>
              <p:nvPr/>
            </p:nvSpPr>
            <p:spPr>
              <a:xfrm>
                <a:off x="6362700" y="4600575"/>
                <a:ext cx="4914900" cy="9525"/>
              </a:xfrm>
              <a:custGeom>
                <a:avLst/>
                <a:gdLst/>
                <a:ahLst/>
                <a:cxnLst/>
                <a:rect l="l" t="t" r="r" b="b"/>
                <a:pathLst>
                  <a:path w="4914900" h="9525">
                    <a:moveTo>
                      <a:pt x="0" y="0"/>
                    </a:moveTo>
                    <a:lnTo>
                      <a:pt x="4914900" y="0"/>
                    </a:lnTo>
                  </a:path>
                </a:pathLst>
              </a:custGeom>
              <a:noFill/>
              <a:ln w="14288">
                <a:solidFill>
                  <a:srgbClr val="E3DDD3"/>
                </a:solidFill>
              </a:ln>
            </p:spPr>
          </p:sp>
          <p:sp>
            <p:nvSpPr>
              <p:cNvPr id="41" name="Line 41"/>
              <p:cNvSpPr/>
              <p:nvPr/>
            </p:nvSpPr>
            <p:spPr>
              <a:xfrm>
                <a:off x="6362700" y="5057775"/>
                <a:ext cx="4914900" cy="9525"/>
              </a:xfrm>
              <a:custGeom>
                <a:avLst/>
                <a:gdLst/>
                <a:ahLst/>
                <a:cxnLst/>
                <a:rect l="l" t="t" r="r" b="b"/>
                <a:pathLst>
                  <a:path w="4914900" h="9525">
                    <a:moveTo>
                      <a:pt x="0" y="0"/>
                    </a:moveTo>
                    <a:lnTo>
                      <a:pt x="4914900" y="0"/>
                    </a:lnTo>
                  </a:path>
                </a:pathLst>
              </a:custGeom>
              <a:noFill/>
              <a:ln w="14288">
                <a:solidFill>
                  <a:srgbClr val="E3DDD3"/>
                </a:solidFill>
              </a:ln>
            </p:spPr>
          </p:sp>
          <p:sp>
            <p:nvSpPr>
              <p:cNvPr id="42" name="Line 42"/>
              <p:cNvSpPr/>
              <p:nvPr/>
            </p:nvSpPr>
            <p:spPr>
              <a:xfrm>
                <a:off x="6362700" y="5505450"/>
                <a:ext cx="4914900" cy="9525"/>
              </a:xfrm>
              <a:custGeom>
                <a:avLst/>
                <a:gdLst/>
                <a:ahLst/>
                <a:cxnLst/>
                <a:rect l="l" t="t" r="r" b="b"/>
                <a:pathLst>
                  <a:path w="4914900" h="9525">
                    <a:moveTo>
                      <a:pt x="0" y="0"/>
                    </a:moveTo>
                    <a:lnTo>
                      <a:pt x="4914900" y="0"/>
                    </a:lnTo>
                  </a:path>
                </a:pathLst>
              </a:custGeom>
              <a:noFill/>
              <a:ln w="19050">
                <a:solidFill>
                  <a:schemeClr val="accent1"/>
                </a:solidFill>
              </a:ln>
            </p:spPr>
          </p:sp>
          <p:sp>
            <p:nvSpPr>
              <p:cNvPr id="43" name="Line 43"/>
              <p:cNvSpPr/>
              <p:nvPr/>
            </p:nvSpPr>
            <p:spPr>
              <a:xfrm>
                <a:off x="6362700" y="4152900"/>
                <a:ext cx="9525" cy="1352550"/>
              </a:xfrm>
              <a:custGeom>
                <a:avLst/>
                <a:gdLst/>
                <a:ahLst/>
                <a:cxnLst/>
                <a:rect l="l" t="t" r="r" b="b"/>
                <a:pathLst>
                  <a:path w="9525" h="1352550">
                    <a:moveTo>
                      <a:pt x="0" y="0"/>
                    </a:moveTo>
                    <a:lnTo>
                      <a:pt x="0" y="1352550"/>
                    </a:lnTo>
                  </a:path>
                </a:pathLst>
              </a:custGeom>
              <a:noFill/>
              <a:ln w="19050">
                <a:solidFill>
                  <a:schemeClr val="accent1"/>
                </a:solidFill>
              </a:ln>
            </p:spPr>
          </p:sp>
          <p:sp>
            <p:nvSpPr>
              <p:cNvPr id="44" name="TextBox 44"/>
              <p:cNvSpPr txBox="1"/>
              <p:nvPr/>
            </p:nvSpPr>
            <p:spPr>
              <a:xfrm>
                <a:off x="5990787" y="5426075"/>
                <a:ext cx="243897" cy="205359"/>
              </a:xfrm>
              <a:prstGeom prst="rect">
                <a:avLst/>
              </a:prstGeom>
              <a:noFill/>
              <a:ln>
                <a:noFill/>
              </a:ln>
            </p:spPr>
            <p:txBody>
              <a:bodyPr wrap="none" lIns="0" tIns="0" rIns="0" bIns="0" anchor="t" anchorCtr="0">
                <a:spAutoFit/>
              </a:bodyPr>
              <a:lstStyle/>
              <a:p>
                <a:pPr algn="r"/>
                <a:r>
                  <a:rPr lang="vi-VN" sz="1050" dirty="0">
                    <a:solidFill>
                      <a:schemeClr val="accent5"/>
                    </a:solidFill>
                    <a:latin typeface="+mn-lt"/>
                    <a:ea typeface="+mn-ea"/>
                    <a:cs typeface="+mn-cs"/>
                  </a:rPr>
                  <a:t>0.0</a:t>
                </a:r>
              </a:p>
            </p:txBody>
          </p:sp>
          <p:sp>
            <p:nvSpPr>
              <p:cNvPr id="45" name="TextBox 45"/>
              <p:cNvSpPr txBox="1"/>
              <p:nvPr/>
            </p:nvSpPr>
            <p:spPr>
              <a:xfrm>
                <a:off x="5990787" y="4978400"/>
                <a:ext cx="243897" cy="205359"/>
              </a:xfrm>
              <a:prstGeom prst="rect">
                <a:avLst/>
              </a:prstGeom>
              <a:noFill/>
              <a:ln>
                <a:noFill/>
              </a:ln>
            </p:spPr>
            <p:txBody>
              <a:bodyPr wrap="none" lIns="0" tIns="0" rIns="0" bIns="0" anchor="t" anchorCtr="0">
                <a:spAutoFit/>
              </a:bodyPr>
              <a:lstStyle/>
              <a:p>
                <a:pPr algn="r"/>
                <a:r>
                  <a:rPr lang="vi-VN" sz="1050" dirty="0">
                    <a:solidFill>
                      <a:schemeClr val="accent5"/>
                    </a:solidFill>
                    <a:latin typeface="+mn-lt"/>
                    <a:ea typeface="+mn-ea"/>
                    <a:cs typeface="+mn-cs"/>
                  </a:rPr>
                  <a:t>0.2</a:t>
                </a:r>
              </a:p>
            </p:txBody>
          </p:sp>
          <p:sp>
            <p:nvSpPr>
              <p:cNvPr id="46" name="TextBox 46"/>
              <p:cNvSpPr txBox="1"/>
              <p:nvPr/>
            </p:nvSpPr>
            <p:spPr>
              <a:xfrm>
                <a:off x="5990787" y="4521200"/>
                <a:ext cx="243897" cy="205359"/>
              </a:xfrm>
              <a:prstGeom prst="rect">
                <a:avLst/>
              </a:prstGeom>
              <a:noFill/>
              <a:ln>
                <a:noFill/>
              </a:ln>
            </p:spPr>
            <p:txBody>
              <a:bodyPr wrap="none" lIns="0" tIns="0" rIns="0" bIns="0" anchor="t" anchorCtr="0">
                <a:spAutoFit/>
              </a:bodyPr>
              <a:lstStyle/>
              <a:p>
                <a:pPr algn="r"/>
                <a:r>
                  <a:rPr lang="vi-VN" sz="1050" dirty="0">
                    <a:solidFill>
                      <a:schemeClr val="accent5"/>
                    </a:solidFill>
                    <a:latin typeface="+mn-lt"/>
                    <a:ea typeface="+mn-ea"/>
                    <a:cs typeface="+mn-cs"/>
                  </a:rPr>
                  <a:t>0.4</a:t>
                </a:r>
              </a:p>
            </p:txBody>
          </p:sp>
          <p:sp>
            <p:nvSpPr>
              <p:cNvPr id="47" name="TextBox 47"/>
              <p:cNvSpPr txBox="1"/>
              <p:nvPr/>
            </p:nvSpPr>
            <p:spPr>
              <a:xfrm>
                <a:off x="5990787" y="4073525"/>
                <a:ext cx="243897" cy="205359"/>
              </a:xfrm>
              <a:prstGeom prst="rect">
                <a:avLst/>
              </a:prstGeom>
              <a:noFill/>
              <a:ln>
                <a:noFill/>
              </a:ln>
            </p:spPr>
            <p:txBody>
              <a:bodyPr wrap="none" lIns="0" tIns="0" rIns="0" bIns="0" anchor="t" anchorCtr="0">
                <a:spAutoFit/>
              </a:bodyPr>
              <a:lstStyle/>
              <a:p>
                <a:pPr algn="r"/>
                <a:r>
                  <a:rPr lang="vi-VN" sz="1050" dirty="0">
                    <a:solidFill>
                      <a:schemeClr val="accent5"/>
                    </a:solidFill>
                    <a:latin typeface="+mn-lt"/>
                    <a:ea typeface="+mn-ea"/>
                    <a:cs typeface="+mn-cs"/>
                  </a:rPr>
                  <a:t>0.6</a:t>
                </a:r>
              </a:p>
            </p:txBody>
          </p:sp>
          <p:sp>
            <p:nvSpPr>
              <p:cNvPr id="48" name="TextBox 48"/>
              <p:cNvSpPr txBox="1"/>
              <p:nvPr/>
            </p:nvSpPr>
            <p:spPr>
              <a:xfrm>
                <a:off x="6932857" y="5568950"/>
                <a:ext cx="88411" cy="205359"/>
              </a:xfrm>
              <a:prstGeom prst="rect">
                <a:avLst/>
              </a:prstGeom>
              <a:noFill/>
              <a:ln>
                <a:noFill/>
              </a:ln>
            </p:spPr>
            <p:txBody>
              <a:bodyPr wrap="none" lIns="0" tIns="0" rIns="0" bIns="0" anchor="t" anchorCtr="0">
                <a:spAutoFit/>
              </a:bodyPr>
              <a:lstStyle/>
              <a:p>
                <a:pPr algn="ctr"/>
                <a:r>
                  <a:rPr lang="vi-VN" sz="1050" dirty="0">
                    <a:solidFill>
                      <a:schemeClr val="accent5"/>
                    </a:solidFill>
                    <a:latin typeface="+mn-lt"/>
                    <a:ea typeface="+mn-ea"/>
                    <a:cs typeface="+mn-cs"/>
                  </a:rPr>
                  <a:t>0</a:t>
                </a:r>
              </a:p>
            </p:txBody>
          </p:sp>
          <p:sp>
            <p:nvSpPr>
              <p:cNvPr id="49" name="TextBox 49"/>
              <p:cNvSpPr txBox="1"/>
              <p:nvPr/>
            </p:nvSpPr>
            <p:spPr>
              <a:xfrm>
                <a:off x="8161582" y="5568950"/>
                <a:ext cx="88411" cy="205359"/>
              </a:xfrm>
              <a:prstGeom prst="rect">
                <a:avLst/>
              </a:prstGeom>
              <a:noFill/>
              <a:ln>
                <a:noFill/>
              </a:ln>
            </p:spPr>
            <p:txBody>
              <a:bodyPr wrap="none" lIns="0" tIns="0" rIns="0" bIns="0" anchor="t" anchorCtr="0">
                <a:spAutoFit/>
              </a:bodyPr>
              <a:lstStyle/>
              <a:p>
                <a:pPr algn="ctr"/>
                <a:r>
                  <a:rPr lang="vi-VN" sz="1050" dirty="0">
                    <a:solidFill>
                      <a:schemeClr val="accent5"/>
                    </a:solidFill>
                    <a:latin typeface="+mn-lt"/>
                    <a:ea typeface="+mn-ea"/>
                    <a:cs typeface="+mn-cs"/>
                  </a:rPr>
                  <a:t>1</a:t>
                </a:r>
              </a:p>
            </p:txBody>
          </p:sp>
          <p:sp>
            <p:nvSpPr>
              <p:cNvPr id="50" name="TextBox 50"/>
              <p:cNvSpPr txBox="1"/>
              <p:nvPr/>
            </p:nvSpPr>
            <p:spPr>
              <a:xfrm>
                <a:off x="9390307" y="5568950"/>
                <a:ext cx="88411" cy="205359"/>
              </a:xfrm>
              <a:prstGeom prst="rect">
                <a:avLst/>
              </a:prstGeom>
              <a:noFill/>
              <a:ln>
                <a:noFill/>
              </a:ln>
            </p:spPr>
            <p:txBody>
              <a:bodyPr wrap="none" lIns="0" tIns="0" rIns="0" bIns="0" anchor="t" anchorCtr="0">
                <a:spAutoFit/>
              </a:bodyPr>
              <a:lstStyle/>
              <a:p>
                <a:pPr algn="ctr"/>
                <a:r>
                  <a:rPr lang="vi-VN" sz="1050" dirty="0">
                    <a:solidFill>
                      <a:schemeClr val="accent5"/>
                    </a:solidFill>
                    <a:latin typeface="+mn-lt"/>
                    <a:ea typeface="+mn-ea"/>
                    <a:cs typeface="+mn-cs"/>
                  </a:rPr>
                  <a:t>2</a:t>
                </a:r>
              </a:p>
            </p:txBody>
          </p:sp>
          <p:sp>
            <p:nvSpPr>
              <p:cNvPr id="51" name="TextBox 51"/>
              <p:cNvSpPr txBox="1"/>
              <p:nvPr/>
            </p:nvSpPr>
            <p:spPr>
              <a:xfrm>
                <a:off x="10619032" y="5568950"/>
                <a:ext cx="88411" cy="205359"/>
              </a:xfrm>
              <a:prstGeom prst="rect">
                <a:avLst/>
              </a:prstGeom>
              <a:noFill/>
              <a:ln>
                <a:noFill/>
              </a:ln>
            </p:spPr>
            <p:txBody>
              <a:bodyPr wrap="none" lIns="0" tIns="0" rIns="0" bIns="0" anchor="t" anchorCtr="0">
                <a:spAutoFit/>
              </a:bodyPr>
              <a:lstStyle/>
              <a:p>
                <a:pPr algn="ctr"/>
                <a:r>
                  <a:rPr lang="vi-VN" sz="1050" dirty="0">
                    <a:solidFill>
                      <a:schemeClr val="accent5"/>
                    </a:solidFill>
                    <a:latin typeface="+mn-lt"/>
                    <a:ea typeface="+mn-ea"/>
                    <a:cs typeface="+mn-cs"/>
                  </a:rPr>
                  <a:t>3</a:t>
                </a:r>
              </a:p>
            </p:txBody>
          </p:sp>
          <p:sp>
            <p:nvSpPr>
              <p:cNvPr id="52" name="TextBox 52"/>
              <p:cNvSpPr txBox="1"/>
              <p:nvPr/>
            </p:nvSpPr>
            <p:spPr>
              <a:xfrm rot="-5400000">
                <a:off x="5416460" y="4719161"/>
                <a:ext cx="823458" cy="220028"/>
              </a:xfrm>
              <a:prstGeom prst="rect">
                <a:avLst/>
              </a:prstGeom>
              <a:noFill/>
              <a:ln>
                <a:noFill/>
              </a:ln>
            </p:spPr>
            <p:txBody>
              <a:bodyPr wrap="none" lIns="0" tIns="0" rIns="0" bIns="0" anchor="t" anchorCtr="0">
                <a:spAutoFit/>
              </a:bodyPr>
              <a:lstStyle/>
              <a:p>
                <a:pPr algn="ctr"/>
                <a:r>
                  <a:rPr lang="vi-VN" sz="1120" dirty="0">
                    <a:solidFill>
                      <a:schemeClr val="dk1"/>
                    </a:solidFill>
                    <a:latin typeface="+mn-lt"/>
                    <a:ea typeface="+mn-ea"/>
                    <a:cs typeface="+mn-cs"/>
                  </a:rPr>
                  <a:t>Điện áp (V)</a:t>
                </a:r>
              </a:p>
            </p:txBody>
          </p:sp>
          <p:sp>
            <p:nvSpPr>
              <p:cNvPr id="53" name="TextBox 53"/>
              <p:cNvSpPr txBox="1"/>
              <p:nvPr/>
            </p:nvSpPr>
            <p:spPr>
              <a:xfrm>
                <a:off x="8615187" y="5784850"/>
                <a:ext cx="295626" cy="220028"/>
              </a:xfrm>
              <a:prstGeom prst="rect">
                <a:avLst/>
              </a:prstGeom>
              <a:noFill/>
              <a:ln>
                <a:noFill/>
              </a:ln>
            </p:spPr>
            <p:txBody>
              <a:bodyPr wrap="none" lIns="0" tIns="0" rIns="0" bIns="0" anchor="t" anchorCtr="0">
                <a:spAutoFit/>
              </a:bodyPr>
              <a:lstStyle/>
              <a:p>
                <a:pPr algn="ctr"/>
                <a:r>
                  <a:rPr lang="vi-VN" sz="1120" dirty="0">
                    <a:solidFill>
                      <a:schemeClr val="dk1"/>
                    </a:solidFill>
                    <a:latin typeface="+mn-lt"/>
                    <a:ea typeface="+mn-ea"/>
                    <a:cs typeface="+mn-cs"/>
                  </a:rPr>
                  <a:t>Mẫu</a:t>
                </a:r>
              </a:p>
            </p:txBody>
          </p:sp>
          <p:sp>
            <p:nvSpPr>
              <p:cNvPr id="54" name="Polyline 54"/>
              <p:cNvSpPr/>
              <p:nvPr/>
            </p:nvSpPr>
            <p:spPr>
              <a:xfrm>
                <a:off x="6977062" y="4332922"/>
                <a:ext cx="3686175" cy="721995"/>
              </a:xfrm>
              <a:custGeom>
                <a:avLst/>
                <a:gdLst/>
                <a:ahLst/>
                <a:cxnLst/>
                <a:rect l="l" t="t" r="r" b="b"/>
                <a:pathLst>
                  <a:path w="3686175" h="721995">
                    <a:moveTo>
                      <a:pt x="0" y="721995"/>
                    </a:moveTo>
                    <a:lnTo>
                      <a:pt x="1228725" y="383858"/>
                    </a:lnTo>
                    <a:lnTo>
                      <a:pt x="2457450" y="473393"/>
                    </a:lnTo>
                    <a:lnTo>
                      <a:pt x="3686175" y="0"/>
                    </a:lnTo>
                  </a:path>
                </a:pathLst>
              </a:custGeom>
              <a:noFill/>
              <a:ln w="28575">
                <a:solidFill>
                  <a:schemeClr val="accent2"/>
                </a:solidFill>
              </a:ln>
            </p:spPr>
          </p:sp>
          <p:sp>
            <p:nvSpPr>
              <p:cNvPr id="55" name="Ellipse 55"/>
              <p:cNvSpPr/>
              <p:nvPr/>
            </p:nvSpPr>
            <p:spPr>
              <a:xfrm>
                <a:off x="6929438" y="5007292"/>
                <a:ext cx="95250" cy="95250"/>
              </a:xfrm>
              <a:prstGeom prst="ellipse">
                <a:avLst/>
              </a:prstGeom>
              <a:solidFill>
                <a:schemeClr val="accent2"/>
              </a:solidFill>
              <a:ln>
                <a:noFill/>
              </a:ln>
            </p:spPr>
          </p:sp>
          <p:sp>
            <p:nvSpPr>
              <p:cNvPr id="56" name="Ellipse 56"/>
              <p:cNvSpPr/>
              <p:nvPr/>
            </p:nvSpPr>
            <p:spPr>
              <a:xfrm>
                <a:off x="8158162" y="4669155"/>
                <a:ext cx="95250" cy="95250"/>
              </a:xfrm>
              <a:prstGeom prst="ellipse">
                <a:avLst/>
              </a:prstGeom>
              <a:solidFill>
                <a:schemeClr val="accent2"/>
              </a:solidFill>
              <a:ln>
                <a:noFill/>
              </a:ln>
            </p:spPr>
          </p:sp>
          <p:sp>
            <p:nvSpPr>
              <p:cNvPr id="57" name="Ellipse 57"/>
              <p:cNvSpPr/>
              <p:nvPr/>
            </p:nvSpPr>
            <p:spPr>
              <a:xfrm>
                <a:off x="9386888" y="4758690"/>
                <a:ext cx="95250" cy="95250"/>
              </a:xfrm>
              <a:prstGeom prst="ellipse">
                <a:avLst/>
              </a:prstGeom>
              <a:solidFill>
                <a:schemeClr val="accent2"/>
              </a:solidFill>
              <a:ln>
                <a:noFill/>
              </a:ln>
            </p:spPr>
          </p:sp>
          <p:sp>
            <p:nvSpPr>
              <p:cNvPr id="58" name="Ellipse 58"/>
              <p:cNvSpPr/>
              <p:nvPr/>
            </p:nvSpPr>
            <p:spPr>
              <a:xfrm>
                <a:off x="10615612" y="4285298"/>
                <a:ext cx="95250" cy="95250"/>
              </a:xfrm>
              <a:prstGeom prst="ellipse">
                <a:avLst/>
              </a:prstGeom>
              <a:solidFill>
                <a:schemeClr val="accent2"/>
              </a:solidFill>
              <a:ln>
                <a:noFill/>
              </a:ln>
            </p:spPr>
          </p:sp>
          <p:sp>
            <p:nvSpPr>
              <p:cNvPr id="59" name="TextBox 59"/>
              <p:cNvSpPr txBox="1"/>
              <p:nvPr/>
            </p:nvSpPr>
            <p:spPr>
              <a:xfrm>
                <a:off x="6797203" y="4765675"/>
                <a:ext cx="359719" cy="220028"/>
              </a:xfrm>
              <a:prstGeom prst="rect">
                <a:avLst/>
              </a:prstGeom>
              <a:noFill/>
              <a:ln>
                <a:noFill/>
              </a:ln>
            </p:spPr>
            <p:txBody>
              <a:bodyPr wrap="none" lIns="0" tIns="0" rIns="0" bIns="0" anchor="t" anchorCtr="0">
                <a:spAutoFit/>
              </a:bodyPr>
              <a:lstStyle/>
              <a:p>
                <a:pPr algn="ctr"/>
                <a:r>
                  <a:rPr lang="vi-VN" sz="1120" b="1" dirty="0">
                    <a:solidFill>
                      <a:schemeClr val="accent1"/>
                    </a:solidFill>
                    <a:latin typeface="+mn-lt"/>
                    <a:ea typeface="+mn-ea"/>
                    <a:cs typeface="+mn-cs"/>
                  </a:rPr>
                  <a:t>0.20</a:t>
                </a:r>
              </a:p>
            </p:txBody>
          </p:sp>
          <p:sp>
            <p:nvSpPr>
              <p:cNvPr id="60" name="TextBox 60"/>
              <p:cNvSpPr txBox="1"/>
              <p:nvPr/>
            </p:nvSpPr>
            <p:spPr>
              <a:xfrm>
                <a:off x="8025928" y="4422775"/>
                <a:ext cx="359719" cy="220028"/>
              </a:xfrm>
              <a:prstGeom prst="rect">
                <a:avLst/>
              </a:prstGeom>
              <a:noFill/>
              <a:ln>
                <a:noFill/>
              </a:ln>
            </p:spPr>
            <p:txBody>
              <a:bodyPr wrap="none" lIns="0" tIns="0" rIns="0" bIns="0" anchor="t" anchorCtr="0">
                <a:spAutoFit/>
              </a:bodyPr>
              <a:lstStyle/>
              <a:p>
                <a:pPr algn="ctr"/>
                <a:r>
                  <a:rPr lang="vi-VN" sz="1120" b="1" dirty="0">
                    <a:solidFill>
                      <a:schemeClr val="accent1"/>
                    </a:solidFill>
                    <a:latin typeface="+mn-lt"/>
                    <a:ea typeface="+mn-ea"/>
                    <a:cs typeface="+mn-cs"/>
                  </a:rPr>
                  <a:t>0.35</a:t>
                </a:r>
              </a:p>
            </p:txBody>
          </p:sp>
          <p:sp>
            <p:nvSpPr>
              <p:cNvPr id="61" name="TextBox 61"/>
              <p:cNvSpPr txBox="1"/>
              <p:nvPr/>
            </p:nvSpPr>
            <p:spPr>
              <a:xfrm>
                <a:off x="9254653" y="4518025"/>
                <a:ext cx="359719" cy="220028"/>
              </a:xfrm>
              <a:prstGeom prst="rect">
                <a:avLst/>
              </a:prstGeom>
              <a:noFill/>
              <a:ln>
                <a:noFill/>
              </a:ln>
            </p:spPr>
            <p:txBody>
              <a:bodyPr wrap="none" lIns="0" tIns="0" rIns="0" bIns="0" anchor="t" anchorCtr="0">
                <a:spAutoFit/>
              </a:bodyPr>
              <a:lstStyle/>
              <a:p>
                <a:pPr algn="ctr"/>
                <a:r>
                  <a:rPr lang="vi-VN" sz="1120" b="1" dirty="0">
                    <a:solidFill>
                      <a:schemeClr val="accent1"/>
                    </a:solidFill>
                    <a:latin typeface="+mn-lt"/>
                    <a:ea typeface="+mn-ea"/>
                    <a:cs typeface="+mn-cs"/>
                  </a:rPr>
                  <a:t>0.31</a:t>
                </a:r>
              </a:p>
            </p:txBody>
          </p:sp>
          <p:sp>
            <p:nvSpPr>
              <p:cNvPr id="62" name="TextBox 62"/>
              <p:cNvSpPr txBox="1"/>
              <p:nvPr/>
            </p:nvSpPr>
            <p:spPr>
              <a:xfrm>
                <a:off x="10483378" y="4041775"/>
                <a:ext cx="359719" cy="220028"/>
              </a:xfrm>
              <a:prstGeom prst="rect">
                <a:avLst/>
              </a:prstGeom>
              <a:noFill/>
              <a:ln>
                <a:noFill/>
              </a:ln>
            </p:spPr>
            <p:txBody>
              <a:bodyPr wrap="none" lIns="0" tIns="0" rIns="0" bIns="0" anchor="t" anchorCtr="0">
                <a:spAutoFit/>
              </a:bodyPr>
              <a:lstStyle/>
              <a:p>
                <a:pPr algn="ctr"/>
                <a:r>
                  <a:rPr lang="vi-VN" sz="1120" b="1" dirty="0">
                    <a:solidFill>
                      <a:schemeClr val="accent1"/>
                    </a:solidFill>
                    <a:latin typeface="+mn-lt"/>
                    <a:ea typeface="+mn-ea"/>
                    <a:cs typeface="+mn-cs"/>
                  </a:rPr>
                  <a:t>0.52</a:t>
                </a:r>
              </a:p>
            </p:txBody>
          </p:sp>
        </p:grpSp>
      </p:grpSp>
      <p:grpSp>
        <p:nvGrpSpPr>
          <p:cNvPr id="67" name="page-footer"/>
          <p:cNvGrpSpPr/>
          <p:nvPr/>
        </p:nvGrpSpPr>
        <p:grpSpPr>
          <a:xfrm>
            <a:off x="679704" y="6429375"/>
            <a:ext cx="10832592" cy="234696"/>
            <a:chOff x="679704" y="6429375"/>
            <a:chExt cx="10832592" cy="234696"/>
          </a:xfrm>
        </p:grpSpPr>
        <p:sp>
          <p:nvSpPr>
            <p:cNvPr id="65" name="TextBox 65"/>
            <p:cNvSpPr txBox="1"/>
            <p:nvPr/>
          </p:nvSpPr>
          <p:spPr>
            <a:xfrm>
              <a:off x="679704" y="6429375"/>
              <a:ext cx="3545434" cy="234696"/>
            </a:xfrm>
            <a:prstGeom prst="rect">
              <a:avLst/>
            </a:prstGeom>
            <a:noFill/>
            <a:ln>
              <a:noFill/>
            </a:ln>
          </p:spPr>
          <p:txBody>
            <a:bodyPr wrap="none" lIns="0" tIns="0" rIns="0" bIns="0" anchor="t" anchorCtr="0">
              <a:spAutoFit/>
            </a:bodyPr>
            <a:lstStyle/>
            <a:p>
              <a:pPr algn="l"/>
              <a:r>
                <a:rPr lang="vi-VN" sz="1200" dirty="0">
                  <a:solidFill>
                    <a:schemeClr val="accent5"/>
                  </a:solidFill>
                  <a:latin typeface="+mn-lt"/>
                  <a:ea typeface="+mn-ea"/>
                  <a:cs typeface="+mn-cs"/>
                </a:rPr>
                <a:t>MATPLOTLIB · CSV HEADER → KEY → GIÁ TRỊ SỐ</a:t>
              </a:r>
            </a:p>
          </p:txBody>
        </p:sp>
        <p:sp>
          <p:nvSpPr>
            <p:cNvPr id="66" name="TextBox 66"/>
            <p:cNvSpPr txBox="1"/>
            <p:nvPr/>
          </p:nvSpPr>
          <p:spPr>
            <a:xfrm>
              <a:off x="10958932" y="6429375"/>
              <a:ext cx="553364" cy="234696"/>
            </a:xfrm>
            <a:prstGeom prst="rect">
              <a:avLst/>
            </a:prstGeom>
            <a:noFill/>
            <a:ln>
              <a:noFill/>
            </a:ln>
          </p:spPr>
          <p:txBody>
            <a:bodyPr wrap="none" lIns="0" tIns="0" rIns="0" bIns="0" anchor="t" anchorCtr="0">
              <a:spAutoFit/>
            </a:bodyPr>
            <a:lstStyle/>
            <a:p>
              <a:pPr algn="r"/>
              <a:r>
                <a:rPr lang="vi-VN" sz="1200" dirty="0">
                  <a:solidFill>
                    <a:schemeClr val="accent5"/>
                  </a:solidFill>
                  <a:latin typeface="+mn-lt"/>
                  <a:ea typeface="+mn-ea"/>
                  <a:cs typeface="+mn-cs"/>
                </a:rPr>
                <a:t>20 / 25</a:t>
              </a:r>
            </a:p>
          </p:txBody>
        </p:sp>
      </p:grpSp>
    </p:spTree>
  </p:cSld>
  <p:clrMapOvr>
    <a:masterClrMapping/>
  </p:clrMapOvr>
  <p:transition xmlns:p14="http://schemas.microsoft.com/office/powerpoint/2010/main" p14:dur="400">
    <p:fade/>
  </p:transition>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page-title"/>
          <p:cNvGrpSpPr/>
          <p:nvPr/>
        </p:nvGrpSpPr>
        <p:grpSpPr>
          <a:xfrm>
            <a:off x="669798" y="520700"/>
            <a:ext cx="10836402" cy="955675"/>
            <a:chOff x="669798" y="520700"/>
            <a:chExt cx="10836402" cy="955675"/>
          </a:xfrm>
        </p:grpSpPr>
        <p:sp>
          <p:nvSpPr>
            <p:cNvPr id="2" name="TextBox 2"/>
            <p:cNvSpPr txBox="1"/>
            <p:nvPr/>
          </p:nvSpPr>
          <p:spPr>
            <a:xfrm>
              <a:off x="678942" y="520700"/>
              <a:ext cx="1606555" cy="264033"/>
            </a:xfrm>
            <a:prstGeom prst="rect">
              <a:avLst/>
            </a:prstGeom>
            <a:noFill/>
            <a:ln>
              <a:noFill/>
            </a:ln>
          </p:spPr>
          <p:txBody>
            <a:bodyPr wrap="none" lIns="0" tIns="0" rIns="0" bIns="0" anchor="t" anchorCtr="0">
              <a:spAutoFit/>
            </a:bodyPr>
            <a:lstStyle/>
            <a:p>
              <a:pPr algn="l"/>
              <a:r>
                <a:rPr lang="vi-VN" sz="1350" b="1" dirty="0">
                  <a:solidFill>
                    <a:schemeClr val="accent3"/>
                  </a:solidFill>
                  <a:latin typeface="+mn-lt"/>
                  <a:ea typeface="+mn-ea"/>
                  <a:cs typeface="+mn-cs"/>
                </a:rPr>
                <a:t>05 · MATPLOTLIB</a:t>
              </a:r>
            </a:p>
          </p:txBody>
        </p:sp>
        <p:sp>
          <p:nvSpPr>
            <p:cNvPr id="3" name="TextBox 3"/>
            <p:cNvSpPr txBox="1"/>
            <p:nvPr/>
          </p:nvSpPr>
          <p:spPr>
            <a:xfrm>
              <a:off x="669798" y="838200"/>
              <a:ext cx="8634476" cy="616077"/>
            </a:xfrm>
            <a:prstGeom prst="rect">
              <a:avLst/>
            </a:prstGeom>
            <a:noFill/>
            <a:ln>
              <a:noFill/>
            </a:ln>
          </p:spPr>
          <p:txBody>
            <a:bodyPr wrap="none" lIns="0" tIns="0" rIns="0" bIns="0" anchor="t" anchorCtr="0">
              <a:spAutoFit/>
            </a:bodyPr>
            <a:lstStyle/>
            <a:p>
              <a:pPr algn="l"/>
              <a:r>
                <a:rPr lang="vi-VN" sz="3150" b="1" dirty="0">
                  <a:solidFill>
                    <a:schemeClr val="accent1"/>
                  </a:solidFill>
                  <a:latin typeface="+mn-lt"/>
                  <a:ea typeface="+mn-ea"/>
                  <a:cs typeface="+mn-cs"/>
                </a:rPr>
                <a:t>Matplotlib 3 — Khởi tạo biểu đồ trực tiếp</a:t>
              </a:r>
            </a:p>
          </p:txBody>
        </p:sp>
        <p:sp>
          <p:nvSpPr>
            <p:cNvPr id="4" name="Line 4"/>
            <p:cNvSpPr/>
            <p:nvPr/>
          </p:nvSpPr>
          <p:spPr>
            <a:xfrm>
              <a:off x="685800" y="1466850"/>
              <a:ext cx="10820400" cy="9525"/>
            </a:xfrm>
            <a:custGeom>
              <a:avLst/>
              <a:gdLst/>
              <a:ahLst/>
              <a:cxnLst/>
              <a:rect l="l" t="t" r="r" b="b"/>
              <a:pathLst>
                <a:path w="10820400" h="9525">
                  <a:moveTo>
                    <a:pt x="0" y="0"/>
                  </a:moveTo>
                  <a:lnTo>
                    <a:pt x="10820400" y="0"/>
                  </a:lnTo>
                </a:path>
              </a:pathLst>
            </a:custGeom>
            <a:noFill/>
            <a:ln w="14288">
              <a:solidFill>
                <a:schemeClr val="accent6"/>
              </a:solidFill>
            </a:ln>
          </p:spPr>
        </p:sp>
      </p:grpSp>
      <p:grpSp>
        <p:nvGrpSpPr>
          <p:cNvPr id="19" name="live-setup-code"/>
          <p:cNvGrpSpPr/>
          <p:nvPr/>
        </p:nvGrpSpPr>
        <p:grpSpPr>
          <a:xfrm>
            <a:off x="678942" y="1930400"/>
            <a:ext cx="5226558" cy="3940683"/>
            <a:chOff x="678942" y="1930400"/>
            <a:chExt cx="5226558" cy="3940683"/>
          </a:xfrm>
        </p:grpSpPr>
        <p:sp>
          <p:nvSpPr>
            <p:cNvPr id="6" name="TextBox 6"/>
            <p:cNvSpPr txBox="1"/>
            <p:nvPr/>
          </p:nvSpPr>
          <p:spPr>
            <a:xfrm>
              <a:off x="678942" y="1930400"/>
              <a:ext cx="2685250" cy="264033"/>
            </a:xfrm>
            <a:prstGeom prst="rect">
              <a:avLst/>
            </a:prstGeom>
            <a:noFill/>
            <a:ln>
              <a:noFill/>
            </a:ln>
          </p:spPr>
          <p:txBody>
            <a:bodyPr wrap="none" lIns="0" tIns="0" rIns="0" bIns="0" anchor="t" anchorCtr="0">
              <a:spAutoFit/>
            </a:bodyPr>
            <a:lstStyle/>
            <a:p>
              <a:pPr algn="l"/>
              <a:r>
                <a:rPr lang="vi-VN" sz="1350" b="1" dirty="0">
                  <a:solidFill>
                    <a:schemeClr val="accent5"/>
                  </a:solidFill>
                  <a:latin typeface="+mn-lt"/>
                  <a:ea typeface="+mn-ea"/>
                  <a:cs typeface="+mn-cs"/>
                </a:rPr>
                <a:t>TẠO CÁC ĐỐI TƯỢNG MỘT LẦN</a:t>
              </a:r>
            </a:p>
          </p:txBody>
        </p:sp>
        <p:sp>
          <p:nvSpPr>
            <p:cNvPr id="7" name="Rectangle 7"/>
            <p:cNvSpPr/>
            <p:nvPr/>
          </p:nvSpPr>
          <p:spPr>
            <a:xfrm>
              <a:off x="685800" y="2305050"/>
              <a:ext cx="5219700" cy="3276600"/>
            </a:xfrm>
            <a:prstGeom prst="roundRect">
              <a:avLst>
                <a:gd name="adj" fmla="val 1744"/>
              </a:avLst>
            </a:prstGeom>
            <a:solidFill>
              <a:schemeClr val="lt2"/>
            </a:solidFill>
            <a:ln>
              <a:noFill/>
            </a:ln>
          </p:spPr>
        </p:sp>
        <p:sp>
          <p:nvSpPr>
            <p:cNvPr id="8" name="TextBox 8"/>
            <p:cNvSpPr txBox="1"/>
            <p:nvPr/>
          </p:nvSpPr>
          <p:spPr>
            <a:xfrm>
              <a:off x="907923" y="2533650"/>
              <a:ext cx="2950901" cy="250317"/>
            </a:xfrm>
            <a:prstGeom prst="rect">
              <a:avLst/>
            </a:prstGeom>
            <a:noFill/>
            <a:ln>
              <a:noFill/>
            </a:ln>
          </p:spPr>
          <p:txBody>
            <a:bodyPr wrap="none" lIns="0" tIns="0" rIns="0" bIns="0" anchor="t" anchorCtr="0">
              <a:spAutoFit/>
            </a:bodyPr>
            <a:lstStyle/>
            <a:p>
              <a:pPr algn="l"/>
              <a:r>
                <a:rPr lang="vi-VN" sz="1280" dirty="0">
                  <a:solidFill>
                    <a:schemeClr val="accent1"/>
                  </a:solidFill>
                  <a:latin typeface="Consolas"/>
                  <a:ea typeface="Consolas"/>
                  <a:cs typeface="Consolas"/>
                </a:rPr>
                <a:t>import matplotlib.pyplot as plt</a:t>
              </a:r>
            </a:p>
          </p:txBody>
        </p:sp>
        <p:sp>
          <p:nvSpPr>
            <p:cNvPr id="9" name="TextBox 9"/>
            <p:cNvSpPr txBox="1"/>
            <p:nvPr/>
          </p:nvSpPr>
          <p:spPr>
            <a:xfrm>
              <a:off x="907923" y="2857500"/>
              <a:ext cx="865906" cy="250317"/>
            </a:xfrm>
            <a:prstGeom prst="rect">
              <a:avLst/>
            </a:prstGeom>
            <a:noFill/>
            <a:ln>
              <a:noFill/>
            </a:ln>
          </p:spPr>
          <p:txBody>
            <a:bodyPr wrap="none" lIns="0" tIns="0" rIns="0" bIns="0" anchor="t" anchorCtr="0">
              <a:spAutoFit/>
            </a:bodyPr>
            <a:lstStyle/>
            <a:p>
              <a:pPr algn="l"/>
              <a:r>
                <a:rPr lang="vi-VN" sz="1280" dirty="0">
                  <a:solidFill>
                    <a:schemeClr val="dk1"/>
                  </a:solidFill>
                  <a:latin typeface="Consolas"/>
                  <a:ea typeface="Consolas"/>
                  <a:cs typeface="Consolas"/>
                </a:rPr>
                <a:t>plt.ion()</a:t>
              </a:r>
            </a:p>
          </p:txBody>
        </p:sp>
        <p:sp>
          <p:nvSpPr>
            <p:cNvPr id="10" name="TextBox 10"/>
            <p:cNvSpPr txBox="1"/>
            <p:nvPr/>
          </p:nvSpPr>
          <p:spPr>
            <a:xfrm>
              <a:off x="907923" y="3181350"/>
              <a:ext cx="2097949" cy="250317"/>
            </a:xfrm>
            <a:prstGeom prst="rect">
              <a:avLst/>
            </a:prstGeom>
            <a:noFill/>
            <a:ln>
              <a:noFill/>
            </a:ln>
          </p:spPr>
          <p:txBody>
            <a:bodyPr wrap="none" lIns="0" tIns="0" rIns="0" bIns="0" anchor="t" anchorCtr="0">
              <a:spAutoFit/>
            </a:bodyPr>
            <a:lstStyle/>
            <a:p>
              <a:pPr algn="l"/>
              <a:r>
                <a:rPr lang="vi-VN" sz="1280" dirty="0">
                  <a:solidFill>
                    <a:schemeClr val="dk1"/>
                  </a:solidFill>
                  <a:latin typeface="Consolas"/>
                  <a:ea typeface="Consolas"/>
                  <a:cs typeface="Consolas"/>
                </a:rPr>
                <a:t>times, values = [], []</a:t>
              </a:r>
            </a:p>
          </p:txBody>
        </p:sp>
        <p:sp>
          <p:nvSpPr>
            <p:cNvPr id="11" name="TextBox 11"/>
            <p:cNvSpPr txBox="1"/>
            <p:nvPr/>
          </p:nvSpPr>
          <p:spPr>
            <a:xfrm>
              <a:off x="907923" y="3505200"/>
              <a:ext cx="2287494" cy="250317"/>
            </a:xfrm>
            <a:prstGeom prst="rect">
              <a:avLst/>
            </a:prstGeom>
            <a:noFill/>
            <a:ln>
              <a:noFill/>
            </a:ln>
          </p:spPr>
          <p:txBody>
            <a:bodyPr wrap="none" lIns="0" tIns="0" rIns="0" bIns="0" anchor="t" anchorCtr="0">
              <a:spAutoFit/>
            </a:bodyPr>
            <a:lstStyle/>
            <a:p>
              <a:pPr algn="l"/>
              <a:r>
                <a:rPr lang="vi-VN" sz="1280" dirty="0">
                  <a:solidFill>
                    <a:schemeClr val="dk1"/>
                  </a:solidFill>
                  <a:latin typeface="Consolas"/>
                  <a:ea typeface="Consolas"/>
                  <a:cs typeface="Consolas"/>
                </a:rPr>
                <a:t>fig, ax = plt.subplots()</a:t>
              </a:r>
            </a:p>
          </p:txBody>
        </p:sp>
        <p:sp>
          <p:nvSpPr>
            <p:cNvPr id="12" name="TextBox 12"/>
            <p:cNvSpPr txBox="1"/>
            <p:nvPr/>
          </p:nvSpPr>
          <p:spPr>
            <a:xfrm>
              <a:off x="907923" y="3829050"/>
              <a:ext cx="3329991" cy="250317"/>
            </a:xfrm>
            <a:prstGeom prst="rect">
              <a:avLst/>
            </a:prstGeom>
            <a:noFill/>
            <a:ln>
              <a:noFill/>
            </a:ln>
          </p:spPr>
          <p:txBody>
            <a:bodyPr wrap="none" lIns="0" tIns="0" rIns="0" bIns="0" anchor="t" anchorCtr="0">
              <a:spAutoFit/>
            </a:bodyPr>
            <a:lstStyle/>
            <a:p>
              <a:pPr algn="l"/>
              <a:r>
                <a:rPr lang="vi-VN" sz="1280" dirty="0">
                  <a:solidFill>
                    <a:schemeClr val="dk1"/>
                  </a:solidFill>
                  <a:latin typeface="Consolas"/>
                  <a:ea typeface="Consolas"/>
                  <a:cs typeface="Consolas"/>
                </a:rPr>
                <a:t>line, = ax.plot([], [], marker="o",</a:t>
              </a:r>
            </a:p>
          </p:txBody>
        </p:sp>
        <p:sp>
          <p:nvSpPr>
            <p:cNvPr id="13" name="TextBox 13"/>
            <p:cNvSpPr txBox="1"/>
            <p:nvPr/>
          </p:nvSpPr>
          <p:spPr>
            <a:xfrm>
              <a:off x="2470023" y="4095750"/>
              <a:ext cx="1576131" cy="250317"/>
            </a:xfrm>
            <a:prstGeom prst="rect">
              <a:avLst/>
            </a:prstGeom>
            <a:noFill/>
            <a:ln>
              <a:noFill/>
            </a:ln>
          </p:spPr>
          <p:txBody>
            <a:bodyPr wrap="none" lIns="0" tIns="0" rIns="0" bIns="0" anchor="t" anchorCtr="0">
              <a:spAutoFit/>
            </a:bodyPr>
            <a:lstStyle/>
            <a:p>
              <a:pPr algn="l"/>
              <a:r>
                <a:rPr lang="vi-VN" sz="1280" dirty="0">
                  <a:solidFill>
                    <a:schemeClr val="dk1"/>
                  </a:solidFill>
                  <a:latin typeface="Consolas"/>
                  <a:ea typeface="Consolas"/>
                  <a:cs typeface="Consolas"/>
                </a:rPr>
                <a:t>label="VOLT:DC")</a:t>
              </a:r>
            </a:p>
          </p:txBody>
        </p:sp>
        <p:sp>
          <p:nvSpPr>
            <p:cNvPr id="14" name="TextBox 14"/>
            <p:cNvSpPr txBox="1"/>
            <p:nvPr/>
          </p:nvSpPr>
          <p:spPr>
            <a:xfrm>
              <a:off x="907923" y="4419600"/>
              <a:ext cx="4018432" cy="250317"/>
            </a:xfrm>
            <a:prstGeom prst="rect">
              <a:avLst/>
            </a:prstGeom>
            <a:noFill/>
            <a:ln>
              <a:noFill/>
            </a:ln>
          </p:spPr>
          <p:txBody>
            <a:bodyPr wrap="none" lIns="0" tIns="0" rIns="0" bIns="0" anchor="t" anchorCtr="0">
              <a:spAutoFit/>
            </a:bodyPr>
            <a:lstStyle/>
            <a:p>
              <a:pPr algn="l"/>
              <a:r>
                <a:rPr lang="vi-VN" sz="1280" dirty="0">
                  <a:solidFill>
                    <a:schemeClr val="dk1"/>
                  </a:solidFill>
                  <a:latin typeface="Consolas"/>
                  <a:ea typeface="Consolas"/>
                  <a:cs typeface="Consolas"/>
                </a:rPr>
                <a:t>ax.set(xlabel="Mẫu", ylabel="Điện áp (V)",</a:t>
              </a:r>
            </a:p>
          </p:txBody>
        </p:sp>
        <p:sp>
          <p:nvSpPr>
            <p:cNvPr id="15" name="TextBox 15"/>
            <p:cNvSpPr txBox="1"/>
            <p:nvPr/>
          </p:nvSpPr>
          <p:spPr>
            <a:xfrm>
              <a:off x="1593723" y="4686300"/>
              <a:ext cx="1537117" cy="250317"/>
            </a:xfrm>
            <a:prstGeom prst="rect">
              <a:avLst/>
            </a:prstGeom>
            <a:noFill/>
            <a:ln>
              <a:noFill/>
            </a:ln>
          </p:spPr>
          <p:txBody>
            <a:bodyPr wrap="none" lIns="0" tIns="0" rIns="0" bIns="0" anchor="t" anchorCtr="0">
              <a:spAutoFit/>
            </a:bodyPr>
            <a:lstStyle/>
            <a:p>
              <a:pPr algn="l"/>
              <a:r>
                <a:rPr lang="vi-VN" sz="1280" dirty="0">
                  <a:solidFill>
                    <a:schemeClr val="dk1"/>
                  </a:solidFill>
                  <a:latin typeface="Consolas"/>
                  <a:ea typeface="Consolas"/>
                  <a:cs typeface="Consolas"/>
                </a:rPr>
                <a:t>title="Đang đo")</a:t>
              </a:r>
            </a:p>
          </p:txBody>
        </p:sp>
        <p:sp>
          <p:nvSpPr>
            <p:cNvPr id="16" name="TextBox 16"/>
            <p:cNvSpPr txBox="1"/>
            <p:nvPr/>
          </p:nvSpPr>
          <p:spPr>
            <a:xfrm>
              <a:off x="907923" y="5010150"/>
              <a:ext cx="2484787" cy="250317"/>
            </a:xfrm>
            <a:prstGeom prst="rect">
              <a:avLst/>
            </a:prstGeom>
            <a:noFill/>
            <a:ln>
              <a:noFill/>
            </a:ln>
          </p:spPr>
          <p:txBody>
            <a:bodyPr wrap="none" lIns="0" tIns="0" rIns="0" bIns="0" anchor="t" anchorCtr="0">
              <a:spAutoFit/>
            </a:bodyPr>
            <a:lstStyle/>
            <a:p>
              <a:pPr algn="l"/>
              <a:r>
                <a:rPr lang="vi-VN" sz="1280" dirty="0">
                  <a:solidFill>
                    <a:schemeClr val="dk1"/>
                  </a:solidFill>
                  <a:latin typeface="Consolas"/>
                  <a:ea typeface="Consolas"/>
                  <a:cs typeface="Consolas"/>
                </a:rPr>
                <a:t>ax.grid(True); ax.legend()</a:t>
              </a:r>
            </a:p>
          </p:txBody>
        </p:sp>
        <p:sp>
          <p:nvSpPr>
            <p:cNvPr id="17" name="TextBox 17"/>
            <p:cNvSpPr txBox="1"/>
            <p:nvPr/>
          </p:nvSpPr>
          <p:spPr>
            <a:xfrm>
              <a:off x="907923" y="5334000"/>
              <a:ext cx="2009803" cy="250317"/>
            </a:xfrm>
            <a:prstGeom prst="rect">
              <a:avLst/>
            </a:prstGeom>
            <a:noFill/>
            <a:ln>
              <a:noFill/>
            </a:ln>
          </p:spPr>
          <p:txBody>
            <a:bodyPr wrap="none" lIns="0" tIns="0" rIns="0" bIns="0" anchor="t" anchorCtr="0">
              <a:spAutoFit/>
            </a:bodyPr>
            <a:lstStyle/>
            <a:p>
              <a:pPr algn="l"/>
              <a:r>
                <a:rPr lang="vi-VN" sz="1280" dirty="0">
                  <a:solidFill>
                    <a:schemeClr val="accent2"/>
                  </a:solidFill>
                  <a:latin typeface="Consolas"/>
                  <a:ea typeface="Consolas"/>
                  <a:cs typeface="Consolas"/>
                </a:rPr>
                <a:t>plt.show(block=False)</a:t>
              </a:r>
            </a:p>
          </p:txBody>
        </p:sp>
        <p:sp>
          <p:nvSpPr>
            <p:cNvPr id="18" name="TextBox 18"/>
            <p:cNvSpPr txBox="1"/>
            <p:nvPr/>
          </p:nvSpPr>
          <p:spPr>
            <a:xfrm>
              <a:off x="678942" y="5607050"/>
              <a:ext cx="4547988" cy="264033"/>
            </a:xfrm>
            <a:prstGeom prst="rect">
              <a:avLst/>
            </a:prstGeom>
            <a:noFill/>
            <a:ln>
              <a:noFill/>
            </a:ln>
          </p:spPr>
          <p:txBody>
            <a:bodyPr wrap="none" lIns="0" tIns="0" rIns="0" bIns="0" anchor="t" anchorCtr="0">
              <a:spAutoFit/>
            </a:bodyPr>
            <a:lstStyle/>
            <a:p>
              <a:pPr algn="l"/>
              <a:r>
                <a:rPr lang="vi-VN" sz="1350" b="1" dirty="0">
                  <a:solidFill>
                    <a:schemeClr val="accent1"/>
                  </a:solidFill>
                  <a:latin typeface="+mn-lt"/>
                  <a:ea typeface="+mn-ea"/>
                  <a:cs typeface="+mn-cs"/>
                </a:rPr>
                <a:t>Dấu phẩy giải nén một đối tượng Line2D từ plot().</a:t>
              </a:r>
            </a:p>
          </p:txBody>
        </p:sp>
      </p:grpSp>
      <p:grpSp>
        <p:nvGrpSpPr>
          <p:cNvPr id="33" name="empty-live-chart"/>
          <p:cNvGrpSpPr/>
          <p:nvPr/>
        </p:nvGrpSpPr>
        <p:grpSpPr>
          <a:xfrm>
            <a:off x="6131666" y="1930400"/>
            <a:ext cx="5501852" cy="3940683"/>
            <a:chOff x="6131666" y="1930400"/>
            <a:chExt cx="5501852" cy="3940683"/>
          </a:xfrm>
        </p:grpSpPr>
        <p:sp>
          <p:nvSpPr>
            <p:cNvPr id="20" name="TextBox 20"/>
            <p:cNvSpPr txBox="1"/>
            <p:nvPr/>
          </p:nvSpPr>
          <p:spPr>
            <a:xfrm>
              <a:off x="6355842" y="1930400"/>
              <a:ext cx="2715494" cy="264033"/>
            </a:xfrm>
            <a:prstGeom prst="rect">
              <a:avLst/>
            </a:prstGeom>
            <a:noFill/>
            <a:ln>
              <a:noFill/>
            </a:ln>
          </p:spPr>
          <p:txBody>
            <a:bodyPr wrap="none" lIns="0" tIns="0" rIns="0" bIns="0" anchor="t" anchorCtr="0">
              <a:spAutoFit/>
            </a:bodyPr>
            <a:lstStyle/>
            <a:p>
              <a:pPr algn="l"/>
              <a:r>
                <a:rPr lang="vi-VN" sz="1350" b="1" dirty="0">
                  <a:solidFill>
                    <a:schemeClr val="accent5"/>
                  </a:solidFill>
                  <a:latin typeface="+mn-lt"/>
                  <a:ea typeface="+mn-ea"/>
                  <a:cs typeface="+mn-cs"/>
                </a:rPr>
                <a:t>PLOT BAN ĐẦU · CHƯA CÓ MẪU</a:t>
              </a:r>
            </a:p>
          </p:txBody>
        </p:sp>
        <p:sp>
          <p:nvSpPr>
            <p:cNvPr id="21" name="Rectangle 21"/>
            <p:cNvSpPr/>
            <p:nvPr/>
          </p:nvSpPr>
          <p:spPr>
            <a:xfrm>
              <a:off x="6362700" y="2305050"/>
              <a:ext cx="5143500" cy="3105150"/>
            </a:xfrm>
            <a:prstGeom prst="rect">
              <a:avLst/>
            </a:prstGeom>
            <a:solidFill>
              <a:srgbClr val="FFFDF7"/>
            </a:solidFill>
            <a:ln>
              <a:noFill/>
            </a:ln>
          </p:spPr>
        </p:sp>
        <p:sp>
          <p:nvSpPr>
            <p:cNvPr id="22" name="Line 22"/>
            <p:cNvSpPr/>
            <p:nvPr/>
          </p:nvSpPr>
          <p:spPr>
            <a:xfrm>
              <a:off x="6953250" y="2781300"/>
              <a:ext cx="4248150" cy="9525"/>
            </a:xfrm>
            <a:custGeom>
              <a:avLst/>
              <a:gdLst/>
              <a:ahLst/>
              <a:cxnLst/>
              <a:rect l="l" t="t" r="r" b="b"/>
              <a:pathLst>
                <a:path w="4248150" h="9525">
                  <a:moveTo>
                    <a:pt x="0" y="0"/>
                  </a:moveTo>
                  <a:lnTo>
                    <a:pt x="4248150" y="0"/>
                  </a:lnTo>
                </a:path>
              </a:pathLst>
            </a:custGeom>
            <a:noFill/>
            <a:ln w="14288">
              <a:solidFill>
                <a:srgbClr val="E3DDD3"/>
              </a:solidFill>
            </a:ln>
          </p:spPr>
        </p:sp>
        <p:sp>
          <p:nvSpPr>
            <p:cNvPr id="23" name="Line 23"/>
            <p:cNvSpPr/>
            <p:nvPr/>
          </p:nvSpPr>
          <p:spPr>
            <a:xfrm>
              <a:off x="6953250" y="3429000"/>
              <a:ext cx="4248150" cy="9525"/>
            </a:xfrm>
            <a:custGeom>
              <a:avLst/>
              <a:gdLst/>
              <a:ahLst/>
              <a:cxnLst/>
              <a:rect l="l" t="t" r="r" b="b"/>
              <a:pathLst>
                <a:path w="4248150" h="9525">
                  <a:moveTo>
                    <a:pt x="0" y="0"/>
                  </a:moveTo>
                  <a:lnTo>
                    <a:pt x="4248150" y="0"/>
                  </a:lnTo>
                </a:path>
              </a:pathLst>
            </a:custGeom>
            <a:noFill/>
            <a:ln w="14288">
              <a:solidFill>
                <a:srgbClr val="E3DDD3"/>
              </a:solidFill>
            </a:ln>
          </p:spPr>
        </p:sp>
        <p:sp>
          <p:nvSpPr>
            <p:cNvPr id="24" name="Line 24"/>
            <p:cNvSpPr/>
            <p:nvPr/>
          </p:nvSpPr>
          <p:spPr>
            <a:xfrm>
              <a:off x="6953250" y="4076700"/>
              <a:ext cx="4248150" cy="9525"/>
            </a:xfrm>
            <a:custGeom>
              <a:avLst/>
              <a:gdLst/>
              <a:ahLst/>
              <a:cxnLst/>
              <a:rect l="l" t="t" r="r" b="b"/>
              <a:pathLst>
                <a:path w="4248150" h="9525">
                  <a:moveTo>
                    <a:pt x="0" y="0"/>
                  </a:moveTo>
                  <a:lnTo>
                    <a:pt x="4248150" y="0"/>
                  </a:lnTo>
                </a:path>
              </a:pathLst>
            </a:custGeom>
            <a:noFill/>
            <a:ln w="14288">
              <a:solidFill>
                <a:srgbClr val="E3DDD3"/>
              </a:solidFill>
            </a:ln>
          </p:spPr>
        </p:sp>
        <p:sp>
          <p:nvSpPr>
            <p:cNvPr id="25" name="Line 25"/>
            <p:cNvSpPr/>
            <p:nvPr/>
          </p:nvSpPr>
          <p:spPr>
            <a:xfrm>
              <a:off x="6953250" y="4724400"/>
              <a:ext cx="4248150" cy="9525"/>
            </a:xfrm>
            <a:custGeom>
              <a:avLst/>
              <a:gdLst/>
              <a:ahLst/>
              <a:cxnLst/>
              <a:rect l="l" t="t" r="r" b="b"/>
              <a:pathLst>
                <a:path w="4248150" h="9525">
                  <a:moveTo>
                    <a:pt x="0" y="0"/>
                  </a:moveTo>
                  <a:lnTo>
                    <a:pt x="4248150" y="0"/>
                  </a:lnTo>
                </a:path>
              </a:pathLst>
            </a:custGeom>
            <a:noFill/>
            <a:ln w="19050">
              <a:solidFill>
                <a:schemeClr val="accent1"/>
              </a:solidFill>
            </a:ln>
          </p:spPr>
        </p:sp>
        <p:sp>
          <p:nvSpPr>
            <p:cNvPr id="26" name="Line 26"/>
            <p:cNvSpPr/>
            <p:nvPr/>
          </p:nvSpPr>
          <p:spPr>
            <a:xfrm>
              <a:off x="6953250" y="2781300"/>
              <a:ext cx="9525" cy="1943100"/>
            </a:xfrm>
            <a:custGeom>
              <a:avLst/>
              <a:gdLst/>
              <a:ahLst/>
              <a:cxnLst/>
              <a:rect l="l" t="t" r="r" b="b"/>
              <a:pathLst>
                <a:path w="9525" h="1943100">
                  <a:moveTo>
                    <a:pt x="0" y="0"/>
                  </a:moveTo>
                  <a:lnTo>
                    <a:pt x="0" y="1943100"/>
                  </a:lnTo>
                </a:path>
              </a:pathLst>
            </a:custGeom>
            <a:noFill/>
            <a:ln w="19050">
              <a:solidFill>
                <a:schemeClr val="accent1"/>
              </a:solidFill>
            </a:ln>
          </p:spPr>
        </p:sp>
        <p:sp>
          <p:nvSpPr>
            <p:cNvPr id="27" name="TextBox 27"/>
            <p:cNvSpPr txBox="1"/>
            <p:nvPr/>
          </p:nvSpPr>
          <p:spPr>
            <a:xfrm>
              <a:off x="8908451" y="4953000"/>
              <a:ext cx="337749" cy="250317"/>
            </a:xfrm>
            <a:prstGeom prst="rect">
              <a:avLst/>
            </a:prstGeom>
            <a:noFill/>
            <a:ln>
              <a:noFill/>
            </a:ln>
          </p:spPr>
          <p:txBody>
            <a:bodyPr wrap="none" lIns="0" tIns="0" rIns="0" bIns="0" anchor="t" anchorCtr="0">
              <a:spAutoFit/>
            </a:bodyPr>
            <a:lstStyle/>
            <a:p>
              <a:pPr algn="ctr"/>
              <a:r>
                <a:rPr lang="vi-VN" sz="1280" dirty="0">
                  <a:solidFill>
                    <a:schemeClr val="dk1"/>
                  </a:solidFill>
                  <a:latin typeface="+mn-lt"/>
                  <a:ea typeface="+mn-ea"/>
                  <a:cs typeface="+mn-cs"/>
                </a:rPr>
                <a:t>Mẫu</a:t>
              </a:r>
            </a:p>
          </p:txBody>
        </p:sp>
        <p:sp>
          <p:nvSpPr>
            <p:cNvPr id="28" name="TextBox 28"/>
            <p:cNvSpPr txBox="1"/>
            <p:nvPr/>
          </p:nvSpPr>
          <p:spPr>
            <a:xfrm rot="-5400000">
              <a:off x="6131666" y="3627692"/>
              <a:ext cx="940986" cy="250317"/>
            </a:xfrm>
            <a:prstGeom prst="rect">
              <a:avLst/>
            </a:prstGeom>
            <a:noFill/>
            <a:ln>
              <a:noFill/>
            </a:ln>
          </p:spPr>
          <p:txBody>
            <a:bodyPr wrap="none" lIns="0" tIns="0" rIns="0" bIns="0" anchor="t" anchorCtr="0">
              <a:spAutoFit/>
            </a:bodyPr>
            <a:lstStyle/>
            <a:p>
              <a:pPr algn="ctr"/>
              <a:r>
                <a:rPr lang="vi-VN" sz="1280" dirty="0">
                  <a:solidFill>
                    <a:schemeClr val="dk1"/>
                  </a:solidFill>
                  <a:latin typeface="+mn-lt"/>
                  <a:ea typeface="+mn-ea"/>
                  <a:cs typeface="+mn-cs"/>
                </a:rPr>
                <a:t>Điện áp (V)</a:t>
              </a:r>
            </a:p>
          </p:txBody>
        </p:sp>
        <p:sp>
          <p:nvSpPr>
            <p:cNvPr id="29" name="Line 29"/>
            <p:cNvSpPr/>
            <p:nvPr/>
          </p:nvSpPr>
          <p:spPr>
            <a:xfrm>
              <a:off x="9715500" y="2571750"/>
              <a:ext cx="304800" cy="9525"/>
            </a:xfrm>
            <a:custGeom>
              <a:avLst/>
              <a:gdLst/>
              <a:ahLst/>
              <a:cxnLst/>
              <a:rect l="l" t="t" r="r" b="b"/>
              <a:pathLst>
                <a:path w="304800" h="9525">
                  <a:moveTo>
                    <a:pt x="0" y="0"/>
                  </a:moveTo>
                  <a:lnTo>
                    <a:pt x="304800" y="0"/>
                  </a:lnTo>
                </a:path>
              </a:pathLst>
            </a:custGeom>
            <a:noFill/>
            <a:ln w="28575">
              <a:solidFill>
                <a:schemeClr val="accent2"/>
              </a:solidFill>
            </a:ln>
          </p:spPr>
        </p:sp>
        <p:sp>
          <p:nvSpPr>
            <p:cNvPr id="30" name="Ellipse 30"/>
            <p:cNvSpPr/>
            <p:nvPr/>
          </p:nvSpPr>
          <p:spPr>
            <a:xfrm>
              <a:off x="9829800" y="2533650"/>
              <a:ext cx="76200" cy="76200"/>
            </a:xfrm>
            <a:prstGeom prst="ellipse">
              <a:avLst/>
            </a:prstGeom>
            <a:solidFill>
              <a:schemeClr val="accent2"/>
            </a:solidFill>
            <a:ln>
              <a:noFill/>
            </a:ln>
          </p:spPr>
        </p:sp>
        <p:sp>
          <p:nvSpPr>
            <p:cNvPr id="31" name="TextBox 31"/>
            <p:cNvSpPr txBox="1"/>
            <p:nvPr/>
          </p:nvSpPr>
          <p:spPr>
            <a:xfrm>
              <a:off x="10090404" y="2476500"/>
              <a:ext cx="703478" cy="234696"/>
            </a:xfrm>
            <a:prstGeom prst="rect">
              <a:avLst/>
            </a:prstGeom>
            <a:noFill/>
            <a:ln>
              <a:noFill/>
            </a:ln>
          </p:spPr>
          <p:txBody>
            <a:bodyPr wrap="none" lIns="0" tIns="0" rIns="0" bIns="0" anchor="t" anchorCtr="0">
              <a:spAutoFit/>
            </a:bodyPr>
            <a:lstStyle/>
            <a:p>
              <a:pPr algn="l"/>
              <a:r>
                <a:rPr lang="vi-VN" sz="1200" dirty="0">
                  <a:solidFill>
                    <a:schemeClr val="accent5"/>
                  </a:solidFill>
                  <a:latin typeface="+mn-lt"/>
                  <a:ea typeface="+mn-ea"/>
                  <a:cs typeface="+mn-cs"/>
                </a:rPr>
                <a:t>VOLT:DC</a:t>
              </a:r>
            </a:p>
          </p:txBody>
        </p:sp>
        <p:sp>
          <p:nvSpPr>
            <p:cNvPr id="32" name="TextBox 32"/>
            <p:cNvSpPr txBox="1"/>
            <p:nvPr/>
          </p:nvSpPr>
          <p:spPr>
            <a:xfrm>
              <a:off x="6355842" y="5607050"/>
              <a:ext cx="5277676" cy="264033"/>
            </a:xfrm>
            <a:prstGeom prst="rect">
              <a:avLst/>
            </a:prstGeom>
            <a:noFill/>
            <a:ln>
              <a:noFill/>
            </a:ln>
          </p:spPr>
          <p:txBody>
            <a:bodyPr wrap="none" lIns="0" tIns="0" rIns="0" bIns="0" anchor="t" anchorCtr="0">
              <a:spAutoFit/>
            </a:bodyPr>
            <a:lstStyle/>
            <a:p>
              <a:pPr algn="l"/>
              <a:r>
                <a:rPr lang="vi-VN" sz="1350" b="1" dirty="0">
                  <a:solidFill>
                    <a:schemeClr val="accent2"/>
                  </a:solidFill>
                  <a:latin typeface="+mn-lt"/>
                  <a:ea typeface="+mn-ea"/>
                  <a:cs typeface="+mn-cs"/>
                </a:rPr>
                <a:t>block=False hiển thị cửa sổ và cho phép mã tiếp tục chạy.</a:t>
              </a:r>
            </a:p>
          </p:txBody>
        </p:sp>
      </p:grpSp>
      <p:grpSp>
        <p:nvGrpSpPr>
          <p:cNvPr id="36" name="page-footer"/>
          <p:cNvGrpSpPr/>
          <p:nvPr/>
        </p:nvGrpSpPr>
        <p:grpSpPr>
          <a:xfrm>
            <a:off x="679704" y="6429375"/>
            <a:ext cx="10832592" cy="234696"/>
            <a:chOff x="679704" y="6429375"/>
            <a:chExt cx="10832592" cy="234696"/>
          </a:xfrm>
        </p:grpSpPr>
        <p:sp>
          <p:nvSpPr>
            <p:cNvPr id="34" name="TextBox 34"/>
            <p:cNvSpPr txBox="1"/>
            <p:nvPr/>
          </p:nvSpPr>
          <p:spPr>
            <a:xfrm>
              <a:off x="679704" y="6429375"/>
              <a:ext cx="3835603" cy="234696"/>
            </a:xfrm>
            <a:prstGeom prst="rect">
              <a:avLst/>
            </a:prstGeom>
            <a:noFill/>
            <a:ln>
              <a:noFill/>
            </a:ln>
          </p:spPr>
          <p:txBody>
            <a:bodyPr wrap="none" lIns="0" tIns="0" rIns="0" bIns="0" anchor="t" anchorCtr="0">
              <a:spAutoFit/>
            </a:bodyPr>
            <a:lstStyle/>
            <a:p>
              <a:pPr algn="l"/>
              <a:r>
                <a:rPr lang="vi-VN" sz="1200" dirty="0">
                  <a:solidFill>
                    <a:schemeClr val="accent5"/>
                  </a:solidFill>
                  <a:latin typeface="+mn-lt"/>
                  <a:ea typeface="+mn-ea"/>
                  <a:cs typeface="+mn-cs"/>
                </a:rPr>
                <a:t>MATPLOTLIB · KHỞI TẠO FIGURE VÀ LINE MỘT LẦN</a:t>
              </a:r>
            </a:p>
          </p:txBody>
        </p:sp>
        <p:sp>
          <p:nvSpPr>
            <p:cNvPr id="35" name="TextBox 35"/>
            <p:cNvSpPr txBox="1"/>
            <p:nvPr/>
          </p:nvSpPr>
          <p:spPr>
            <a:xfrm>
              <a:off x="10958932" y="6429375"/>
              <a:ext cx="553364" cy="234696"/>
            </a:xfrm>
            <a:prstGeom prst="rect">
              <a:avLst/>
            </a:prstGeom>
            <a:noFill/>
            <a:ln>
              <a:noFill/>
            </a:ln>
          </p:spPr>
          <p:txBody>
            <a:bodyPr wrap="none" lIns="0" tIns="0" rIns="0" bIns="0" anchor="t" anchorCtr="0">
              <a:spAutoFit/>
            </a:bodyPr>
            <a:lstStyle/>
            <a:p>
              <a:pPr algn="r"/>
              <a:r>
                <a:rPr lang="vi-VN" sz="1200" dirty="0">
                  <a:solidFill>
                    <a:schemeClr val="accent5"/>
                  </a:solidFill>
                  <a:latin typeface="+mn-lt"/>
                  <a:ea typeface="+mn-ea"/>
                  <a:cs typeface="+mn-cs"/>
                </a:rPr>
                <a:t>21 / 25</a:t>
              </a:r>
            </a:p>
          </p:txBody>
        </p:sp>
      </p:grpSp>
    </p:spTree>
  </p:cSld>
  <p:clrMapOvr>
    <a:masterClrMapping/>
  </p:clrMapOvr>
  <p:transition xmlns:p14="http://schemas.microsoft.com/office/powerpoint/2010/main" p14:dur="400">
    <p:fade/>
  </p:transition>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page-title"/>
          <p:cNvGrpSpPr/>
          <p:nvPr/>
        </p:nvGrpSpPr>
        <p:grpSpPr>
          <a:xfrm>
            <a:off x="669798" y="520700"/>
            <a:ext cx="10836402" cy="955675"/>
            <a:chOff x="669798" y="520700"/>
            <a:chExt cx="10836402" cy="955675"/>
          </a:xfrm>
        </p:grpSpPr>
        <p:sp>
          <p:nvSpPr>
            <p:cNvPr id="2" name="TextBox 2"/>
            <p:cNvSpPr txBox="1"/>
            <p:nvPr/>
          </p:nvSpPr>
          <p:spPr>
            <a:xfrm>
              <a:off x="678942" y="520700"/>
              <a:ext cx="1606555" cy="264033"/>
            </a:xfrm>
            <a:prstGeom prst="rect">
              <a:avLst/>
            </a:prstGeom>
            <a:noFill/>
            <a:ln>
              <a:noFill/>
            </a:ln>
          </p:spPr>
          <p:txBody>
            <a:bodyPr wrap="none" lIns="0" tIns="0" rIns="0" bIns="0" anchor="t" anchorCtr="0">
              <a:spAutoFit/>
            </a:bodyPr>
            <a:lstStyle/>
            <a:p>
              <a:pPr algn="l"/>
              <a:r>
                <a:rPr lang="vi-VN" sz="1350" b="1" dirty="0">
                  <a:solidFill>
                    <a:schemeClr val="accent3"/>
                  </a:solidFill>
                  <a:latin typeface="+mn-lt"/>
                  <a:ea typeface="+mn-ea"/>
                  <a:cs typeface="+mn-cs"/>
                </a:rPr>
                <a:t>05 · MATPLOTLIB</a:t>
              </a:r>
            </a:p>
          </p:txBody>
        </p:sp>
        <p:sp>
          <p:nvSpPr>
            <p:cNvPr id="3" name="TextBox 3"/>
            <p:cNvSpPr txBox="1"/>
            <p:nvPr/>
          </p:nvSpPr>
          <p:spPr>
            <a:xfrm>
              <a:off x="669798" y="838200"/>
              <a:ext cx="8634476" cy="616077"/>
            </a:xfrm>
            <a:prstGeom prst="rect">
              <a:avLst/>
            </a:prstGeom>
            <a:noFill/>
            <a:ln>
              <a:noFill/>
            </a:ln>
          </p:spPr>
          <p:txBody>
            <a:bodyPr wrap="none" lIns="0" tIns="0" rIns="0" bIns="0" anchor="t" anchorCtr="0">
              <a:spAutoFit/>
            </a:bodyPr>
            <a:lstStyle/>
            <a:p>
              <a:pPr algn="l"/>
              <a:r>
                <a:rPr lang="vi-VN" sz="3150" b="1" dirty="0">
                  <a:solidFill>
                    <a:schemeClr val="accent1"/>
                  </a:solidFill>
                  <a:latin typeface="+mn-lt"/>
                  <a:ea typeface="+mn-ea"/>
                  <a:cs typeface="+mn-cs"/>
                </a:rPr>
                <a:t>Matplotlib 4 — Cập nhật biểu đồ từ serial</a:t>
              </a:r>
            </a:p>
          </p:txBody>
        </p:sp>
        <p:sp>
          <p:nvSpPr>
            <p:cNvPr id="4" name="Line 4"/>
            <p:cNvSpPr/>
            <p:nvPr/>
          </p:nvSpPr>
          <p:spPr>
            <a:xfrm>
              <a:off x="685800" y="1466850"/>
              <a:ext cx="10820400" cy="9525"/>
            </a:xfrm>
            <a:custGeom>
              <a:avLst/>
              <a:gdLst/>
              <a:ahLst/>
              <a:cxnLst/>
              <a:rect l="l" t="t" r="r" b="b"/>
              <a:pathLst>
                <a:path w="10820400" h="9525">
                  <a:moveTo>
                    <a:pt x="0" y="0"/>
                  </a:moveTo>
                  <a:lnTo>
                    <a:pt x="10820400" y="0"/>
                  </a:lnTo>
                </a:path>
              </a:pathLst>
            </a:custGeom>
            <a:noFill/>
            <a:ln w="14288">
              <a:solidFill>
                <a:schemeClr val="accent6"/>
              </a:solidFill>
            </a:ln>
          </p:spPr>
        </p:sp>
      </p:grpSp>
      <p:grpSp>
        <p:nvGrpSpPr>
          <p:cNvPr id="24" name="live-update-code"/>
          <p:cNvGrpSpPr/>
          <p:nvPr/>
        </p:nvGrpSpPr>
        <p:grpSpPr>
          <a:xfrm>
            <a:off x="678942" y="1930400"/>
            <a:ext cx="5759958" cy="4360228"/>
            <a:chOff x="678942" y="1930400"/>
            <a:chExt cx="5759958" cy="4360228"/>
          </a:xfrm>
        </p:grpSpPr>
        <p:sp>
          <p:nvSpPr>
            <p:cNvPr id="6" name="TextBox 6"/>
            <p:cNvSpPr txBox="1"/>
            <p:nvPr/>
          </p:nvSpPr>
          <p:spPr>
            <a:xfrm>
              <a:off x="678942" y="1930400"/>
              <a:ext cx="3118744" cy="264033"/>
            </a:xfrm>
            <a:prstGeom prst="rect">
              <a:avLst/>
            </a:prstGeom>
            <a:noFill/>
            <a:ln>
              <a:noFill/>
            </a:ln>
          </p:spPr>
          <p:txBody>
            <a:bodyPr wrap="none" lIns="0" tIns="0" rIns="0" bIns="0" anchor="t" anchorCtr="0">
              <a:spAutoFit/>
            </a:bodyPr>
            <a:lstStyle/>
            <a:p>
              <a:pPr algn="l"/>
              <a:r>
                <a:rPr lang="vi-VN" sz="1350" b="1" dirty="0">
                  <a:solidFill>
                    <a:schemeClr val="accent5"/>
                  </a:solidFill>
                  <a:latin typeface="+mn-lt"/>
                  <a:ea typeface="+mn-ea"/>
                  <a:cs typeface="+mn-cs"/>
                </a:rPr>
                <a:t>MỖI PHẢN HỒI HỢP LỆ → MỘT ĐIỂM</a:t>
              </a:r>
            </a:p>
          </p:txBody>
        </p:sp>
        <p:sp>
          <p:nvSpPr>
            <p:cNvPr id="7" name="Rectangle 7"/>
            <p:cNvSpPr/>
            <p:nvPr/>
          </p:nvSpPr>
          <p:spPr>
            <a:xfrm>
              <a:off x="685800" y="2305050"/>
              <a:ext cx="5753100" cy="3714750"/>
            </a:xfrm>
            <a:prstGeom prst="roundRect">
              <a:avLst>
                <a:gd name="adj" fmla="val 1538"/>
              </a:avLst>
            </a:prstGeom>
            <a:solidFill>
              <a:schemeClr val="lt2"/>
            </a:solidFill>
            <a:ln>
              <a:noFill/>
            </a:ln>
          </p:spPr>
        </p:sp>
        <p:sp>
          <p:nvSpPr>
            <p:cNvPr id="8" name="TextBox 8"/>
            <p:cNvSpPr txBox="1"/>
            <p:nvPr/>
          </p:nvSpPr>
          <p:spPr>
            <a:xfrm>
              <a:off x="908685" y="2470150"/>
              <a:ext cx="343134" cy="220028"/>
            </a:xfrm>
            <a:prstGeom prst="rect">
              <a:avLst/>
            </a:prstGeom>
            <a:noFill/>
            <a:ln>
              <a:noFill/>
            </a:ln>
          </p:spPr>
          <p:txBody>
            <a:bodyPr wrap="none" lIns="0" tIns="0" rIns="0" bIns="0" anchor="t" anchorCtr="0">
              <a:spAutoFit/>
            </a:bodyPr>
            <a:lstStyle/>
            <a:p>
              <a:pPr algn="l"/>
              <a:r>
                <a:rPr lang="vi-VN" sz="1120" dirty="0">
                  <a:solidFill>
                    <a:schemeClr val="dk1"/>
                  </a:solidFill>
                  <a:latin typeface="Consolas"/>
                  <a:ea typeface="Consolas"/>
                  <a:cs typeface="Consolas"/>
                </a:rPr>
                <a:t>try:</a:t>
              </a:r>
            </a:p>
          </p:txBody>
        </p:sp>
        <p:sp>
          <p:nvSpPr>
            <p:cNvPr id="9" name="TextBox 9"/>
            <p:cNvSpPr txBox="1"/>
            <p:nvPr/>
          </p:nvSpPr>
          <p:spPr>
            <a:xfrm>
              <a:off x="1289685" y="2717800"/>
              <a:ext cx="1918726" cy="220028"/>
            </a:xfrm>
            <a:prstGeom prst="rect">
              <a:avLst/>
            </a:prstGeom>
            <a:noFill/>
            <a:ln>
              <a:noFill/>
            </a:ln>
          </p:spPr>
          <p:txBody>
            <a:bodyPr wrap="none" lIns="0" tIns="0" rIns="0" bIns="0" anchor="t" anchorCtr="0">
              <a:spAutoFit/>
            </a:bodyPr>
            <a:lstStyle/>
            <a:p>
              <a:pPr algn="l"/>
              <a:r>
                <a:rPr lang="vi-VN" sz="1120" dirty="0">
                  <a:solidFill>
                    <a:schemeClr val="dk1"/>
                  </a:solidFill>
                  <a:latin typeface="Consolas"/>
                  <a:ea typeface="Consolas"/>
                  <a:cs typeface="Consolas"/>
                </a:rPr>
                <a:t>for index in range(20):</a:t>
              </a:r>
            </a:p>
          </p:txBody>
        </p:sp>
        <p:sp>
          <p:nvSpPr>
            <p:cNvPr id="10" name="TextBox 10"/>
            <p:cNvSpPr txBox="1"/>
            <p:nvPr/>
          </p:nvSpPr>
          <p:spPr>
            <a:xfrm>
              <a:off x="1670685" y="2965450"/>
              <a:ext cx="3106408" cy="220028"/>
            </a:xfrm>
            <a:prstGeom prst="rect">
              <a:avLst/>
            </a:prstGeom>
            <a:noFill/>
            <a:ln>
              <a:noFill/>
            </a:ln>
          </p:spPr>
          <p:txBody>
            <a:bodyPr wrap="none" lIns="0" tIns="0" rIns="0" bIns="0" anchor="t" anchorCtr="0">
              <a:spAutoFit/>
            </a:bodyPr>
            <a:lstStyle/>
            <a:p>
              <a:pPr algn="l"/>
              <a:r>
                <a:rPr lang="vi-VN" sz="1120" dirty="0">
                  <a:solidFill>
                    <a:schemeClr val="dk1"/>
                  </a:solidFill>
                  <a:latin typeface="Consolas"/>
                  <a:ea typeface="Consolas"/>
                  <a:cs typeface="Consolas"/>
                </a:rPr>
                <a:t>reply = send_command(device, "READ?")</a:t>
              </a:r>
            </a:p>
          </p:txBody>
        </p:sp>
        <p:sp>
          <p:nvSpPr>
            <p:cNvPr id="11" name="TextBox 11"/>
            <p:cNvSpPr txBox="1"/>
            <p:nvPr/>
          </p:nvSpPr>
          <p:spPr>
            <a:xfrm>
              <a:off x="1670685" y="3213100"/>
              <a:ext cx="343134" cy="220028"/>
            </a:xfrm>
            <a:prstGeom prst="rect">
              <a:avLst/>
            </a:prstGeom>
            <a:noFill/>
            <a:ln>
              <a:noFill/>
            </a:ln>
          </p:spPr>
          <p:txBody>
            <a:bodyPr wrap="none" lIns="0" tIns="0" rIns="0" bIns="0" anchor="t" anchorCtr="0">
              <a:spAutoFit/>
            </a:bodyPr>
            <a:lstStyle/>
            <a:p>
              <a:pPr algn="l"/>
              <a:r>
                <a:rPr lang="vi-VN" sz="1120" dirty="0">
                  <a:solidFill>
                    <a:schemeClr val="dk1"/>
                  </a:solidFill>
                  <a:latin typeface="Consolas"/>
                  <a:ea typeface="Consolas"/>
                  <a:cs typeface="Consolas"/>
                </a:rPr>
                <a:t>try:</a:t>
              </a:r>
            </a:p>
          </p:txBody>
        </p:sp>
        <p:sp>
          <p:nvSpPr>
            <p:cNvPr id="12" name="TextBox 12"/>
            <p:cNvSpPr txBox="1"/>
            <p:nvPr/>
          </p:nvSpPr>
          <p:spPr>
            <a:xfrm>
              <a:off x="2051685" y="3460750"/>
              <a:ext cx="1669948" cy="220028"/>
            </a:xfrm>
            <a:prstGeom prst="rect">
              <a:avLst/>
            </a:prstGeom>
            <a:noFill/>
            <a:ln>
              <a:noFill/>
            </a:ln>
          </p:spPr>
          <p:txBody>
            <a:bodyPr wrap="none" lIns="0" tIns="0" rIns="0" bIns="0" anchor="t" anchorCtr="0">
              <a:spAutoFit/>
            </a:bodyPr>
            <a:lstStyle/>
            <a:p>
              <a:pPr algn="l"/>
              <a:r>
                <a:rPr lang="vi-VN" sz="1120" dirty="0">
                  <a:solidFill>
                    <a:schemeClr val="dk1"/>
                  </a:solidFill>
                  <a:latin typeface="Consolas"/>
                  <a:ea typeface="Consolas"/>
                  <a:cs typeface="Consolas"/>
                </a:rPr>
                <a:t>value = float(reply)</a:t>
              </a:r>
            </a:p>
          </p:txBody>
        </p:sp>
        <p:sp>
          <p:nvSpPr>
            <p:cNvPr id="13" name="TextBox 13"/>
            <p:cNvSpPr txBox="1"/>
            <p:nvPr/>
          </p:nvSpPr>
          <p:spPr>
            <a:xfrm>
              <a:off x="1670685" y="3708400"/>
              <a:ext cx="2605415" cy="220028"/>
            </a:xfrm>
            <a:prstGeom prst="rect">
              <a:avLst/>
            </a:prstGeom>
            <a:noFill/>
            <a:ln>
              <a:noFill/>
            </a:ln>
          </p:spPr>
          <p:txBody>
            <a:bodyPr wrap="none" lIns="0" tIns="0" rIns="0" bIns="0" anchor="t" anchorCtr="0">
              <a:spAutoFit/>
            </a:bodyPr>
            <a:lstStyle/>
            <a:p>
              <a:pPr algn="l"/>
              <a:r>
                <a:rPr lang="vi-VN" sz="1120" dirty="0">
                  <a:solidFill>
                    <a:schemeClr val="accent2"/>
                  </a:solidFill>
                  <a:latin typeface="Consolas"/>
                  <a:ea typeface="Consolas"/>
                  <a:cs typeface="Consolas"/>
                </a:rPr>
                <a:t>except (TypeError, ValueError):</a:t>
              </a:r>
            </a:p>
          </p:txBody>
        </p:sp>
        <p:sp>
          <p:nvSpPr>
            <p:cNvPr id="14" name="TextBox 14"/>
            <p:cNvSpPr txBox="1"/>
            <p:nvPr/>
          </p:nvSpPr>
          <p:spPr>
            <a:xfrm>
              <a:off x="2051685" y="3956050"/>
              <a:ext cx="674837" cy="220028"/>
            </a:xfrm>
            <a:prstGeom prst="rect">
              <a:avLst/>
            </a:prstGeom>
            <a:noFill/>
            <a:ln>
              <a:noFill/>
            </a:ln>
          </p:spPr>
          <p:txBody>
            <a:bodyPr wrap="none" lIns="0" tIns="0" rIns="0" bIns="0" anchor="t" anchorCtr="0">
              <a:spAutoFit/>
            </a:bodyPr>
            <a:lstStyle/>
            <a:p>
              <a:pPr algn="l"/>
              <a:r>
                <a:rPr lang="vi-VN" sz="1120" dirty="0">
                  <a:solidFill>
                    <a:schemeClr val="dk1"/>
                  </a:solidFill>
                  <a:latin typeface="Consolas"/>
                  <a:ea typeface="Consolas"/>
                  <a:cs typeface="Consolas"/>
                </a:rPr>
                <a:t>continue</a:t>
              </a:r>
            </a:p>
          </p:txBody>
        </p:sp>
        <p:sp>
          <p:nvSpPr>
            <p:cNvPr id="15" name="TextBox 15"/>
            <p:cNvSpPr txBox="1"/>
            <p:nvPr/>
          </p:nvSpPr>
          <p:spPr>
            <a:xfrm>
              <a:off x="1670685" y="4203700"/>
              <a:ext cx="1587022" cy="220028"/>
            </a:xfrm>
            <a:prstGeom prst="rect">
              <a:avLst/>
            </a:prstGeom>
            <a:noFill/>
            <a:ln>
              <a:noFill/>
            </a:ln>
          </p:spPr>
          <p:txBody>
            <a:bodyPr wrap="none" lIns="0" tIns="0" rIns="0" bIns="0" anchor="t" anchorCtr="0">
              <a:spAutoFit/>
            </a:bodyPr>
            <a:lstStyle/>
            <a:p>
              <a:pPr algn="l"/>
              <a:r>
                <a:rPr lang="vi-VN" sz="1120" dirty="0">
                  <a:solidFill>
                    <a:schemeClr val="dk1"/>
                  </a:solidFill>
                  <a:latin typeface="Consolas"/>
                  <a:ea typeface="Consolas"/>
                  <a:cs typeface="Consolas"/>
                </a:rPr>
                <a:t>times.append(index)</a:t>
              </a:r>
            </a:p>
          </p:txBody>
        </p:sp>
        <p:sp>
          <p:nvSpPr>
            <p:cNvPr id="16" name="TextBox 16"/>
            <p:cNvSpPr txBox="1"/>
            <p:nvPr/>
          </p:nvSpPr>
          <p:spPr>
            <a:xfrm>
              <a:off x="1670685" y="4451350"/>
              <a:ext cx="1669948" cy="220028"/>
            </a:xfrm>
            <a:prstGeom prst="rect">
              <a:avLst/>
            </a:prstGeom>
            <a:noFill/>
            <a:ln>
              <a:noFill/>
            </a:ln>
          </p:spPr>
          <p:txBody>
            <a:bodyPr wrap="none" lIns="0" tIns="0" rIns="0" bIns="0" anchor="t" anchorCtr="0">
              <a:spAutoFit/>
            </a:bodyPr>
            <a:lstStyle/>
            <a:p>
              <a:pPr algn="l"/>
              <a:r>
                <a:rPr lang="vi-VN" sz="1120" dirty="0">
                  <a:solidFill>
                    <a:schemeClr val="dk1"/>
                  </a:solidFill>
                  <a:latin typeface="Consolas"/>
                  <a:ea typeface="Consolas"/>
                  <a:cs typeface="Consolas"/>
                </a:rPr>
                <a:t>values.append(value)</a:t>
              </a:r>
            </a:p>
          </p:txBody>
        </p:sp>
        <p:sp>
          <p:nvSpPr>
            <p:cNvPr id="17" name="TextBox 17"/>
            <p:cNvSpPr txBox="1"/>
            <p:nvPr/>
          </p:nvSpPr>
          <p:spPr>
            <a:xfrm>
              <a:off x="1670685" y="4699000"/>
              <a:ext cx="2333356" cy="220028"/>
            </a:xfrm>
            <a:prstGeom prst="rect">
              <a:avLst/>
            </a:prstGeom>
            <a:noFill/>
            <a:ln>
              <a:noFill/>
            </a:ln>
          </p:spPr>
          <p:txBody>
            <a:bodyPr wrap="none" lIns="0" tIns="0" rIns="0" bIns="0" anchor="t" anchorCtr="0">
              <a:spAutoFit/>
            </a:bodyPr>
            <a:lstStyle/>
            <a:p>
              <a:pPr algn="l"/>
              <a:r>
                <a:rPr lang="vi-VN" sz="1120" dirty="0">
                  <a:solidFill>
                    <a:schemeClr val="dk1"/>
                  </a:solidFill>
                  <a:latin typeface="Consolas"/>
                  <a:ea typeface="Consolas"/>
                  <a:cs typeface="Consolas"/>
                </a:rPr>
                <a:t>line.set_data(times, values)</a:t>
              </a:r>
            </a:p>
          </p:txBody>
        </p:sp>
        <p:sp>
          <p:nvSpPr>
            <p:cNvPr id="18" name="TextBox 18"/>
            <p:cNvSpPr txBox="1"/>
            <p:nvPr/>
          </p:nvSpPr>
          <p:spPr>
            <a:xfrm>
              <a:off x="1670685" y="4946650"/>
              <a:ext cx="2582134" cy="220028"/>
            </a:xfrm>
            <a:prstGeom prst="rect">
              <a:avLst/>
            </a:prstGeom>
            <a:noFill/>
            <a:ln>
              <a:noFill/>
            </a:ln>
          </p:spPr>
          <p:txBody>
            <a:bodyPr wrap="none" lIns="0" tIns="0" rIns="0" bIns="0" anchor="t" anchorCtr="0">
              <a:spAutoFit/>
            </a:bodyPr>
            <a:lstStyle/>
            <a:p>
              <a:pPr algn="l"/>
              <a:r>
                <a:rPr lang="vi-VN" sz="1120" dirty="0">
                  <a:solidFill>
                    <a:schemeClr val="dk1"/>
                  </a:solidFill>
                  <a:latin typeface="Consolas"/>
                  <a:ea typeface="Consolas"/>
                  <a:cs typeface="Consolas"/>
                </a:rPr>
                <a:t>ax.relim(); ax.autoscale_view()</a:t>
              </a:r>
            </a:p>
          </p:txBody>
        </p:sp>
        <p:sp>
          <p:nvSpPr>
            <p:cNvPr id="19" name="TextBox 19"/>
            <p:cNvSpPr txBox="1"/>
            <p:nvPr/>
          </p:nvSpPr>
          <p:spPr>
            <a:xfrm>
              <a:off x="1670685" y="5194300"/>
              <a:ext cx="1255319" cy="220028"/>
            </a:xfrm>
            <a:prstGeom prst="rect">
              <a:avLst/>
            </a:prstGeom>
            <a:noFill/>
            <a:ln>
              <a:noFill/>
            </a:ln>
          </p:spPr>
          <p:txBody>
            <a:bodyPr wrap="none" lIns="0" tIns="0" rIns="0" bIns="0" anchor="t" anchorCtr="0">
              <a:spAutoFit/>
            </a:bodyPr>
            <a:lstStyle/>
            <a:p>
              <a:pPr algn="l"/>
              <a:r>
                <a:rPr lang="vi-VN" sz="1120" dirty="0">
                  <a:solidFill>
                    <a:schemeClr val="dk1"/>
                  </a:solidFill>
                  <a:latin typeface="Consolas"/>
                  <a:ea typeface="Consolas"/>
                  <a:cs typeface="Consolas"/>
                </a:rPr>
                <a:t>plt.pause(0.05)</a:t>
              </a:r>
            </a:p>
          </p:txBody>
        </p:sp>
        <p:sp>
          <p:nvSpPr>
            <p:cNvPr id="20" name="TextBox 20"/>
            <p:cNvSpPr txBox="1"/>
            <p:nvPr/>
          </p:nvSpPr>
          <p:spPr>
            <a:xfrm>
              <a:off x="908685" y="5441950"/>
              <a:ext cx="674837" cy="220028"/>
            </a:xfrm>
            <a:prstGeom prst="rect">
              <a:avLst/>
            </a:prstGeom>
            <a:noFill/>
            <a:ln>
              <a:noFill/>
            </a:ln>
          </p:spPr>
          <p:txBody>
            <a:bodyPr wrap="none" lIns="0" tIns="0" rIns="0" bIns="0" anchor="t" anchorCtr="0">
              <a:spAutoFit/>
            </a:bodyPr>
            <a:lstStyle/>
            <a:p>
              <a:pPr algn="l"/>
              <a:r>
                <a:rPr lang="vi-VN" sz="1120" dirty="0">
                  <a:solidFill>
                    <a:schemeClr val="accent1"/>
                  </a:solidFill>
                  <a:latin typeface="Consolas"/>
                  <a:ea typeface="Consolas"/>
                  <a:cs typeface="Consolas"/>
                </a:rPr>
                <a:t>finally:</a:t>
              </a:r>
            </a:p>
          </p:txBody>
        </p:sp>
        <p:sp>
          <p:nvSpPr>
            <p:cNvPr id="21" name="TextBox 21"/>
            <p:cNvSpPr txBox="1"/>
            <p:nvPr/>
          </p:nvSpPr>
          <p:spPr>
            <a:xfrm>
              <a:off x="1289685" y="5689600"/>
              <a:ext cx="840689" cy="220028"/>
            </a:xfrm>
            <a:prstGeom prst="rect">
              <a:avLst/>
            </a:prstGeom>
            <a:noFill/>
            <a:ln>
              <a:noFill/>
            </a:ln>
          </p:spPr>
          <p:txBody>
            <a:bodyPr wrap="none" lIns="0" tIns="0" rIns="0" bIns="0" anchor="t" anchorCtr="0">
              <a:spAutoFit/>
            </a:bodyPr>
            <a:lstStyle/>
            <a:p>
              <a:pPr algn="l"/>
              <a:r>
                <a:rPr lang="vi-VN" sz="1120" dirty="0">
                  <a:solidFill>
                    <a:schemeClr val="accent1"/>
                  </a:solidFill>
                  <a:latin typeface="Consolas"/>
                  <a:ea typeface="Consolas"/>
                  <a:cs typeface="Consolas"/>
                </a:rPr>
                <a:t>plt.ioff()</a:t>
              </a:r>
            </a:p>
          </p:txBody>
        </p:sp>
        <p:sp>
          <p:nvSpPr>
            <p:cNvPr id="22" name="TextBox 22"/>
            <p:cNvSpPr txBox="1"/>
            <p:nvPr/>
          </p:nvSpPr>
          <p:spPr>
            <a:xfrm>
              <a:off x="680085" y="6070600"/>
              <a:ext cx="3759345" cy="220028"/>
            </a:xfrm>
            <a:prstGeom prst="rect">
              <a:avLst/>
            </a:prstGeom>
            <a:noFill/>
            <a:ln>
              <a:noFill/>
            </a:ln>
          </p:spPr>
          <p:txBody>
            <a:bodyPr wrap="none" lIns="0" tIns="0" rIns="0" bIns="0" anchor="t" anchorCtr="0">
              <a:spAutoFit/>
            </a:bodyPr>
            <a:lstStyle/>
            <a:p>
              <a:pPr algn="l"/>
              <a:r>
                <a:rPr lang="vi-VN" sz="1120" dirty="0">
                  <a:solidFill>
                    <a:schemeClr val="accent5"/>
                  </a:solidFill>
                  <a:latin typeface="+mn-lt"/>
                  <a:ea typeface="+mn-ea"/>
                  <a:cs typeface="+mn-cs"/>
                </a:rPr>
                <a:t>Cập nhật cùng một Line2D đã khởi tạo ở slide trước.</a:t>
              </a:r>
            </a:p>
          </p:txBody>
        </p:sp>
        <p:sp>
          <p:nvSpPr>
            <p:cNvPr id="23" name="TextBox 23"/>
            <p:cNvSpPr txBox="1"/>
            <p:nvPr/>
          </p:nvSpPr>
          <p:spPr>
            <a:xfrm>
              <a:off x="1288542" y="5911850"/>
              <a:ext cx="1013270" cy="264033"/>
            </a:xfrm>
            <a:prstGeom prst="rect">
              <a:avLst/>
            </a:prstGeom>
            <a:noFill/>
            <a:ln>
              <a:noFill/>
            </a:ln>
          </p:spPr>
          <p:txBody>
            <a:bodyPr wrap="none" lIns="0" tIns="0" rIns="0" bIns="0" anchor="t" anchorCtr="0">
              <a:spAutoFit/>
            </a:bodyPr>
            <a:lstStyle/>
            <a:p>
              <a:pPr algn="l"/>
              <a:r>
                <a:rPr lang="vi-VN" sz="1350" dirty="0">
                  <a:solidFill>
                    <a:schemeClr val="dk1"/>
                  </a:solidFill>
                  <a:latin typeface="Consolas"/>
                  <a:ea typeface="Consolas"/>
                  <a:cs typeface="Consolas"/>
                </a:rPr>
                <a:t>plt.show()</a:t>
              </a:r>
            </a:p>
          </p:txBody>
        </p:sp>
      </p:grpSp>
      <p:grpSp>
        <p:nvGrpSpPr>
          <p:cNvPr id="26" name="live-voltage-heading"/>
          <p:cNvGrpSpPr/>
          <p:nvPr/>
        </p:nvGrpSpPr>
        <p:grpSpPr>
          <a:xfrm>
            <a:off x="6813042" y="1930400"/>
            <a:ext cx="2735656" cy="264033"/>
            <a:chOff x="6813042" y="1930400"/>
            <a:chExt cx="2735656" cy="264033"/>
          </a:xfrm>
        </p:grpSpPr>
        <p:sp>
          <p:nvSpPr>
            <p:cNvPr id="25" name="TextBox 25"/>
            <p:cNvSpPr txBox="1"/>
            <p:nvPr/>
          </p:nvSpPr>
          <p:spPr>
            <a:xfrm>
              <a:off x="6813042" y="1930400"/>
              <a:ext cx="2735656" cy="264033"/>
            </a:xfrm>
            <a:prstGeom prst="rect">
              <a:avLst/>
            </a:prstGeom>
            <a:noFill/>
            <a:ln>
              <a:noFill/>
            </a:ln>
          </p:spPr>
          <p:txBody>
            <a:bodyPr wrap="none" lIns="0" tIns="0" rIns="0" bIns="0" anchor="t" anchorCtr="0">
              <a:spAutoFit/>
            </a:bodyPr>
            <a:lstStyle/>
            <a:p>
              <a:pPr algn="l"/>
              <a:r>
                <a:rPr lang="vi-VN" sz="1350" b="1" dirty="0">
                  <a:solidFill>
                    <a:schemeClr val="accent5"/>
                  </a:solidFill>
                  <a:latin typeface="+mn-lt"/>
                  <a:ea typeface="+mn-ea"/>
                  <a:cs typeface="+mn-cs"/>
                </a:rPr>
                <a:t>TRẠNG THÁI SAU KHI THÊM MẪU</a:t>
              </a:r>
            </a:p>
          </p:txBody>
        </p:sp>
      </p:grpSp>
      <p:grpSp>
        <p:nvGrpSpPr>
          <p:cNvPr id="28" name="live-voltage-note"/>
          <p:cNvGrpSpPr/>
          <p:nvPr/>
        </p:nvGrpSpPr>
        <p:grpSpPr>
          <a:xfrm>
            <a:off x="6814185" y="2241550"/>
            <a:ext cx="3181277" cy="220028"/>
            <a:chOff x="6814185" y="2241550"/>
            <a:chExt cx="3181277" cy="220028"/>
          </a:xfrm>
        </p:grpSpPr>
        <p:sp>
          <p:nvSpPr>
            <p:cNvPr id="27" name="TextBox 27"/>
            <p:cNvSpPr txBox="1"/>
            <p:nvPr/>
          </p:nvSpPr>
          <p:spPr>
            <a:xfrm>
              <a:off x="6814185" y="2241550"/>
              <a:ext cx="3181277" cy="220028"/>
            </a:xfrm>
            <a:prstGeom prst="rect">
              <a:avLst/>
            </a:prstGeom>
            <a:noFill/>
            <a:ln>
              <a:noFill/>
            </a:ln>
          </p:spPr>
          <p:txBody>
            <a:bodyPr wrap="none" lIns="0" tIns="0" rIns="0" bIns="0" anchor="t" anchorCtr="0">
              <a:spAutoFit/>
            </a:bodyPr>
            <a:lstStyle/>
            <a:p>
              <a:pPr algn="l"/>
              <a:r>
                <a:rPr lang="vi-VN" sz="1120" b="1" dirty="0">
                  <a:solidFill>
                    <a:schemeClr val="accent2"/>
                  </a:solidFill>
                  <a:latin typeface="+mn-lt"/>
                  <a:ea typeface="+mn-ea"/>
                  <a:cs typeface="+mn-cs"/>
                </a:rPr>
                <a:t>KỊCH BẢN MINH HỌA · KHÔNG PHẢI ĐO THẬT</a:t>
              </a:r>
            </a:p>
          </p:txBody>
        </p:sp>
      </p:grpSp>
      <p:grpSp>
        <p:nvGrpSpPr>
          <p:cNvPr id="68" name="live-voltage"/>
          <p:cNvGrpSpPr/>
          <p:nvPr/>
        </p:nvGrpSpPr>
        <p:grpSpPr>
          <a:xfrm>
            <a:off x="6458037" y="2533650"/>
            <a:ext cx="5048163" cy="3067050"/>
            <a:chOff x="6458037" y="2533650"/>
            <a:chExt cx="5048163" cy="3067050"/>
          </a:xfrm>
        </p:grpSpPr>
        <p:grpSp>
          <p:nvGrpSpPr>
            <p:cNvPr id="67" name="live-voltage-chartArea"/>
            <p:cNvGrpSpPr/>
            <p:nvPr/>
          </p:nvGrpSpPr>
          <p:grpSpPr>
            <a:xfrm>
              <a:off x="6458037" y="2533650"/>
              <a:ext cx="5048163" cy="3067050"/>
              <a:chOff x="6458037" y="2533650"/>
              <a:chExt cx="5048163" cy="3067050"/>
            </a:xfrm>
          </p:grpSpPr>
          <p:sp>
            <p:nvSpPr>
              <p:cNvPr id="29" name="Rectangle 29"/>
              <p:cNvSpPr/>
              <p:nvPr/>
            </p:nvSpPr>
            <p:spPr>
              <a:xfrm>
                <a:off x="6819900" y="2533650"/>
                <a:ext cx="4686300" cy="3067050"/>
              </a:xfrm>
              <a:prstGeom prst="rect">
                <a:avLst/>
              </a:prstGeom>
              <a:solidFill>
                <a:srgbClr val="FFFDF7"/>
              </a:solidFill>
              <a:ln>
                <a:noFill/>
              </a:ln>
            </p:spPr>
          </p:sp>
          <p:sp>
            <p:nvSpPr>
              <p:cNvPr id="30" name="Line 30"/>
              <p:cNvSpPr/>
              <p:nvPr/>
            </p:nvSpPr>
            <p:spPr>
              <a:xfrm>
                <a:off x="7296150" y="2876550"/>
                <a:ext cx="3943350" cy="9525"/>
              </a:xfrm>
              <a:custGeom>
                <a:avLst/>
                <a:gdLst/>
                <a:ahLst/>
                <a:cxnLst/>
                <a:rect l="l" t="t" r="r" b="b"/>
                <a:pathLst>
                  <a:path w="3943350" h="9525">
                    <a:moveTo>
                      <a:pt x="0" y="0"/>
                    </a:moveTo>
                    <a:lnTo>
                      <a:pt x="3943350" y="0"/>
                    </a:lnTo>
                  </a:path>
                </a:pathLst>
              </a:custGeom>
              <a:noFill/>
              <a:ln w="14288">
                <a:solidFill>
                  <a:srgbClr val="E3DDD3"/>
                </a:solidFill>
              </a:ln>
            </p:spPr>
          </p:sp>
          <p:sp>
            <p:nvSpPr>
              <p:cNvPr id="31" name="Line 31"/>
              <p:cNvSpPr/>
              <p:nvPr/>
            </p:nvSpPr>
            <p:spPr>
              <a:xfrm>
                <a:off x="7296150" y="3562350"/>
                <a:ext cx="3943350" cy="9525"/>
              </a:xfrm>
              <a:custGeom>
                <a:avLst/>
                <a:gdLst/>
                <a:ahLst/>
                <a:cxnLst/>
                <a:rect l="l" t="t" r="r" b="b"/>
                <a:pathLst>
                  <a:path w="3943350" h="9525">
                    <a:moveTo>
                      <a:pt x="0" y="0"/>
                    </a:moveTo>
                    <a:lnTo>
                      <a:pt x="3943350" y="0"/>
                    </a:lnTo>
                  </a:path>
                </a:pathLst>
              </a:custGeom>
              <a:noFill/>
              <a:ln w="14288">
                <a:solidFill>
                  <a:srgbClr val="E3DDD3"/>
                </a:solidFill>
              </a:ln>
            </p:spPr>
          </p:sp>
          <p:sp>
            <p:nvSpPr>
              <p:cNvPr id="32" name="Line 32"/>
              <p:cNvSpPr/>
              <p:nvPr/>
            </p:nvSpPr>
            <p:spPr>
              <a:xfrm>
                <a:off x="7296150" y="4248150"/>
                <a:ext cx="3943350" cy="9525"/>
              </a:xfrm>
              <a:custGeom>
                <a:avLst/>
                <a:gdLst/>
                <a:ahLst/>
                <a:cxnLst/>
                <a:rect l="l" t="t" r="r" b="b"/>
                <a:pathLst>
                  <a:path w="3943350" h="9525">
                    <a:moveTo>
                      <a:pt x="0" y="0"/>
                    </a:moveTo>
                    <a:lnTo>
                      <a:pt x="3943350" y="0"/>
                    </a:lnTo>
                  </a:path>
                </a:pathLst>
              </a:custGeom>
              <a:noFill/>
              <a:ln w="14288">
                <a:solidFill>
                  <a:srgbClr val="E3DDD3"/>
                </a:solidFill>
              </a:ln>
            </p:spPr>
          </p:sp>
          <p:sp>
            <p:nvSpPr>
              <p:cNvPr id="33" name="Line 33"/>
              <p:cNvSpPr/>
              <p:nvPr/>
            </p:nvSpPr>
            <p:spPr>
              <a:xfrm>
                <a:off x="7296150" y="4933950"/>
                <a:ext cx="3943350" cy="9525"/>
              </a:xfrm>
              <a:custGeom>
                <a:avLst/>
                <a:gdLst/>
                <a:ahLst/>
                <a:cxnLst/>
                <a:rect l="l" t="t" r="r" b="b"/>
                <a:pathLst>
                  <a:path w="3943350" h="9525">
                    <a:moveTo>
                      <a:pt x="0" y="0"/>
                    </a:moveTo>
                    <a:lnTo>
                      <a:pt x="3943350" y="0"/>
                    </a:lnTo>
                  </a:path>
                </a:pathLst>
              </a:custGeom>
              <a:noFill/>
              <a:ln w="19050">
                <a:solidFill>
                  <a:schemeClr val="accent1"/>
                </a:solidFill>
              </a:ln>
            </p:spPr>
          </p:sp>
          <p:sp>
            <p:nvSpPr>
              <p:cNvPr id="34" name="Line 34"/>
              <p:cNvSpPr/>
              <p:nvPr/>
            </p:nvSpPr>
            <p:spPr>
              <a:xfrm>
                <a:off x="7296150" y="2876550"/>
                <a:ext cx="9525" cy="2057400"/>
              </a:xfrm>
              <a:custGeom>
                <a:avLst/>
                <a:gdLst/>
                <a:ahLst/>
                <a:cxnLst/>
                <a:rect l="l" t="t" r="r" b="b"/>
                <a:pathLst>
                  <a:path w="9525" h="2057400">
                    <a:moveTo>
                      <a:pt x="0" y="0"/>
                    </a:moveTo>
                    <a:lnTo>
                      <a:pt x="0" y="2057400"/>
                    </a:lnTo>
                  </a:path>
                </a:pathLst>
              </a:custGeom>
              <a:noFill/>
              <a:ln w="19050">
                <a:solidFill>
                  <a:schemeClr val="accent1"/>
                </a:solidFill>
              </a:ln>
            </p:spPr>
          </p:sp>
          <p:sp>
            <p:nvSpPr>
              <p:cNvPr id="35" name="TextBox 35"/>
              <p:cNvSpPr txBox="1"/>
              <p:nvPr/>
            </p:nvSpPr>
            <p:spPr>
              <a:xfrm>
                <a:off x="6924237" y="4854575"/>
                <a:ext cx="243897" cy="205359"/>
              </a:xfrm>
              <a:prstGeom prst="rect">
                <a:avLst/>
              </a:prstGeom>
              <a:noFill/>
              <a:ln>
                <a:noFill/>
              </a:ln>
            </p:spPr>
            <p:txBody>
              <a:bodyPr wrap="none" lIns="0" tIns="0" rIns="0" bIns="0" anchor="t" anchorCtr="0">
                <a:spAutoFit/>
              </a:bodyPr>
              <a:lstStyle/>
              <a:p>
                <a:pPr algn="r"/>
                <a:r>
                  <a:rPr lang="vi-VN" sz="1050" dirty="0">
                    <a:solidFill>
                      <a:schemeClr val="accent5"/>
                    </a:solidFill>
                    <a:latin typeface="+mn-lt"/>
                    <a:ea typeface="+mn-ea"/>
                    <a:cs typeface="+mn-cs"/>
                  </a:rPr>
                  <a:t>0.0</a:t>
                </a:r>
              </a:p>
            </p:txBody>
          </p:sp>
          <p:sp>
            <p:nvSpPr>
              <p:cNvPr id="36" name="TextBox 36"/>
              <p:cNvSpPr txBox="1"/>
              <p:nvPr/>
            </p:nvSpPr>
            <p:spPr>
              <a:xfrm>
                <a:off x="6924237" y="4168775"/>
                <a:ext cx="243897" cy="205359"/>
              </a:xfrm>
              <a:prstGeom prst="rect">
                <a:avLst/>
              </a:prstGeom>
              <a:noFill/>
              <a:ln>
                <a:noFill/>
              </a:ln>
            </p:spPr>
            <p:txBody>
              <a:bodyPr wrap="none" lIns="0" tIns="0" rIns="0" bIns="0" anchor="t" anchorCtr="0">
                <a:spAutoFit/>
              </a:bodyPr>
              <a:lstStyle/>
              <a:p>
                <a:pPr algn="r"/>
                <a:r>
                  <a:rPr lang="vi-VN" sz="1050" dirty="0">
                    <a:solidFill>
                      <a:schemeClr val="accent5"/>
                    </a:solidFill>
                    <a:latin typeface="+mn-lt"/>
                    <a:ea typeface="+mn-ea"/>
                    <a:cs typeface="+mn-cs"/>
                  </a:rPr>
                  <a:t>0.2</a:t>
                </a:r>
              </a:p>
            </p:txBody>
          </p:sp>
          <p:sp>
            <p:nvSpPr>
              <p:cNvPr id="37" name="TextBox 37"/>
              <p:cNvSpPr txBox="1"/>
              <p:nvPr/>
            </p:nvSpPr>
            <p:spPr>
              <a:xfrm>
                <a:off x="6924237" y="3482975"/>
                <a:ext cx="243897" cy="205359"/>
              </a:xfrm>
              <a:prstGeom prst="rect">
                <a:avLst/>
              </a:prstGeom>
              <a:noFill/>
              <a:ln>
                <a:noFill/>
              </a:ln>
            </p:spPr>
            <p:txBody>
              <a:bodyPr wrap="none" lIns="0" tIns="0" rIns="0" bIns="0" anchor="t" anchorCtr="0">
                <a:spAutoFit/>
              </a:bodyPr>
              <a:lstStyle/>
              <a:p>
                <a:pPr algn="r"/>
                <a:r>
                  <a:rPr lang="vi-VN" sz="1050" dirty="0">
                    <a:solidFill>
                      <a:schemeClr val="accent5"/>
                    </a:solidFill>
                    <a:latin typeface="+mn-lt"/>
                    <a:ea typeface="+mn-ea"/>
                    <a:cs typeface="+mn-cs"/>
                  </a:rPr>
                  <a:t>0.4</a:t>
                </a:r>
              </a:p>
            </p:txBody>
          </p:sp>
          <p:sp>
            <p:nvSpPr>
              <p:cNvPr id="38" name="TextBox 38"/>
              <p:cNvSpPr txBox="1"/>
              <p:nvPr/>
            </p:nvSpPr>
            <p:spPr>
              <a:xfrm>
                <a:off x="6924237" y="2797175"/>
                <a:ext cx="243897" cy="205359"/>
              </a:xfrm>
              <a:prstGeom prst="rect">
                <a:avLst/>
              </a:prstGeom>
              <a:noFill/>
              <a:ln>
                <a:noFill/>
              </a:ln>
            </p:spPr>
            <p:txBody>
              <a:bodyPr wrap="none" lIns="0" tIns="0" rIns="0" bIns="0" anchor="t" anchorCtr="0">
                <a:spAutoFit/>
              </a:bodyPr>
              <a:lstStyle/>
              <a:p>
                <a:pPr algn="r"/>
                <a:r>
                  <a:rPr lang="vi-VN" sz="1050" dirty="0">
                    <a:solidFill>
                      <a:schemeClr val="accent5"/>
                    </a:solidFill>
                    <a:latin typeface="+mn-lt"/>
                    <a:ea typeface="+mn-ea"/>
                    <a:cs typeface="+mn-cs"/>
                  </a:rPr>
                  <a:t>0.6</a:t>
                </a:r>
              </a:p>
            </p:txBody>
          </p:sp>
          <p:sp>
            <p:nvSpPr>
              <p:cNvPr id="39" name="TextBox 39"/>
              <p:cNvSpPr txBox="1"/>
              <p:nvPr/>
            </p:nvSpPr>
            <p:spPr>
              <a:xfrm>
                <a:off x="7251944" y="5016500"/>
                <a:ext cx="88411" cy="205359"/>
              </a:xfrm>
              <a:prstGeom prst="rect">
                <a:avLst/>
              </a:prstGeom>
              <a:noFill/>
              <a:ln>
                <a:noFill/>
              </a:ln>
            </p:spPr>
            <p:txBody>
              <a:bodyPr wrap="none" lIns="0" tIns="0" rIns="0" bIns="0" anchor="t" anchorCtr="0">
                <a:spAutoFit/>
              </a:bodyPr>
              <a:lstStyle/>
              <a:p>
                <a:pPr algn="ctr"/>
                <a:r>
                  <a:rPr lang="vi-VN" sz="1050" dirty="0">
                    <a:solidFill>
                      <a:schemeClr val="accent5"/>
                    </a:solidFill>
                    <a:latin typeface="+mn-lt"/>
                    <a:ea typeface="+mn-ea"/>
                    <a:cs typeface="+mn-cs"/>
                  </a:rPr>
                  <a:t>0</a:t>
                </a:r>
              </a:p>
            </p:txBody>
          </p:sp>
          <p:sp>
            <p:nvSpPr>
              <p:cNvPr id="40" name="TextBox 40"/>
              <p:cNvSpPr txBox="1"/>
              <p:nvPr/>
            </p:nvSpPr>
            <p:spPr>
              <a:xfrm>
                <a:off x="8242544" y="5016500"/>
                <a:ext cx="88411" cy="205359"/>
              </a:xfrm>
              <a:prstGeom prst="rect">
                <a:avLst/>
              </a:prstGeom>
              <a:noFill/>
              <a:ln>
                <a:noFill/>
              </a:ln>
            </p:spPr>
            <p:txBody>
              <a:bodyPr wrap="none" lIns="0" tIns="0" rIns="0" bIns="0" anchor="t" anchorCtr="0">
                <a:spAutoFit/>
              </a:bodyPr>
              <a:lstStyle/>
              <a:p>
                <a:pPr algn="ctr"/>
                <a:r>
                  <a:rPr lang="vi-VN" sz="1050" dirty="0">
                    <a:solidFill>
                      <a:schemeClr val="accent5"/>
                    </a:solidFill>
                    <a:latin typeface="+mn-lt"/>
                    <a:ea typeface="+mn-ea"/>
                    <a:cs typeface="+mn-cs"/>
                  </a:rPr>
                  <a:t>5</a:t>
                </a:r>
              </a:p>
            </p:txBody>
          </p:sp>
          <p:sp>
            <p:nvSpPr>
              <p:cNvPr id="41" name="TextBox 41"/>
              <p:cNvSpPr txBox="1"/>
              <p:nvPr/>
            </p:nvSpPr>
            <p:spPr>
              <a:xfrm>
                <a:off x="9184748" y="5016500"/>
                <a:ext cx="166154" cy="205359"/>
              </a:xfrm>
              <a:prstGeom prst="rect">
                <a:avLst/>
              </a:prstGeom>
              <a:noFill/>
              <a:ln>
                <a:noFill/>
              </a:ln>
            </p:spPr>
            <p:txBody>
              <a:bodyPr wrap="none" lIns="0" tIns="0" rIns="0" bIns="0" anchor="t" anchorCtr="0">
                <a:spAutoFit/>
              </a:bodyPr>
              <a:lstStyle/>
              <a:p>
                <a:pPr algn="ctr"/>
                <a:r>
                  <a:rPr lang="vi-VN" sz="1050" dirty="0">
                    <a:solidFill>
                      <a:schemeClr val="accent5"/>
                    </a:solidFill>
                    <a:latin typeface="+mn-lt"/>
                    <a:ea typeface="+mn-ea"/>
                    <a:cs typeface="+mn-cs"/>
                  </a:rPr>
                  <a:t>10</a:t>
                </a:r>
              </a:p>
            </p:txBody>
          </p:sp>
          <p:sp>
            <p:nvSpPr>
              <p:cNvPr id="42" name="TextBox 42"/>
              <p:cNvSpPr txBox="1"/>
              <p:nvPr/>
            </p:nvSpPr>
            <p:spPr>
              <a:xfrm>
                <a:off x="10175348" y="5016500"/>
                <a:ext cx="166154" cy="205359"/>
              </a:xfrm>
              <a:prstGeom prst="rect">
                <a:avLst/>
              </a:prstGeom>
              <a:noFill/>
              <a:ln>
                <a:noFill/>
              </a:ln>
            </p:spPr>
            <p:txBody>
              <a:bodyPr wrap="none" lIns="0" tIns="0" rIns="0" bIns="0" anchor="t" anchorCtr="0">
                <a:spAutoFit/>
              </a:bodyPr>
              <a:lstStyle/>
              <a:p>
                <a:pPr algn="ctr"/>
                <a:r>
                  <a:rPr lang="vi-VN" sz="1050" dirty="0">
                    <a:solidFill>
                      <a:schemeClr val="accent5"/>
                    </a:solidFill>
                    <a:latin typeface="+mn-lt"/>
                    <a:ea typeface="+mn-ea"/>
                    <a:cs typeface="+mn-cs"/>
                  </a:rPr>
                  <a:t>15</a:t>
                </a:r>
              </a:p>
            </p:txBody>
          </p:sp>
          <p:sp>
            <p:nvSpPr>
              <p:cNvPr id="43" name="TextBox 43"/>
              <p:cNvSpPr txBox="1"/>
              <p:nvPr/>
            </p:nvSpPr>
            <p:spPr>
              <a:xfrm>
                <a:off x="11156423" y="5016500"/>
                <a:ext cx="166154" cy="205359"/>
              </a:xfrm>
              <a:prstGeom prst="rect">
                <a:avLst/>
              </a:prstGeom>
              <a:noFill/>
              <a:ln>
                <a:noFill/>
              </a:ln>
            </p:spPr>
            <p:txBody>
              <a:bodyPr wrap="none" lIns="0" tIns="0" rIns="0" bIns="0" anchor="t" anchorCtr="0">
                <a:spAutoFit/>
              </a:bodyPr>
              <a:lstStyle/>
              <a:p>
                <a:pPr algn="ctr"/>
                <a:r>
                  <a:rPr lang="vi-VN" sz="1050" dirty="0">
                    <a:solidFill>
                      <a:schemeClr val="accent5"/>
                    </a:solidFill>
                    <a:latin typeface="+mn-lt"/>
                    <a:ea typeface="+mn-ea"/>
                    <a:cs typeface="+mn-cs"/>
                  </a:rPr>
                  <a:t>20</a:t>
                </a:r>
              </a:p>
            </p:txBody>
          </p:sp>
          <p:sp>
            <p:nvSpPr>
              <p:cNvPr id="44" name="TextBox 44"/>
              <p:cNvSpPr txBox="1"/>
              <p:nvPr/>
            </p:nvSpPr>
            <p:spPr>
              <a:xfrm rot="-5400000">
                <a:off x="6458037" y="3787902"/>
                <a:ext cx="882222" cy="234696"/>
              </a:xfrm>
              <a:prstGeom prst="rect">
                <a:avLst/>
              </a:prstGeom>
              <a:noFill/>
              <a:ln>
                <a:noFill/>
              </a:ln>
            </p:spPr>
            <p:txBody>
              <a:bodyPr wrap="none" lIns="0" tIns="0" rIns="0" bIns="0" anchor="t" anchorCtr="0">
                <a:spAutoFit/>
              </a:bodyPr>
              <a:lstStyle/>
              <a:p>
                <a:pPr algn="ctr"/>
                <a:r>
                  <a:rPr lang="vi-VN" sz="1200" dirty="0">
                    <a:solidFill>
                      <a:schemeClr val="dk1"/>
                    </a:solidFill>
                    <a:latin typeface="+mn-lt"/>
                    <a:ea typeface="+mn-ea"/>
                    <a:cs typeface="+mn-cs"/>
                  </a:rPr>
                  <a:t>Điện áp (V)</a:t>
                </a:r>
              </a:p>
            </p:txBody>
          </p:sp>
          <p:sp>
            <p:nvSpPr>
              <p:cNvPr id="45" name="TextBox 45"/>
              <p:cNvSpPr txBox="1"/>
              <p:nvPr/>
            </p:nvSpPr>
            <p:spPr>
              <a:xfrm>
                <a:off x="8859079" y="5276850"/>
                <a:ext cx="817493" cy="234696"/>
              </a:xfrm>
              <a:prstGeom prst="rect">
                <a:avLst/>
              </a:prstGeom>
              <a:noFill/>
              <a:ln>
                <a:noFill/>
              </a:ln>
            </p:spPr>
            <p:txBody>
              <a:bodyPr wrap="none" lIns="0" tIns="0" rIns="0" bIns="0" anchor="t" anchorCtr="0">
                <a:spAutoFit/>
              </a:bodyPr>
              <a:lstStyle/>
              <a:p>
                <a:pPr algn="ctr"/>
                <a:r>
                  <a:rPr lang="vi-VN" sz="1200" dirty="0">
                    <a:solidFill>
                      <a:schemeClr val="dk1"/>
                    </a:solidFill>
                    <a:latin typeface="+mn-lt"/>
                    <a:ea typeface="+mn-ea"/>
                    <a:cs typeface="+mn-cs"/>
                  </a:rPr>
                  <a:t>Chỉ số mẫu</a:t>
                </a:r>
              </a:p>
            </p:txBody>
          </p:sp>
          <p:sp>
            <p:nvSpPr>
              <p:cNvPr id="46" name="Polyline 46"/>
              <p:cNvSpPr/>
              <p:nvPr/>
            </p:nvSpPr>
            <p:spPr>
              <a:xfrm>
                <a:off x="7296150" y="3086100"/>
                <a:ext cx="3743325" cy="1162050"/>
              </a:xfrm>
              <a:custGeom>
                <a:avLst/>
                <a:gdLst/>
                <a:ahLst/>
                <a:cxnLst/>
                <a:rect l="l" t="t" r="r" b="b"/>
                <a:pathLst>
                  <a:path w="3743325" h="1162050">
                    <a:moveTo>
                      <a:pt x="0" y="1162050"/>
                    </a:moveTo>
                    <a:lnTo>
                      <a:pt x="200025" y="1057275"/>
                    </a:lnTo>
                    <a:lnTo>
                      <a:pt x="390525" y="1123950"/>
                    </a:lnTo>
                    <a:lnTo>
                      <a:pt x="590550" y="923925"/>
                    </a:lnTo>
                    <a:lnTo>
                      <a:pt x="790575" y="990600"/>
                    </a:lnTo>
                    <a:lnTo>
                      <a:pt x="990600" y="819150"/>
                    </a:lnTo>
                    <a:lnTo>
                      <a:pt x="1181100" y="714375"/>
                    </a:lnTo>
                    <a:lnTo>
                      <a:pt x="1381125" y="857250"/>
                    </a:lnTo>
                    <a:lnTo>
                      <a:pt x="1581150" y="609600"/>
                    </a:lnTo>
                    <a:lnTo>
                      <a:pt x="1771650" y="685800"/>
                    </a:lnTo>
                    <a:lnTo>
                      <a:pt x="1971675" y="514350"/>
                    </a:lnTo>
                    <a:lnTo>
                      <a:pt x="2171700" y="409575"/>
                    </a:lnTo>
                    <a:lnTo>
                      <a:pt x="2362200" y="542925"/>
                    </a:lnTo>
                    <a:lnTo>
                      <a:pt x="2562225" y="342900"/>
                    </a:lnTo>
                    <a:lnTo>
                      <a:pt x="2762250" y="438150"/>
                    </a:lnTo>
                    <a:lnTo>
                      <a:pt x="2962275" y="238125"/>
                    </a:lnTo>
                    <a:lnTo>
                      <a:pt x="3152775" y="171450"/>
                    </a:lnTo>
                    <a:lnTo>
                      <a:pt x="3352800" y="266700"/>
                    </a:lnTo>
                    <a:lnTo>
                      <a:pt x="3552825" y="66675"/>
                    </a:lnTo>
                    <a:lnTo>
                      <a:pt x="3743325" y="0"/>
                    </a:lnTo>
                  </a:path>
                </a:pathLst>
              </a:custGeom>
              <a:noFill/>
              <a:ln w="28575">
                <a:solidFill>
                  <a:schemeClr val="accent2"/>
                </a:solidFill>
              </a:ln>
            </p:spPr>
          </p:sp>
          <p:sp>
            <p:nvSpPr>
              <p:cNvPr id="47" name="Ellipse 47"/>
              <p:cNvSpPr/>
              <p:nvPr/>
            </p:nvSpPr>
            <p:spPr>
              <a:xfrm>
                <a:off x="7258050" y="4210050"/>
                <a:ext cx="76200" cy="76200"/>
              </a:xfrm>
              <a:prstGeom prst="ellipse">
                <a:avLst/>
              </a:prstGeom>
              <a:solidFill>
                <a:schemeClr val="accent2"/>
              </a:solidFill>
              <a:ln>
                <a:noFill/>
              </a:ln>
            </p:spPr>
          </p:sp>
          <p:sp>
            <p:nvSpPr>
              <p:cNvPr id="48" name="Ellipse 48"/>
              <p:cNvSpPr/>
              <p:nvPr/>
            </p:nvSpPr>
            <p:spPr>
              <a:xfrm>
                <a:off x="7458075" y="4105275"/>
                <a:ext cx="76200" cy="76200"/>
              </a:xfrm>
              <a:prstGeom prst="ellipse">
                <a:avLst/>
              </a:prstGeom>
              <a:solidFill>
                <a:schemeClr val="accent2"/>
              </a:solidFill>
              <a:ln>
                <a:noFill/>
              </a:ln>
            </p:spPr>
          </p:sp>
          <p:sp>
            <p:nvSpPr>
              <p:cNvPr id="49" name="Ellipse 49"/>
              <p:cNvSpPr/>
              <p:nvPr/>
            </p:nvSpPr>
            <p:spPr>
              <a:xfrm>
                <a:off x="7648575" y="4171950"/>
                <a:ext cx="76200" cy="76200"/>
              </a:xfrm>
              <a:prstGeom prst="ellipse">
                <a:avLst/>
              </a:prstGeom>
              <a:solidFill>
                <a:schemeClr val="accent2"/>
              </a:solidFill>
              <a:ln>
                <a:noFill/>
              </a:ln>
            </p:spPr>
          </p:sp>
          <p:sp>
            <p:nvSpPr>
              <p:cNvPr id="50" name="Ellipse 50"/>
              <p:cNvSpPr/>
              <p:nvPr/>
            </p:nvSpPr>
            <p:spPr>
              <a:xfrm>
                <a:off x="7848600" y="3971925"/>
                <a:ext cx="76200" cy="76200"/>
              </a:xfrm>
              <a:prstGeom prst="ellipse">
                <a:avLst/>
              </a:prstGeom>
              <a:solidFill>
                <a:schemeClr val="accent2"/>
              </a:solidFill>
              <a:ln>
                <a:noFill/>
              </a:ln>
            </p:spPr>
          </p:sp>
          <p:sp>
            <p:nvSpPr>
              <p:cNvPr id="51" name="Ellipse 51"/>
              <p:cNvSpPr/>
              <p:nvPr/>
            </p:nvSpPr>
            <p:spPr>
              <a:xfrm>
                <a:off x="8048625" y="4038600"/>
                <a:ext cx="76200" cy="76200"/>
              </a:xfrm>
              <a:prstGeom prst="ellipse">
                <a:avLst/>
              </a:prstGeom>
              <a:solidFill>
                <a:schemeClr val="accent2"/>
              </a:solidFill>
              <a:ln>
                <a:noFill/>
              </a:ln>
            </p:spPr>
          </p:sp>
          <p:sp>
            <p:nvSpPr>
              <p:cNvPr id="52" name="Ellipse 52"/>
              <p:cNvSpPr/>
              <p:nvPr/>
            </p:nvSpPr>
            <p:spPr>
              <a:xfrm>
                <a:off x="8248650" y="3867150"/>
                <a:ext cx="76200" cy="76200"/>
              </a:xfrm>
              <a:prstGeom prst="ellipse">
                <a:avLst/>
              </a:prstGeom>
              <a:solidFill>
                <a:schemeClr val="accent2"/>
              </a:solidFill>
              <a:ln>
                <a:noFill/>
              </a:ln>
            </p:spPr>
          </p:sp>
          <p:sp>
            <p:nvSpPr>
              <p:cNvPr id="53" name="Ellipse 53"/>
              <p:cNvSpPr/>
              <p:nvPr/>
            </p:nvSpPr>
            <p:spPr>
              <a:xfrm>
                <a:off x="8439150" y="3762375"/>
                <a:ext cx="76200" cy="76200"/>
              </a:xfrm>
              <a:prstGeom prst="ellipse">
                <a:avLst/>
              </a:prstGeom>
              <a:solidFill>
                <a:schemeClr val="accent2"/>
              </a:solidFill>
              <a:ln>
                <a:noFill/>
              </a:ln>
            </p:spPr>
          </p:sp>
          <p:sp>
            <p:nvSpPr>
              <p:cNvPr id="54" name="Ellipse 54"/>
              <p:cNvSpPr/>
              <p:nvPr/>
            </p:nvSpPr>
            <p:spPr>
              <a:xfrm>
                <a:off x="8639175" y="3905250"/>
                <a:ext cx="76200" cy="76200"/>
              </a:xfrm>
              <a:prstGeom prst="ellipse">
                <a:avLst/>
              </a:prstGeom>
              <a:solidFill>
                <a:schemeClr val="accent2"/>
              </a:solidFill>
              <a:ln>
                <a:noFill/>
              </a:ln>
            </p:spPr>
          </p:sp>
          <p:sp>
            <p:nvSpPr>
              <p:cNvPr id="55" name="Ellipse 55"/>
              <p:cNvSpPr/>
              <p:nvPr/>
            </p:nvSpPr>
            <p:spPr>
              <a:xfrm>
                <a:off x="8839200" y="3657600"/>
                <a:ext cx="76200" cy="76200"/>
              </a:xfrm>
              <a:prstGeom prst="ellipse">
                <a:avLst/>
              </a:prstGeom>
              <a:solidFill>
                <a:schemeClr val="accent2"/>
              </a:solidFill>
              <a:ln>
                <a:noFill/>
              </a:ln>
            </p:spPr>
          </p:sp>
          <p:sp>
            <p:nvSpPr>
              <p:cNvPr id="56" name="Ellipse 56"/>
              <p:cNvSpPr/>
              <p:nvPr/>
            </p:nvSpPr>
            <p:spPr>
              <a:xfrm>
                <a:off x="9029700" y="3733800"/>
                <a:ext cx="76200" cy="76200"/>
              </a:xfrm>
              <a:prstGeom prst="ellipse">
                <a:avLst/>
              </a:prstGeom>
              <a:solidFill>
                <a:schemeClr val="accent2"/>
              </a:solidFill>
              <a:ln>
                <a:noFill/>
              </a:ln>
            </p:spPr>
          </p:sp>
          <p:sp>
            <p:nvSpPr>
              <p:cNvPr id="57" name="Ellipse 57"/>
              <p:cNvSpPr/>
              <p:nvPr/>
            </p:nvSpPr>
            <p:spPr>
              <a:xfrm>
                <a:off x="9229725" y="3562350"/>
                <a:ext cx="76200" cy="76200"/>
              </a:xfrm>
              <a:prstGeom prst="ellipse">
                <a:avLst/>
              </a:prstGeom>
              <a:solidFill>
                <a:schemeClr val="accent2"/>
              </a:solidFill>
              <a:ln>
                <a:noFill/>
              </a:ln>
            </p:spPr>
          </p:sp>
          <p:sp>
            <p:nvSpPr>
              <p:cNvPr id="58" name="Ellipse 58"/>
              <p:cNvSpPr/>
              <p:nvPr/>
            </p:nvSpPr>
            <p:spPr>
              <a:xfrm>
                <a:off x="9429750" y="3457575"/>
                <a:ext cx="76200" cy="76200"/>
              </a:xfrm>
              <a:prstGeom prst="ellipse">
                <a:avLst/>
              </a:prstGeom>
              <a:solidFill>
                <a:schemeClr val="accent2"/>
              </a:solidFill>
              <a:ln>
                <a:noFill/>
              </a:ln>
            </p:spPr>
          </p:sp>
          <p:sp>
            <p:nvSpPr>
              <p:cNvPr id="59" name="Ellipse 59"/>
              <p:cNvSpPr/>
              <p:nvPr/>
            </p:nvSpPr>
            <p:spPr>
              <a:xfrm>
                <a:off x="9620250" y="3590925"/>
                <a:ext cx="76200" cy="76200"/>
              </a:xfrm>
              <a:prstGeom prst="ellipse">
                <a:avLst/>
              </a:prstGeom>
              <a:solidFill>
                <a:schemeClr val="accent2"/>
              </a:solidFill>
              <a:ln>
                <a:noFill/>
              </a:ln>
            </p:spPr>
          </p:sp>
          <p:sp>
            <p:nvSpPr>
              <p:cNvPr id="60" name="Ellipse 60"/>
              <p:cNvSpPr/>
              <p:nvPr/>
            </p:nvSpPr>
            <p:spPr>
              <a:xfrm>
                <a:off x="9820275" y="3390900"/>
                <a:ext cx="76200" cy="76200"/>
              </a:xfrm>
              <a:prstGeom prst="ellipse">
                <a:avLst/>
              </a:prstGeom>
              <a:solidFill>
                <a:schemeClr val="accent2"/>
              </a:solidFill>
              <a:ln>
                <a:noFill/>
              </a:ln>
            </p:spPr>
          </p:sp>
          <p:sp>
            <p:nvSpPr>
              <p:cNvPr id="61" name="Ellipse 61"/>
              <p:cNvSpPr/>
              <p:nvPr/>
            </p:nvSpPr>
            <p:spPr>
              <a:xfrm>
                <a:off x="10020300" y="3486150"/>
                <a:ext cx="76200" cy="76200"/>
              </a:xfrm>
              <a:prstGeom prst="ellipse">
                <a:avLst/>
              </a:prstGeom>
              <a:solidFill>
                <a:schemeClr val="accent2"/>
              </a:solidFill>
              <a:ln>
                <a:noFill/>
              </a:ln>
            </p:spPr>
          </p:sp>
          <p:sp>
            <p:nvSpPr>
              <p:cNvPr id="62" name="Ellipse 62"/>
              <p:cNvSpPr/>
              <p:nvPr/>
            </p:nvSpPr>
            <p:spPr>
              <a:xfrm>
                <a:off x="10220325" y="3286125"/>
                <a:ext cx="76200" cy="76200"/>
              </a:xfrm>
              <a:prstGeom prst="ellipse">
                <a:avLst/>
              </a:prstGeom>
              <a:solidFill>
                <a:schemeClr val="accent2"/>
              </a:solidFill>
              <a:ln>
                <a:noFill/>
              </a:ln>
            </p:spPr>
          </p:sp>
          <p:sp>
            <p:nvSpPr>
              <p:cNvPr id="63" name="Ellipse 63"/>
              <p:cNvSpPr/>
              <p:nvPr/>
            </p:nvSpPr>
            <p:spPr>
              <a:xfrm>
                <a:off x="10410825" y="3219450"/>
                <a:ext cx="76200" cy="76200"/>
              </a:xfrm>
              <a:prstGeom prst="ellipse">
                <a:avLst/>
              </a:prstGeom>
              <a:solidFill>
                <a:schemeClr val="accent2"/>
              </a:solidFill>
              <a:ln>
                <a:noFill/>
              </a:ln>
            </p:spPr>
          </p:sp>
          <p:sp>
            <p:nvSpPr>
              <p:cNvPr id="64" name="Ellipse 64"/>
              <p:cNvSpPr/>
              <p:nvPr/>
            </p:nvSpPr>
            <p:spPr>
              <a:xfrm>
                <a:off x="10610850" y="3314700"/>
                <a:ext cx="76200" cy="76200"/>
              </a:xfrm>
              <a:prstGeom prst="ellipse">
                <a:avLst/>
              </a:prstGeom>
              <a:solidFill>
                <a:schemeClr val="accent2"/>
              </a:solidFill>
              <a:ln>
                <a:noFill/>
              </a:ln>
            </p:spPr>
          </p:sp>
          <p:sp>
            <p:nvSpPr>
              <p:cNvPr id="65" name="Ellipse 65"/>
              <p:cNvSpPr/>
              <p:nvPr/>
            </p:nvSpPr>
            <p:spPr>
              <a:xfrm>
                <a:off x="10810875" y="3114675"/>
                <a:ext cx="76200" cy="76200"/>
              </a:xfrm>
              <a:prstGeom prst="ellipse">
                <a:avLst/>
              </a:prstGeom>
              <a:solidFill>
                <a:schemeClr val="accent2"/>
              </a:solidFill>
              <a:ln>
                <a:noFill/>
              </a:ln>
            </p:spPr>
          </p:sp>
          <p:sp>
            <p:nvSpPr>
              <p:cNvPr id="66" name="Ellipse 66"/>
              <p:cNvSpPr/>
              <p:nvPr/>
            </p:nvSpPr>
            <p:spPr>
              <a:xfrm>
                <a:off x="11001375" y="3048000"/>
                <a:ext cx="76200" cy="76200"/>
              </a:xfrm>
              <a:prstGeom prst="ellipse">
                <a:avLst/>
              </a:prstGeom>
              <a:solidFill>
                <a:schemeClr val="accent2"/>
              </a:solidFill>
              <a:ln>
                <a:noFill/>
              </a:ln>
            </p:spPr>
          </p:sp>
        </p:grpSp>
      </p:grpSp>
      <p:grpSp>
        <p:nvGrpSpPr>
          <p:cNvPr id="70" name="live-voltage-note-bottom"/>
          <p:cNvGrpSpPr/>
          <p:nvPr/>
        </p:nvGrpSpPr>
        <p:grpSpPr>
          <a:xfrm>
            <a:off x="6813804" y="5734050"/>
            <a:ext cx="4557554" cy="234696"/>
            <a:chOff x="6813804" y="5734050"/>
            <a:chExt cx="4557554" cy="234696"/>
          </a:xfrm>
        </p:grpSpPr>
        <p:sp>
          <p:nvSpPr>
            <p:cNvPr id="69" name="TextBox 69"/>
            <p:cNvSpPr txBox="1"/>
            <p:nvPr/>
          </p:nvSpPr>
          <p:spPr>
            <a:xfrm>
              <a:off x="6813804" y="5734050"/>
              <a:ext cx="4557554" cy="234696"/>
            </a:xfrm>
            <a:prstGeom prst="rect">
              <a:avLst/>
            </a:prstGeom>
            <a:noFill/>
            <a:ln>
              <a:noFill/>
            </a:ln>
          </p:spPr>
          <p:txBody>
            <a:bodyPr wrap="none" lIns="0" tIns="0" rIns="0" bIns="0" anchor="t" anchorCtr="0">
              <a:spAutoFit/>
            </a:bodyPr>
            <a:lstStyle/>
            <a:p>
              <a:pPr algn="l"/>
              <a:r>
                <a:rPr lang="vi-VN" sz="1200" dirty="0">
                  <a:solidFill>
                    <a:schemeClr val="accent5"/>
                  </a:solidFill>
                  <a:latin typeface="+mn-lt"/>
                  <a:ea typeface="+mn-ea"/>
                  <a:cs typeface="+mn-cs"/>
                </a:rPr>
                <a:t>Chuẩn hóa đơn vị/ký tự chữ trước khi chuyển sang float().</a:t>
              </a:r>
            </a:p>
          </p:txBody>
        </p:sp>
      </p:grpSp>
      <p:grpSp>
        <p:nvGrpSpPr>
          <p:cNvPr id="73" name="page-footer"/>
          <p:cNvGrpSpPr/>
          <p:nvPr/>
        </p:nvGrpSpPr>
        <p:grpSpPr>
          <a:xfrm>
            <a:off x="679704" y="6429375"/>
            <a:ext cx="10832592" cy="234696"/>
            <a:chOff x="679704" y="6429375"/>
            <a:chExt cx="10832592" cy="234696"/>
          </a:xfrm>
        </p:grpSpPr>
        <p:sp>
          <p:nvSpPr>
            <p:cNvPr id="71" name="TextBox 71"/>
            <p:cNvSpPr txBox="1"/>
            <p:nvPr/>
          </p:nvSpPr>
          <p:spPr>
            <a:xfrm>
              <a:off x="679704" y="6429375"/>
              <a:ext cx="4219651" cy="234696"/>
            </a:xfrm>
            <a:prstGeom prst="rect">
              <a:avLst/>
            </a:prstGeom>
            <a:noFill/>
            <a:ln>
              <a:noFill/>
            </a:ln>
          </p:spPr>
          <p:txBody>
            <a:bodyPr wrap="none" lIns="0" tIns="0" rIns="0" bIns="0" anchor="t" anchorCtr="0">
              <a:spAutoFit/>
            </a:bodyPr>
            <a:lstStyle/>
            <a:p>
              <a:pPr algn="l"/>
              <a:r>
                <a:rPr lang="vi-VN" sz="1200" dirty="0">
                  <a:solidFill>
                    <a:schemeClr val="accent5"/>
                  </a:solidFill>
                  <a:latin typeface="+mn-lt"/>
                  <a:ea typeface="+mn-ea"/>
                  <a:cs typeface="+mn-cs"/>
                </a:rPr>
                <a:t>MATPLOTLIB · SET_DATA → RELIM/AUTOSCALE → PAUSE</a:t>
              </a:r>
            </a:p>
          </p:txBody>
        </p:sp>
        <p:sp>
          <p:nvSpPr>
            <p:cNvPr id="72" name="TextBox 72"/>
            <p:cNvSpPr txBox="1"/>
            <p:nvPr/>
          </p:nvSpPr>
          <p:spPr>
            <a:xfrm>
              <a:off x="10958932" y="6429375"/>
              <a:ext cx="553364" cy="234696"/>
            </a:xfrm>
            <a:prstGeom prst="rect">
              <a:avLst/>
            </a:prstGeom>
            <a:noFill/>
            <a:ln>
              <a:noFill/>
            </a:ln>
          </p:spPr>
          <p:txBody>
            <a:bodyPr wrap="none" lIns="0" tIns="0" rIns="0" bIns="0" anchor="t" anchorCtr="0">
              <a:spAutoFit/>
            </a:bodyPr>
            <a:lstStyle/>
            <a:p>
              <a:pPr algn="r"/>
              <a:r>
                <a:rPr lang="vi-VN" sz="1200" dirty="0">
                  <a:solidFill>
                    <a:schemeClr val="accent5"/>
                  </a:solidFill>
                  <a:latin typeface="+mn-lt"/>
                  <a:ea typeface="+mn-ea"/>
                  <a:cs typeface="+mn-cs"/>
                </a:rPr>
                <a:t>22 / 25</a:t>
              </a:r>
            </a:p>
          </p:txBody>
        </p:sp>
      </p:grpSp>
    </p:spTree>
  </p:cSld>
  <p:clrMapOvr>
    <a:masterClrMapping/>
  </p:clrMapOvr>
  <p:transition xmlns:p14="http://schemas.microsoft.com/office/powerpoint/2010/main" p14:dur="400">
    <p:fade/>
  </p:transition>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page-title"/>
          <p:cNvGrpSpPr/>
          <p:nvPr/>
        </p:nvGrpSpPr>
        <p:grpSpPr>
          <a:xfrm>
            <a:off x="669798" y="520700"/>
            <a:ext cx="10836402" cy="955675"/>
            <a:chOff x="669798" y="520700"/>
            <a:chExt cx="10836402" cy="955675"/>
          </a:xfrm>
        </p:grpSpPr>
        <p:sp>
          <p:nvSpPr>
            <p:cNvPr id="2" name="TextBox 2"/>
            <p:cNvSpPr txBox="1"/>
            <p:nvPr/>
          </p:nvSpPr>
          <p:spPr>
            <a:xfrm>
              <a:off x="678942" y="520700"/>
              <a:ext cx="2584437" cy="264033"/>
            </a:xfrm>
            <a:prstGeom prst="rect">
              <a:avLst/>
            </a:prstGeom>
            <a:noFill/>
            <a:ln>
              <a:noFill/>
            </a:ln>
          </p:spPr>
          <p:txBody>
            <a:bodyPr wrap="none" lIns="0" tIns="0" rIns="0" bIns="0" anchor="t" anchorCtr="0">
              <a:spAutoFit/>
            </a:bodyPr>
            <a:lstStyle/>
            <a:p>
              <a:pPr algn="l"/>
              <a:r>
                <a:rPr lang="vi-VN" sz="1350" b="1" dirty="0">
                  <a:solidFill>
                    <a:schemeClr val="accent3"/>
                  </a:solidFill>
                  <a:latin typeface="+mn-lt"/>
                  <a:ea typeface="+mn-ea"/>
                  <a:cs typeface="+mn-cs"/>
                </a:rPr>
                <a:t>06 · KIỂM TRA VÀ THỰC HÀNH</a:t>
              </a:r>
            </a:p>
          </p:txBody>
        </p:sp>
        <p:sp>
          <p:nvSpPr>
            <p:cNvPr id="3" name="TextBox 3"/>
            <p:cNvSpPr txBox="1"/>
            <p:nvPr/>
          </p:nvSpPr>
          <p:spPr>
            <a:xfrm>
              <a:off x="669798" y="838200"/>
              <a:ext cx="8373488" cy="616077"/>
            </a:xfrm>
            <a:prstGeom prst="rect">
              <a:avLst/>
            </a:prstGeom>
            <a:noFill/>
            <a:ln>
              <a:noFill/>
            </a:ln>
          </p:spPr>
          <p:txBody>
            <a:bodyPr wrap="none" lIns="0" tIns="0" rIns="0" bIns="0" anchor="t" anchorCtr="0">
              <a:spAutoFit/>
            </a:bodyPr>
            <a:lstStyle/>
            <a:p>
              <a:pPr algn="l"/>
              <a:r>
                <a:rPr lang="vi-VN" sz="3150" b="1" dirty="0">
                  <a:solidFill>
                    <a:schemeClr val="accent1"/>
                  </a:solidFill>
                  <a:latin typeface="+mn-lt"/>
                  <a:ea typeface="+mn-ea"/>
                  <a:cs typeface="+mn-cs"/>
                </a:rPr>
                <a:t>Chẩn đoán sự cố trong quy trình dữ liệu</a:t>
              </a:r>
            </a:p>
          </p:txBody>
        </p:sp>
        <p:sp>
          <p:nvSpPr>
            <p:cNvPr id="4" name="Line 4"/>
            <p:cNvSpPr/>
            <p:nvPr/>
          </p:nvSpPr>
          <p:spPr>
            <a:xfrm>
              <a:off x="685800" y="1466850"/>
              <a:ext cx="10820400" cy="9525"/>
            </a:xfrm>
            <a:custGeom>
              <a:avLst/>
              <a:gdLst/>
              <a:ahLst/>
              <a:cxnLst/>
              <a:rect l="l" t="t" r="r" b="b"/>
              <a:pathLst>
                <a:path w="10820400" h="9525">
                  <a:moveTo>
                    <a:pt x="0" y="0"/>
                  </a:moveTo>
                  <a:lnTo>
                    <a:pt x="10820400" y="0"/>
                  </a:lnTo>
                </a:path>
              </a:pathLst>
            </a:custGeom>
            <a:noFill/>
            <a:ln w="14288">
              <a:solidFill>
                <a:schemeClr val="accent6"/>
              </a:solidFill>
            </a:ln>
          </p:spPr>
        </p:sp>
      </p:grpSp>
      <p:grpSp>
        <p:nvGrpSpPr>
          <p:cNvPr id="28" name="troubleshooting-records"/>
          <p:cNvGrpSpPr/>
          <p:nvPr/>
        </p:nvGrpSpPr>
        <p:grpSpPr>
          <a:xfrm>
            <a:off x="678942" y="1911350"/>
            <a:ext cx="7341108" cy="3571177"/>
            <a:chOff x="678942" y="1911350"/>
            <a:chExt cx="7341108" cy="3571177"/>
          </a:xfrm>
        </p:grpSpPr>
        <p:grpSp>
          <p:nvGrpSpPr>
            <p:cNvPr id="27" name="troubleshooting-grid"/>
            <p:cNvGrpSpPr/>
            <p:nvPr/>
          </p:nvGrpSpPr>
          <p:grpSpPr>
            <a:xfrm>
              <a:off x="678942" y="1911350"/>
              <a:ext cx="7341108" cy="3571177"/>
              <a:chOff x="678942" y="1911350"/>
              <a:chExt cx="7341108" cy="3571177"/>
            </a:xfrm>
          </p:grpSpPr>
          <p:sp>
            <p:nvSpPr>
              <p:cNvPr id="6" name="TextBox 6"/>
              <p:cNvSpPr txBox="1"/>
              <p:nvPr/>
            </p:nvSpPr>
            <p:spPr>
              <a:xfrm>
                <a:off x="678942" y="1911350"/>
                <a:ext cx="1132736" cy="264033"/>
              </a:xfrm>
              <a:prstGeom prst="rect">
                <a:avLst/>
              </a:prstGeom>
              <a:noFill/>
              <a:ln>
                <a:noFill/>
              </a:ln>
            </p:spPr>
            <p:txBody>
              <a:bodyPr wrap="none" lIns="0" tIns="0" rIns="0" bIns="0" anchor="t" anchorCtr="0">
                <a:spAutoFit/>
              </a:bodyPr>
              <a:lstStyle/>
              <a:p>
                <a:pPr algn="l"/>
                <a:r>
                  <a:rPr lang="vi-VN" sz="1350" b="1" dirty="0">
                    <a:solidFill>
                      <a:schemeClr val="accent5"/>
                    </a:solidFill>
                    <a:latin typeface="+mn-lt"/>
                    <a:ea typeface="+mn-ea"/>
                    <a:cs typeface="+mn-cs"/>
                  </a:rPr>
                  <a:t>TRIỆU CHỨNG</a:t>
                </a:r>
              </a:p>
            </p:txBody>
          </p:sp>
          <p:sp>
            <p:nvSpPr>
              <p:cNvPr id="7" name="TextBox 7"/>
              <p:cNvSpPr txBox="1"/>
              <p:nvPr/>
            </p:nvSpPr>
            <p:spPr>
              <a:xfrm>
                <a:off x="2945892" y="1911350"/>
                <a:ext cx="1687205" cy="264033"/>
              </a:xfrm>
              <a:prstGeom prst="rect">
                <a:avLst/>
              </a:prstGeom>
              <a:noFill/>
              <a:ln>
                <a:noFill/>
              </a:ln>
            </p:spPr>
            <p:txBody>
              <a:bodyPr wrap="none" lIns="0" tIns="0" rIns="0" bIns="0" anchor="t" anchorCtr="0">
                <a:spAutoFit/>
              </a:bodyPr>
              <a:lstStyle/>
              <a:p>
                <a:pPr algn="l"/>
                <a:r>
                  <a:rPr lang="vi-VN" sz="1350" b="1" dirty="0">
                    <a:solidFill>
                      <a:schemeClr val="accent5"/>
                    </a:solidFill>
                    <a:latin typeface="+mn-lt"/>
                    <a:ea typeface="+mn-ea"/>
                    <a:cs typeface="+mn-cs"/>
                  </a:rPr>
                  <a:t>KIỂM TRA ĐẦU TIÊN</a:t>
                </a:r>
              </a:p>
            </p:txBody>
          </p:sp>
          <p:sp>
            <p:nvSpPr>
              <p:cNvPr id="8" name="Line 8"/>
              <p:cNvSpPr/>
              <p:nvPr/>
            </p:nvSpPr>
            <p:spPr>
              <a:xfrm>
                <a:off x="685800" y="2247900"/>
                <a:ext cx="7334250" cy="9525"/>
              </a:xfrm>
              <a:custGeom>
                <a:avLst/>
                <a:gdLst/>
                <a:ahLst/>
                <a:cxnLst/>
                <a:rect l="l" t="t" r="r" b="b"/>
                <a:pathLst>
                  <a:path w="7334250" h="9525">
                    <a:moveTo>
                      <a:pt x="0" y="0"/>
                    </a:moveTo>
                    <a:lnTo>
                      <a:pt x="7334250" y="0"/>
                    </a:lnTo>
                  </a:path>
                </a:pathLst>
              </a:custGeom>
              <a:noFill/>
              <a:ln w="19050">
                <a:solidFill>
                  <a:schemeClr val="accent1"/>
                </a:solidFill>
              </a:ln>
            </p:spPr>
          </p:sp>
          <p:sp>
            <p:nvSpPr>
              <p:cNvPr id="9" name="Rectangle 9"/>
              <p:cNvSpPr/>
              <p:nvPr/>
            </p:nvSpPr>
            <p:spPr>
              <a:xfrm>
                <a:off x="685800" y="2266950"/>
                <a:ext cx="7334250" cy="552450"/>
              </a:xfrm>
              <a:prstGeom prst="rect">
                <a:avLst/>
              </a:prstGeom>
              <a:solidFill>
                <a:schemeClr val="lt2"/>
              </a:solidFill>
              <a:ln>
                <a:noFill/>
              </a:ln>
            </p:spPr>
          </p:sp>
          <p:sp>
            <p:nvSpPr>
              <p:cNvPr id="10" name="TextBox 10"/>
              <p:cNvSpPr txBox="1"/>
              <p:nvPr/>
            </p:nvSpPr>
            <p:spPr>
              <a:xfrm>
                <a:off x="869061" y="2441575"/>
                <a:ext cx="1341302" cy="278702"/>
              </a:xfrm>
              <a:prstGeom prst="rect">
                <a:avLst/>
              </a:prstGeom>
              <a:noFill/>
              <a:ln>
                <a:noFill/>
              </a:ln>
            </p:spPr>
            <p:txBody>
              <a:bodyPr wrap="none" lIns="0" tIns="0" rIns="0" bIns="0" anchor="t" anchorCtr="0">
                <a:spAutoFit/>
              </a:bodyPr>
              <a:lstStyle/>
              <a:p>
                <a:pPr algn="l"/>
                <a:r>
                  <a:rPr lang="vi-VN" sz="1420" b="1" dirty="0">
                    <a:solidFill>
                      <a:schemeClr val="accent2"/>
                    </a:solidFill>
                    <a:latin typeface="+mn-lt"/>
                    <a:ea typeface="+mn-ea"/>
                    <a:cs typeface="+mn-cs"/>
                  </a:rPr>
                  <a:t>COM đang bận</a:t>
                </a:r>
              </a:p>
            </p:txBody>
          </p:sp>
          <p:sp>
            <p:nvSpPr>
              <p:cNvPr id="11" name="TextBox 11"/>
              <p:cNvSpPr txBox="1"/>
              <p:nvPr/>
            </p:nvSpPr>
            <p:spPr>
              <a:xfrm>
                <a:off x="2945892" y="2454275"/>
                <a:ext cx="4669917" cy="264033"/>
              </a:xfrm>
              <a:prstGeom prst="rect">
                <a:avLst/>
              </a:prstGeom>
              <a:noFill/>
              <a:ln>
                <a:noFill/>
              </a:ln>
            </p:spPr>
            <p:txBody>
              <a:bodyPr wrap="none" lIns="0" tIns="0" rIns="0" bIns="0" anchor="t" anchorCtr="0">
                <a:spAutoFit/>
              </a:bodyPr>
              <a:lstStyle/>
              <a:p>
                <a:pPr algn="l"/>
                <a:r>
                  <a:rPr lang="vi-VN" sz="1350" dirty="0">
                    <a:solidFill>
                      <a:schemeClr val="dk1"/>
                    </a:solidFill>
                    <a:latin typeface="+mn-lt"/>
                    <a:ea typeface="+mn-ea"/>
                    <a:cs typeface="+mn-cs"/>
                  </a:rPr>
                  <a:t>Đóng Hercules hoặc ứng dụng khác đang sử dụng cổng.</a:t>
                </a:r>
              </a:p>
            </p:txBody>
          </p:sp>
          <p:sp>
            <p:nvSpPr>
              <p:cNvPr id="12" name="Line 12"/>
              <p:cNvSpPr/>
              <p:nvPr/>
            </p:nvSpPr>
            <p:spPr>
              <a:xfrm>
                <a:off x="685800" y="2819400"/>
                <a:ext cx="7334250" cy="9525"/>
              </a:xfrm>
              <a:custGeom>
                <a:avLst/>
                <a:gdLst/>
                <a:ahLst/>
                <a:cxnLst/>
                <a:rect l="l" t="t" r="r" b="b"/>
                <a:pathLst>
                  <a:path w="7334250" h="9525">
                    <a:moveTo>
                      <a:pt x="0" y="0"/>
                    </a:moveTo>
                    <a:lnTo>
                      <a:pt x="7334250" y="0"/>
                    </a:lnTo>
                  </a:path>
                </a:pathLst>
              </a:custGeom>
              <a:noFill/>
              <a:ln w="9525">
                <a:solidFill>
                  <a:schemeClr val="accent6"/>
                </a:solidFill>
              </a:ln>
            </p:spPr>
          </p:sp>
          <p:sp>
            <p:nvSpPr>
              <p:cNvPr id="13" name="TextBox 13"/>
              <p:cNvSpPr txBox="1"/>
              <p:nvPr/>
            </p:nvSpPr>
            <p:spPr>
              <a:xfrm>
                <a:off x="869061" y="2994025"/>
                <a:ext cx="1697253" cy="278702"/>
              </a:xfrm>
              <a:prstGeom prst="rect">
                <a:avLst/>
              </a:prstGeom>
              <a:noFill/>
              <a:ln>
                <a:noFill/>
              </a:ln>
            </p:spPr>
            <p:txBody>
              <a:bodyPr wrap="none" lIns="0" tIns="0" rIns="0" bIns="0" anchor="t" anchorCtr="0">
                <a:spAutoFit/>
              </a:bodyPr>
              <a:lstStyle/>
              <a:p>
                <a:pPr algn="l"/>
                <a:r>
                  <a:rPr lang="vi-VN" sz="1420" b="1" dirty="0">
                    <a:solidFill>
                      <a:schemeClr val="accent2"/>
                    </a:solidFill>
                    <a:latin typeface="+mn-lt"/>
                    <a:ea typeface="+mn-ea"/>
                    <a:cs typeface="+mn-cs"/>
                  </a:rPr>
                  <a:t>Không có phản hồi</a:t>
                </a:r>
              </a:p>
            </p:txBody>
          </p:sp>
          <p:sp>
            <p:nvSpPr>
              <p:cNvPr id="14" name="TextBox 14"/>
              <p:cNvSpPr txBox="1"/>
              <p:nvPr/>
            </p:nvSpPr>
            <p:spPr>
              <a:xfrm>
                <a:off x="2945892" y="3006725"/>
                <a:ext cx="4336313" cy="264033"/>
              </a:xfrm>
              <a:prstGeom prst="rect">
                <a:avLst/>
              </a:prstGeom>
              <a:noFill/>
              <a:ln>
                <a:noFill/>
              </a:ln>
            </p:spPr>
            <p:txBody>
              <a:bodyPr wrap="none" lIns="0" tIns="0" rIns="0" bIns="0" anchor="t" anchorCtr="0">
                <a:spAutoFit/>
              </a:bodyPr>
              <a:lstStyle/>
              <a:p>
                <a:pPr algn="l"/>
                <a:r>
                  <a:rPr lang="vi-VN" sz="1350" dirty="0">
                    <a:solidFill>
                      <a:schemeClr val="dk1"/>
                    </a:solidFill>
                    <a:latin typeface="+mn-lt"/>
                    <a:ea typeface="+mn-ea"/>
                    <a:cs typeface="+mn-cs"/>
                  </a:rPr>
                  <a:t>COM · 9600/8N1 · Flow NONE · truy vấn (?) · CR</a:t>
                </a:r>
              </a:p>
            </p:txBody>
          </p:sp>
          <p:sp>
            <p:nvSpPr>
              <p:cNvPr id="15" name="Rectangle 15"/>
              <p:cNvSpPr/>
              <p:nvPr/>
            </p:nvSpPr>
            <p:spPr>
              <a:xfrm>
                <a:off x="685800" y="3371850"/>
                <a:ext cx="7334250" cy="552450"/>
              </a:xfrm>
              <a:prstGeom prst="rect">
                <a:avLst/>
              </a:prstGeom>
              <a:solidFill>
                <a:schemeClr val="lt2"/>
              </a:solidFill>
              <a:ln>
                <a:noFill/>
              </a:ln>
            </p:spPr>
          </p:sp>
          <p:sp>
            <p:nvSpPr>
              <p:cNvPr id="16" name="TextBox 16"/>
              <p:cNvSpPr txBox="1"/>
              <p:nvPr/>
            </p:nvSpPr>
            <p:spPr>
              <a:xfrm>
                <a:off x="869061" y="3546475"/>
                <a:ext cx="1831245" cy="278702"/>
              </a:xfrm>
              <a:prstGeom prst="rect">
                <a:avLst/>
              </a:prstGeom>
              <a:noFill/>
              <a:ln>
                <a:noFill/>
              </a:ln>
            </p:spPr>
            <p:txBody>
              <a:bodyPr wrap="none" lIns="0" tIns="0" rIns="0" bIns="0" anchor="t" anchorCtr="0">
                <a:spAutoFit/>
              </a:bodyPr>
              <a:lstStyle/>
              <a:p>
                <a:pPr algn="l"/>
                <a:r>
                  <a:rPr lang="vi-VN" sz="1420" b="1" dirty="0">
                    <a:solidFill>
                      <a:schemeClr val="accent1"/>
                    </a:solidFill>
                    <a:latin typeface="+mn-lt"/>
                    <a:ea typeface="+mn-ea"/>
                    <a:cs typeface="+mn-cs"/>
                  </a:rPr>
                  <a:t>CSV chưa có dữ liệu</a:t>
                </a:r>
              </a:p>
            </p:txBody>
          </p:sp>
          <p:sp>
            <p:nvSpPr>
              <p:cNvPr id="17" name="TextBox 17"/>
              <p:cNvSpPr txBox="1"/>
              <p:nvPr/>
            </p:nvSpPr>
            <p:spPr>
              <a:xfrm>
                <a:off x="2945892" y="3559175"/>
                <a:ext cx="4245745" cy="264033"/>
              </a:xfrm>
              <a:prstGeom prst="rect">
                <a:avLst/>
              </a:prstGeom>
              <a:noFill/>
              <a:ln>
                <a:noFill/>
              </a:ln>
            </p:spPr>
            <p:txBody>
              <a:bodyPr wrap="none" lIns="0" tIns="0" rIns="0" bIns="0" anchor="t" anchorCtr="0">
                <a:spAutoFit/>
              </a:bodyPr>
              <a:lstStyle/>
              <a:p>
                <a:pPr algn="l"/>
                <a:r>
                  <a:rPr lang="vi-VN" sz="1350" dirty="0">
                    <a:solidFill>
                      <a:schemeClr val="dk1"/>
                    </a:solidFill>
                    <a:latin typeface="+mn-lt"/>
                    <a:ea typeface="+mn-ea"/>
                    <a:cs typeface="+mn-cs"/>
                  </a:rPr>
                  <a:t>Xác minh thư mục làm việc, vòng lặp và phản hồi.</a:t>
                </a:r>
              </a:p>
            </p:txBody>
          </p:sp>
          <p:sp>
            <p:nvSpPr>
              <p:cNvPr id="18" name="Line 18"/>
              <p:cNvSpPr/>
              <p:nvPr/>
            </p:nvSpPr>
            <p:spPr>
              <a:xfrm>
                <a:off x="685800" y="3924300"/>
                <a:ext cx="7334250" cy="9525"/>
              </a:xfrm>
              <a:custGeom>
                <a:avLst/>
                <a:gdLst/>
                <a:ahLst/>
                <a:cxnLst/>
                <a:rect l="l" t="t" r="r" b="b"/>
                <a:pathLst>
                  <a:path w="7334250" h="9525">
                    <a:moveTo>
                      <a:pt x="0" y="0"/>
                    </a:moveTo>
                    <a:lnTo>
                      <a:pt x="7334250" y="0"/>
                    </a:lnTo>
                  </a:path>
                </a:pathLst>
              </a:custGeom>
              <a:noFill/>
              <a:ln w="9525">
                <a:solidFill>
                  <a:schemeClr val="accent6"/>
                </a:solidFill>
              </a:ln>
            </p:spPr>
          </p:sp>
          <p:sp>
            <p:nvSpPr>
              <p:cNvPr id="19" name="TextBox 19"/>
              <p:cNvSpPr txBox="1"/>
              <p:nvPr/>
            </p:nvSpPr>
            <p:spPr>
              <a:xfrm>
                <a:off x="869061" y="4098925"/>
                <a:ext cx="1305686" cy="278702"/>
              </a:xfrm>
              <a:prstGeom prst="rect">
                <a:avLst/>
              </a:prstGeom>
              <a:noFill/>
              <a:ln>
                <a:noFill/>
              </a:ln>
            </p:spPr>
            <p:txBody>
              <a:bodyPr wrap="none" lIns="0" tIns="0" rIns="0" bIns="0" anchor="t" anchorCtr="0">
                <a:spAutoFit/>
              </a:bodyPr>
              <a:lstStyle/>
              <a:p>
                <a:pPr algn="l"/>
                <a:r>
                  <a:rPr lang="vi-VN" sz="1420" b="1" dirty="0">
                    <a:solidFill>
                      <a:schemeClr val="accent1"/>
                    </a:solidFill>
                    <a:latin typeface="+mn-lt"/>
                    <a:ea typeface="+mn-ea"/>
                    <a:cs typeface="+mn-cs"/>
                  </a:rPr>
                  <a:t>Biểu đồ trống</a:t>
                </a:r>
              </a:p>
            </p:txBody>
          </p:sp>
          <p:sp>
            <p:nvSpPr>
              <p:cNvPr id="20" name="TextBox 20"/>
              <p:cNvSpPr txBox="1"/>
              <p:nvPr/>
            </p:nvSpPr>
            <p:spPr>
              <a:xfrm>
                <a:off x="2945892" y="4111625"/>
                <a:ext cx="3818534" cy="264033"/>
              </a:xfrm>
              <a:prstGeom prst="rect">
                <a:avLst/>
              </a:prstGeom>
              <a:noFill/>
              <a:ln>
                <a:noFill/>
              </a:ln>
            </p:spPr>
            <p:txBody>
              <a:bodyPr wrap="none" lIns="0" tIns="0" rIns="0" bIns="0" anchor="t" anchorCtr="0">
                <a:spAutoFit/>
              </a:bodyPr>
              <a:lstStyle/>
              <a:p>
                <a:pPr algn="l"/>
                <a:r>
                  <a:rPr lang="vi-VN" sz="1350" dirty="0">
                    <a:solidFill>
                      <a:schemeClr val="dk1"/>
                    </a:solidFill>
                    <a:latin typeface="+mn-lt"/>
                    <a:ea typeface="+mn-ea"/>
                    <a:cs typeface="+mn-cs"/>
                  </a:rPr>
                  <a:t>Kiểm tra tiêu đề value và số phần tử hợp lệ.</a:t>
                </a:r>
              </a:p>
            </p:txBody>
          </p:sp>
          <p:sp>
            <p:nvSpPr>
              <p:cNvPr id="21" name="Rectangle 21"/>
              <p:cNvSpPr/>
              <p:nvPr/>
            </p:nvSpPr>
            <p:spPr>
              <a:xfrm>
                <a:off x="685800" y="4476750"/>
                <a:ext cx="7334250" cy="552450"/>
              </a:xfrm>
              <a:prstGeom prst="rect">
                <a:avLst/>
              </a:prstGeom>
              <a:solidFill>
                <a:schemeClr val="lt2"/>
              </a:solidFill>
              <a:ln>
                <a:noFill/>
              </a:ln>
            </p:spPr>
          </p:sp>
          <p:sp>
            <p:nvSpPr>
              <p:cNvPr id="22" name="TextBox 22"/>
              <p:cNvSpPr txBox="1"/>
              <p:nvPr/>
            </p:nvSpPr>
            <p:spPr>
              <a:xfrm>
                <a:off x="869061" y="4651375"/>
                <a:ext cx="1080179" cy="278702"/>
              </a:xfrm>
              <a:prstGeom prst="rect">
                <a:avLst/>
              </a:prstGeom>
              <a:noFill/>
              <a:ln>
                <a:noFill/>
              </a:ln>
            </p:spPr>
            <p:txBody>
              <a:bodyPr wrap="none" lIns="0" tIns="0" rIns="0" bIns="0" anchor="t" anchorCtr="0">
                <a:spAutoFit/>
              </a:bodyPr>
              <a:lstStyle/>
              <a:p>
                <a:pPr algn="l"/>
                <a:r>
                  <a:rPr lang="vi-VN" sz="1420" b="1" dirty="0">
                    <a:solidFill>
                      <a:schemeClr val="accent2"/>
                    </a:solidFill>
                    <a:latin typeface="+mn-lt"/>
                    <a:ea typeface="+mn-ea"/>
                    <a:cs typeface="+mn-cs"/>
                  </a:rPr>
                  <a:t>ValueError</a:t>
                </a:r>
              </a:p>
            </p:txBody>
          </p:sp>
          <p:sp>
            <p:nvSpPr>
              <p:cNvPr id="23" name="TextBox 23"/>
              <p:cNvSpPr txBox="1"/>
              <p:nvPr/>
            </p:nvSpPr>
            <p:spPr>
              <a:xfrm>
                <a:off x="2945892" y="4664075"/>
                <a:ext cx="4255036" cy="264033"/>
              </a:xfrm>
              <a:prstGeom prst="rect">
                <a:avLst/>
              </a:prstGeom>
              <a:noFill/>
              <a:ln>
                <a:noFill/>
              </a:ln>
            </p:spPr>
            <p:txBody>
              <a:bodyPr wrap="none" lIns="0" tIns="0" rIns="0" bIns="0" anchor="t" anchorCtr="0">
                <a:spAutoFit/>
              </a:bodyPr>
              <a:lstStyle/>
              <a:p>
                <a:pPr algn="l"/>
                <a:r>
                  <a:rPr lang="vi-VN" sz="1350" dirty="0">
                    <a:solidFill>
                      <a:schemeClr val="dk1"/>
                    </a:solidFill>
                    <a:latin typeface="+mn-lt"/>
                    <a:ea typeface="+mn-ea"/>
                    <a:cs typeface="+mn-cs"/>
                  </a:rPr>
                  <a:t>Kiểm tra phản hồi gốc; chuẩn hóa trước float().</a:t>
                </a:r>
              </a:p>
            </p:txBody>
          </p:sp>
          <p:sp>
            <p:nvSpPr>
              <p:cNvPr id="24" name="Line 24"/>
              <p:cNvSpPr/>
              <p:nvPr/>
            </p:nvSpPr>
            <p:spPr>
              <a:xfrm>
                <a:off x="685800" y="5029200"/>
                <a:ext cx="7334250" cy="9525"/>
              </a:xfrm>
              <a:custGeom>
                <a:avLst/>
                <a:gdLst/>
                <a:ahLst/>
                <a:cxnLst/>
                <a:rect l="l" t="t" r="r" b="b"/>
                <a:pathLst>
                  <a:path w="7334250" h="9525">
                    <a:moveTo>
                      <a:pt x="0" y="0"/>
                    </a:moveTo>
                    <a:lnTo>
                      <a:pt x="7334250" y="0"/>
                    </a:lnTo>
                  </a:path>
                </a:pathLst>
              </a:custGeom>
              <a:noFill/>
              <a:ln w="9525">
                <a:solidFill>
                  <a:schemeClr val="accent6"/>
                </a:solidFill>
              </a:ln>
            </p:spPr>
          </p:sp>
          <p:sp>
            <p:nvSpPr>
              <p:cNvPr id="25" name="TextBox 25"/>
              <p:cNvSpPr txBox="1"/>
              <p:nvPr/>
            </p:nvSpPr>
            <p:spPr>
              <a:xfrm>
                <a:off x="869061" y="5203825"/>
                <a:ext cx="1646871" cy="278702"/>
              </a:xfrm>
              <a:prstGeom prst="rect">
                <a:avLst/>
              </a:prstGeom>
              <a:noFill/>
              <a:ln>
                <a:noFill/>
              </a:ln>
            </p:spPr>
            <p:txBody>
              <a:bodyPr wrap="none" lIns="0" tIns="0" rIns="0" bIns="0" anchor="t" anchorCtr="0">
                <a:spAutoFit/>
              </a:bodyPr>
              <a:lstStyle/>
              <a:p>
                <a:pPr algn="l"/>
                <a:r>
                  <a:rPr lang="vi-VN" sz="1420" b="1" dirty="0">
                    <a:solidFill>
                      <a:schemeClr val="accent1"/>
                    </a:solidFill>
                    <a:latin typeface="+mn-lt"/>
                    <a:ea typeface="+mn-ea"/>
                    <a:cs typeface="+mn-cs"/>
                  </a:rPr>
                  <a:t>Biểu đồ không đổi</a:t>
                </a:r>
              </a:p>
            </p:txBody>
          </p:sp>
          <p:sp>
            <p:nvSpPr>
              <p:cNvPr id="26" name="TextBox 26"/>
              <p:cNvSpPr txBox="1"/>
              <p:nvPr/>
            </p:nvSpPr>
            <p:spPr>
              <a:xfrm>
                <a:off x="2945892" y="5216525"/>
                <a:ext cx="4147198" cy="264033"/>
              </a:xfrm>
              <a:prstGeom prst="rect">
                <a:avLst/>
              </a:prstGeom>
              <a:noFill/>
              <a:ln>
                <a:noFill/>
              </a:ln>
            </p:spPr>
            <p:txBody>
              <a:bodyPr wrap="none" lIns="0" tIns="0" rIns="0" bIns="0" anchor="t" anchorCtr="0">
                <a:spAutoFit/>
              </a:bodyPr>
              <a:lstStyle/>
              <a:p>
                <a:pPr algn="l"/>
                <a:r>
                  <a:rPr lang="vi-VN" sz="1350" dirty="0">
                    <a:solidFill>
                      <a:schemeClr val="dk1"/>
                    </a:solidFill>
                    <a:latin typeface="+mn-lt"/>
                    <a:ea typeface="+mn-ea"/>
                    <a:cs typeface="+mn-cs"/>
                  </a:rPr>
                  <a:t>ion() · show(block=False) · pause() · backend</a:t>
                </a:r>
              </a:p>
            </p:txBody>
          </p:sp>
        </p:grpSp>
      </p:grpSp>
      <p:grpSp>
        <p:nvGrpSpPr>
          <p:cNvPr id="30" name="troubleshooting-note"/>
          <p:cNvGrpSpPr/>
          <p:nvPr/>
        </p:nvGrpSpPr>
        <p:grpSpPr>
          <a:xfrm>
            <a:off x="679704" y="5657850"/>
            <a:ext cx="4429384" cy="234696"/>
            <a:chOff x="679704" y="5657850"/>
            <a:chExt cx="4429384" cy="234696"/>
          </a:xfrm>
        </p:grpSpPr>
        <p:sp>
          <p:nvSpPr>
            <p:cNvPr id="29" name="TextBox 29"/>
            <p:cNvSpPr txBox="1"/>
            <p:nvPr/>
          </p:nvSpPr>
          <p:spPr>
            <a:xfrm>
              <a:off x="679704" y="5657850"/>
              <a:ext cx="4429384" cy="234696"/>
            </a:xfrm>
            <a:prstGeom prst="rect">
              <a:avLst/>
            </a:prstGeom>
            <a:noFill/>
            <a:ln>
              <a:noFill/>
            </a:ln>
          </p:spPr>
          <p:txBody>
            <a:bodyPr wrap="none" lIns="0" tIns="0" rIns="0" bIns="0" anchor="t" anchorCtr="0">
              <a:spAutoFit/>
            </a:bodyPr>
            <a:lstStyle/>
            <a:p>
              <a:pPr algn="l"/>
              <a:r>
                <a:rPr lang="vi-VN" sz="1200" b="1" dirty="0">
                  <a:solidFill>
                    <a:schemeClr val="accent5"/>
                  </a:solidFill>
                  <a:latin typeface="+mn-lt"/>
                  <a:ea typeface="+mn-ea"/>
                  <a:cs typeface="+mn-cs"/>
                </a:rPr>
                <a:t>Kiểm tra theo thứ tự: COM → phản hồi → CSV → biểu đồ.</a:t>
              </a:r>
            </a:p>
          </p:txBody>
        </p:sp>
      </p:grpSp>
      <p:grpSp>
        <p:nvGrpSpPr>
          <p:cNvPr id="44" name="safe-float-code"/>
          <p:cNvGrpSpPr/>
          <p:nvPr/>
        </p:nvGrpSpPr>
        <p:grpSpPr>
          <a:xfrm>
            <a:off x="8337042" y="1911350"/>
            <a:ext cx="3330372" cy="3885946"/>
            <a:chOff x="8337042" y="1911350"/>
            <a:chExt cx="3330372" cy="3885946"/>
          </a:xfrm>
        </p:grpSpPr>
        <p:sp>
          <p:nvSpPr>
            <p:cNvPr id="31" name="TextBox 31"/>
            <p:cNvSpPr txBox="1"/>
            <p:nvPr/>
          </p:nvSpPr>
          <p:spPr>
            <a:xfrm>
              <a:off x="8337042" y="1911350"/>
              <a:ext cx="2029968" cy="264033"/>
            </a:xfrm>
            <a:prstGeom prst="rect">
              <a:avLst/>
            </a:prstGeom>
            <a:noFill/>
            <a:ln>
              <a:noFill/>
            </a:ln>
          </p:spPr>
          <p:txBody>
            <a:bodyPr wrap="none" lIns="0" tIns="0" rIns="0" bIns="0" anchor="t" anchorCtr="0">
              <a:spAutoFit/>
            </a:bodyPr>
            <a:lstStyle/>
            <a:p>
              <a:pPr algn="l"/>
              <a:r>
                <a:rPr lang="vi-VN" sz="1350" b="1" dirty="0">
                  <a:solidFill>
                    <a:schemeClr val="accent5"/>
                  </a:solidFill>
                  <a:latin typeface="+mn-lt"/>
                  <a:ea typeface="+mn-ea"/>
                  <a:cs typeface="+mn-cs"/>
                </a:rPr>
                <a:t>KIỂM TRA KIỂU DỮ LIỆU</a:t>
              </a:r>
            </a:p>
          </p:txBody>
        </p:sp>
        <p:sp>
          <p:nvSpPr>
            <p:cNvPr id="32" name="Rectangle 32"/>
            <p:cNvSpPr/>
            <p:nvPr/>
          </p:nvSpPr>
          <p:spPr>
            <a:xfrm>
              <a:off x="8343900" y="2305050"/>
              <a:ext cx="3162300" cy="2247900"/>
            </a:xfrm>
            <a:prstGeom prst="roundRect">
              <a:avLst>
                <a:gd name="adj" fmla="val 2542"/>
              </a:avLst>
            </a:prstGeom>
            <a:solidFill>
              <a:schemeClr val="lt2"/>
            </a:solidFill>
            <a:ln>
              <a:noFill/>
            </a:ln>
          </p:spPr>
        </p:sp>
        <p:sp>
          <p:nvSpPr>
            <p:cNvPr id="33" name="TextBox 33"/>
            <p:cNvSpPr txBox="1"/>
            <p:nvPr/>
          </p:nvSpPr>
          <p:spPr>
            <a:xfrm>
              <a:off x="8528304" y="2546350"/>
              <a:ext cx="1878025" cy="234696"/>
            </a:xfrm>
            <a:prstGeom prst="rect">
              <a:avLst/>
            </a:prstGeom>
            <a:noFill/>
            <a:ln>
              <a:noFill/>
            </a:ln>
          </p:spPr>
          <p:txBody>
            <a:bodyPr wrap="none" lIns="0" tIns="0" rIns="0" bIns="0" anchor="t" anchorCtr="0">
              <a:spAutoFit/>
            </a:bodyPr>
            <a:lstStyle/>
            <a:p>
              <a:pPr algn="l"/>
              <a:r>
                <a:rPr lang="vi-VN" sz="1200" dirty="0">
                  <a:solidFill>
                    <a:schemeClr val="dk1"/>
                  </a:solidFill>
                  <a:latin typeface="Consolas"/>
                  <a:ea typeface="Consolas"/>
                  <a:cs typeface="Consolas"/>
                </a:rPr>
                <a:t>for raw in responses:</a:t>
              </a:r>
            </a:p>
          </p:txBody>
        </p:sp>
        <p:sp>
          <p:nvSpPr>
            <p:cNvPr id="34" name="TextBox 34"/>
            <p:cNvSpPr txBox="1"/>
            <p:nvPr/>
          </p:nvSpPr>
          <p:spPr>
            <a:xfrm>
              <a:off x="8909304" y="2851150"/>
              <a:ext cx="1351788" cy="234696"/>
            </a:xfrm>
            <a:prstGeom prst="rect">
              <a:avLst/>
            </a:prstGeom>
            <a:noFill/>
            <a:ln>
              <a:noFill/>
            </a:ln>
          </p:spPr>
          <p:txBody>
            <a:bodyPr wrap="none" lIns="0" tIns="0" rIns="0" bIns="0" anchor="t" anchorCtr="0">
              <a:spAutoFit/>
            </a:bodyPr>
            <a:lstStyle/>
            <a:p>
              <a:pPr algn="l"/>
              <a:r>
                <a:rPr lang="vi-VN" sz="1200" dirty="0">
                  <a:solidFill>
                    <a:schemeClr val="dk1"/>
                  </a:solidFill>
                  <a:latin typeface="Consolas"/>
                  <a:ea typeface="Consolas"/>
                  <a:cs typeface="Consolas"/>
                </a:rPr>
                <a:t>if raw is None:</a:t>
              </a:r>
            </a:p>
          </p:txBody>
        </p:sp>
        <p:sp>
          <p:nvSpPr>
            <p:cNvPr id="35" name="TextBox 35"/>
            <p:cNvSpPr txBox="1"/>
            <p:nvPr/>
          </p:nvSpPr>
          <p:spPr>
            <a:xfrm>
              <a:off x="9290304" y="3155950"/>
              <a:ext cx="722986" cy="234696"/>
            </a:xfrm>
            <a:prstGeom prst="rect">
              <a:avLst/>
            </a:prstGeom>
            <a:noFill/>
            <a:ln>
              <a:noFill/>
            </a:ln>
          </p:spPr>
          <p:txBody>
            <a:bodyPr wrap="none" lIns="0" tIns="0" rIns="0" bIns="0" anchor="t" anchorCtr="0">
              <a:spAutoFit/>
            </a:bodyPr>
            <a:lstStyle/>
            <a:p>
              <a:pPr algn="l"/>
              <a:r>
                <a:rPr lang="vi-VN" sz="1200" dirty="0">
                  <a:solidFill>
                    <a:schemeClr val="accent2"/>
                  </a:solidFill>
                  <a:latin typeface="Consolas"/>
                  <a:ea typeface="Consolas"/>
                  <a:cs typeface="Consolas"/>
                </a:rPr>
                <a:t>continue</a:t>
              </a:r>
            </a:p>
          </p:txBody>
        </p:sp>
        <p:sp>
          <p:nvSpPr>
            <p:cNvPr id="36" name="TextBox 36"/>
            <p:cNvSpPr txBox="1"/>
            <p:nvPr/>
          </p:nvSpPr>
          <p:spPr>
            <a:xfrm>
              <a:off x="8909304" y="3403600"/>
              <a:ext cx="367589" cy="234696"/>
            </a:xfrm>
            <a:prstGeom prst="rect">
              <a:avLst/>
            </a:prstGeom>
            <a:noFill/>
            <a:ln>
              <a:noFill/>
            </a:ln>
          </p:spPr>
          <p:txBody>
            <a:bodyPr wrap="none" lIns="0" tIns="0" rIns="0" bIns="0" anchor="t" anchorCtr="0">
              <a:spAutoFit/>
            </a:bodyPr>
            <a:lstStyle/>
            <a:p>
              <a:pPr algn="l"/>
              <a:r>
                <a:rPr lang="vi-VN" sz="1200" dirty="0">
                  <a:solidFill>
                    <a:schemeClr val="accent2"/>
                  </a:solidFill>
                  <a:latin typeface="Consolas"/>
                  <a:ea typeface="Consolas"/>
                  <a:cs typeface="Consolas"/>
                </a:rPr>
                <a:t>try:</a:t>
              </a:r>
            </a:p>
          </p:txBody>
        </p:sp>
        <p:sp>
          <p:nvSpPr>
            <p:cNvPr id="37" name="TextBox 37"/>
            <p:cNvSpPr txBox="1"/>
            <p:nvPr/>
          </p:nvSpPr>
          <p:spPr>
            <a:xfrm>
              <a:off x="9290304" y="3708400"/>
              <a:ext cx="1611478" cy="234696"/>
            </a:xfrm>
            <a:prstGeom prst="rect">
              <a:avLst/>
            </a:prstGeom>
            <a:noFill/>
            <a:ln>
              <a:noFill/>
            </a:ln>
          </p:spPr>
          <p:txBody>
            <a:bodyPr wrap="none" lIns="0" tIns="0" rIns="0" bIns="0" anchor="t" anchorCtr="0">
              <a:spAutoFit/>
            </a:bodyPr>
            <a:lstStyle/>
            <a:p>
              <a:pPr algn="l"/>
              <a:r>
                <a:rPr lang="vi-VN" sz="1200" dirty="0">
                  <a:solidFill>
                    <a:schemeClr val="dk1"/>
                  </a:solidFill>
                  <a:latin typeface="Consolas"/>
                  <a:ea typeface="Consolas"/>
                  <a:cs typeface="Consolas"/>
                </a:rPr>
                <a:t>value = float(raw)</a:t>
              </a:r>
            </a:p>
          </p:txBody>
        </p:sp>
        <p:sp>
          <p:nvSpPr>
            <p:cNvPr id="38" name="TextBox 38"/>
            <p:cNvSpPr txBox="1"/>
            <p:nvPr/>
          </p:nvSpPr>
          <p:spPr>
            <a:xfrm>
              <a:off x="8909304" y="4013200"/>
              <a:ext cx="1622793" cy="234696"/>
            </a:xfrm>
            <a:prstGeom prst="rect">
              <a:avLst/>
            </a:prstGeom>
            <a:noFill/>
            <a:ln>
              <a:noFill/>
            </a:ln>
          </p:spPr>
          <p:txBody>
            <a:bodyPr wrap="none" lIns="0" tIns="0" rIns="0" bIns="0" anchor="t" anchorCtr="0">
              <a:spAutoFit/>
            </a:bodyPr>
            <a:lstStyle/>
            <a:p>
              <a:pPr algn="l"/>
              <a:r>
                <a:rPr lang="vi-VN" sz="1200" dirty="0">
                  <a:solidFill>
                    <a:schemeClr val="dk1"/>
                  </a:solidFill>
                  <a:latin typeface="Consolas"/>
                  <a:ea typeface="Consolas"/>
                  <a:cs typeface="Consolas"/>
                </a:rPr>
                <a:t>except ValueError:</a:t>
              </a:r>
            </a:p>
          </p:txBody>
        </p:sp>
        <p:sp>
          <p:nvSpPr>
            <p:cNvPr id="39" name="TextBox 39"/>
            <p:cNvSpPr txBox="1"/>
            <p:nvPr/>
          </p:nvSpPr>
          <p:spPr>
            <a:xfrm>
              <a:off x="8337042" y="4845050"/>
              <a:ext cx="1976173" cy="264033"/>
            </a:xfrm>
            <a:prstGeom prst="rect">
              <a:avLst/>
            </a:prstGeom>
            <a:noFill/>
            <a:ln>
              <a:noFill/>
            </a:ln>
          </p:spPr>
          <p:txBody>
            <a:bodyPr wrap="none" lIns="0" tIns="0" rIns="0" bIns="0" anchor="t" anchorCtr="0">
              <a:spAutoFit/>
            </a:bodyPr>
            <a:lstStyle/>
            <a:p>
              <a:pPr algn="l"/>
              <a:r>
                <a:rPr lang="vi-VN" sz="1350" b="1" dirty="0">
                  <a:solidFill>
                    <a:schemeClr val="accent1"/>
                  </a:solidFill>
                  <a:latin typeface="+mn-lt"/>
                  <a:ea typeface="+mn-ea"/>
                  <a:cs typeface="+mn-cs"/>
                </a:rPr>
                <a:t>Kiểm tra phản hồi gốc</a:t>
              </a:r>
            </a:p>
          </p:txBody>
        </p:sp>
        <p:sp>
          <p:nvSpPr>
            <p:cNvPr id="40" name="TextBox 40"/>
            <p:cNvSpPr txBox="1"/>
            <p:nvPr/>
          </p:nvSpPr>
          <p:spPr>
            <a:xfrm>
              <a:off x="8337423" y="5162550"/>
              <a:ext cx="3329991" cy="250317"/>
            </a:xfrm>
            <a:prstGeom prst="rect">
              <a:avLst/>
            </a:prstGeom>
            <a:noFill/>
            <a:ln>
              <a:noFill/>
            </a:ln>
          </p:spPr>
          <p:txBody>
            <a:bodyPr wrap="none" lIns="0" tIns="0" rIns="0" bIns="0" anchor="t" anchorCtr="0">
              <a:spAutoFit/>
            </a:bodyPr>
            <a:lstStyle/>
            <a:p>
              <a:pPr algn="l"/>
              <a:r>
                <a:rPr lang="vi-VN" sz="1280" dirty="0">
                  <a:solidFill>
                    <a:schemeClr val="dk1"/>
                  </a:solidFill>
                  <a:latin typeface="+mn-lt"/>
                  <a:ea typeface="+mn-ea"/>
                  <a:cs typeface="+mn-cs"/>
                </a:rPr>
                <a:t>để xác định nguyên nhân chuyển kiểu lỗi.</a:t>
              </a:r>
            </a:p>
          </p:txBody>
        </p:sp>
        <p:sp>
          <p:nvSpPr>
            <p:cNvPr id="41" name="TextBox 41"/>
            <p:cNvSpPr txBox="1"/>
            <p:nvPr/>
          </p:nvSpPr>
          <p:spPr>
            <a:xfrm>
              <a:off x="8337804" y="5562600"/>
              <a:ext cx="2718054" cy="234696"/>
            </a:xfrm>
            <a:prstGeom prst="rect">
              <a:avLst/>
            </a:prstGeom>
            <a:noFill/>
            <a:ln>
              <a:noFill/>
            </a:ln>
          </p:spPr>
          <p:txBody>
            <a:bodyPr wrap="none" lIns="0" tIns="0" rIns="0" bIns="0" anchor="t" anchorCtr="0">
              <a:spAutoFit/>
            </a:bodyPr>
            <a:lstStyle/>
            <a:p>
              <a:pPr algn="l"/>
              <a:r>
                <a:rPr lang="vi-VN" sz="1200" dirty="0">
                  <a:solidFill>
                    <a:schemeClr val="accent5"/>
                  </a:solidFill>
                  <a:latin typeface="+mn-lt"/>
                  <a:ea typeface="+mn-ea"/>
                  <a:cs typeface="+mn-cs"/>
                </a:rPr>
                <a:t>continue chỉ hợp lệ trong vòng lặp.</a:t>
              </a:r>
            </a:p>
          </p:txBody>
        </p:sp>
        <p:sp>
          <p:nvSpPr>
            <p:cNvPr id="42" name="TextBox 42"/>
            <p:cNvSpPr txBox="1"/>
            <p:nvPr/>
          </p:nvSpPr>
          <p:spPr>
            <a:xfrm>
              <a:off x="9289542" y="4292600"/>
              <a:ext cx="2121918" cy="264033"/>
            </a:xfrm>
            <a:prstGeom prst="rect">
              <a:avLst/>
            </a:prstGeom>
            <a:noFill/>
            <a:ln>
              <a:noFill/>
            </a:ln>
          </p:spPr>
          <p:txBody>
            <a:bodyPr wrap="none" lIns="0" tIns="0" rIns="0" bIns="0" anchor="t" anchorCtr="0">
              <a:spAutoFit/>
            </a:bodyPr>
            <a:lstStyle/>
            <a:p>
              <a:pPr algn="l"/>
              <a:r>
                <a:rPr lang="vi-VN" sz="1350" dirty="0">
                  <a:solidFill>
                    <a:schemeClr val="dk1"/>
                  </a:solidFill>
                  <a:latin typeface="Consolas"/>
                  <a:ea typeface="Consolas"/>
                  <a:cs typeface="Consolas"/>
                </a:rPr>
                <a:t>print("Bo qua:", raw)</a:t>
              </a:r>
            </a:p>
          </p:txBody>
        </p:sp>
        <p:sp>
          <p:nvSpPr>
            <p:cNvPr id="43" name="TextBox 43"/>
            <p:cNvSpPr txBox="1"/>
            <p:nvPr/>
          </p:nvSpPr>
          <p:spPr>
            <a:xfrm>
              <a:off x="9289542" y="4540250"/>
              <a:ext cx="813359" cy="264033"/>
            </a:xfrm>
            <a:prstGeom prst="rect">
              <a:avLst/>
            </a:prstGeom>
            <a:noFill/>
            <a:ln>
              <a:noFill/>
            </a:ln>
          </p:spPr>
          <p:txBody>
            <a:bodyPr wrap="none" lIns="0" tIns="0" rIns="0" bIns="0" anchor="t" anchorCtr="0">
              <a:spAutoFit/>
            </a:bodyPr>
            <a:lstStyle/>
            <a:p>
              <a:pPr algn="l"/>
              <a:r>
                <a:rPr lang="vi-VN" sz="1350" dirty="0">
                  <a:solidFill>
                    <a:schemeClr val="dk1"/>
                  </a:solidFill>
                  <a:latin typeface="Consolas"/>
                  <a:ea typeface="Consolas"/>
                  <a:cs typeface="Consolas"/>
                </a:rPr>
                <a:t>continue</a:t>
              </a:r>
            </a:p>
          </p:txBody>
        </p:sp>
      </p:grpSp>
      <p:grpSp>
        <p:nvGrpSpPr>
          <p:cNvPr id="47" name="page-footer"/>
          <p:cNvGrpSpPr/>
          <p:nvPr/>
        </p:nvGrpSpPr>
        <p:grpSpPr>
          <a:xfrm>
            <a:off x="679704" y="6429375"/>
            <a:ext cx="10832592" cy="234696"/>
            <a:chOff x="679704" y="6429375"/>
            <a:chExt cx="10832592" cy="234696"/>
          </a:xfrm>
        </p:grpSpPr>
        <p:sp>
          <p:nvSpPr>
            <p:cNvPr id="45" name="TextBox 45"/>
            <p:cNvSpPr txBox="1"/>
            <p:nvPr/>
          </p:nvSpPr>
          <p:spPr>
            <a:xfrm>
              <a:off x="679704" y="6429375"/>
              <a:ext cx="3912413" cy="234696"/>
            </a:xfrm>
            <a:prstGeom prst="rect">
              <a:avLst/>
            </a:prstGeom>
            <a:noFill/>
            <a:ln>
              <a:noFill/>
            </a:ln>
          </p:spPr>
          <p:txBody>
            <a:bodyPr wrap="none" lIns="0" tIns="0" rIns="0" bIns="0" anchor="t" anchorCtr="0">
              <a:spAutoFit/>
            </a:bodyPr>
            <a:lstStyle/>
            <a:p>
              <a:pPr algn="l"/>
              <a:r>
                <a:rPr lang="vi-VN" sz="1200" dirty="0">
                  <a:solidFill>
                    <a:schemeClr val="accent5"/>
                  </a:solidFill>
                  <a:latin typeface="+mn-lt"/>
                  <a:ea typeface="+mn-ea"/>
                  <a:cs typeface="+mn-cs"/>
                </a:rPr>
                <a:t>TROUBLESHOOT · KIỂM TRA ĐÚNG LỚP, TỪNG BƯỚC</a:t>
              </a:r>
            </a:p>
          </p:txBody>
        </p:sp>
        <p:sp>
          <p:nvSpPr>
            <p:cNvPr id="46" name="TextBox 46"/>
            <p:cNvSpPr txBox="1"/>
            <p:nvPr/>
          </p:nvSpPr>
          <p:spPr>
            <a:xfrm>
              <a:off x="10958932" y="6429375"/>
              <a:ext cx="553364" cy="234696"/>
            </a:xfrm>
            <a:prstGeom prst="rect">
              <a:avLst/>
            </a:prstGeom>
            <a:noFill/>
            <a:ln>
              <a:noFill/>
            </a:ln>
          </p:spPr>
          <p:txBody>
            <a:bodyPr wrap="none" lIns="0" tIns="0" rIns="0" bIns="0" anchor="t" anchorCtr="0">
              <a:spAutoFit/>
            </a:bodyPr>
            <a:lstStyle/>
            <a:p>
              <a:pPr algn="r"/>
              <a:r>
                <a:rPr lang="vi-VN" sz="1200" dirty="0">
                  <a:solidFill>
                    <a:schemeClr val="accent5"/>
                  </a:solidFill>
                  <a:latin typeface="+mn-lt"/>
                  <a:ea typeface="+mn-ea"/>
                  <a:cs typeface="+mn-cs"/>
                </a:rPr>
                <a:t>23 / 25</a:t>
              </a:r>
            </a:p>
          </p:txBody>
        </p:sp>
      </p:grpSp>
    </p:spTree>
  </p:cSld>
  <p:clrMapOvr>
    <a:masterClrMapping/>
  </p:clrMapOvr>
  <p:transition xmlns:p14="http://schemas.microsoft.com/office/powerpoint/2010/main" p14:dur="400">
    <p:fade/>
  </p:transition>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page-title"/>
          <p:cNvGrpSpPr/>
          <p:nvPr/>
        </p:nvGrpSpPr>
        <p:grpSpPr>
          <a:xfrm>
            <a:off x="669798" y="520700"/>
            <a:ext cx="10836402" cy="955675"/>
            <a:chOff x="669798" y="520700"/>
            <a:chExt cx="10836402" cy="955675"/>
          </a:xfrm>
        </p:grpSpPr>
        <p:sp>
          <p:nvSpPr>
            <p:cNvPr id="2" name="TextBox 2"/>
            <p:cNvSpPr txBox="1"/>
            <p:nvPr/>
          </p:nvSpPr>
          <p:spPr>
            <a:xfrm>
              <a:off x="678942" y="520700"/>
              <a:ext cx="2584437" cy="264033"/>
            </a:xfrm>
            <a:prstGeom prst="rect">
              <a:avLst/>
            </a:prstGeom>
            <a:noFill/>
            <a:ln>
              <a:noFill/>
            </a:ln>
          </p:spPr>
          <p:txBody>
            <a:bodyPr wrap="none" lIns="0" tIns="0" rIns="0" bIns="0" anchor="t" anchorCtr="0">
              <a:spAutoFit/>
            </a:bodyPr>
            <a:lstStyle/>
            <a:p>
              <a:pPr algn="l"/>
              <a:r>
                <a:rPr lang="vi-VN" sz="1350" b="1" dirty="0">
                  <a:solidFill>
                    <a:schemeClr val="accent3"/>
                  </a:solidFill>
                  <a:latin typeface="+mn-lt"/>
                  <a:ea typeface="+mn-ea"/>
                  <a:cs typeface="+mn-cs"/>
                </a:rPr>
                <a:t>06 · KIỂM TRA VÀ THỰC HÀNH</a:t>
              </a:r>
            </a:p>
          </p:txBody>
        </p:sp>
        <p:sp>
          <p:nvSpPr>
            <p:cNvPr id="3" name="TextBox 3"/>
            <p:cNvSpPr txBox="1"/>
            <p:nvPr/>
          </p:nvSpPr>
          <p:spPr>
            <a:xfrm>
              <a:off x="669798" y="838200"/>
              <a:ext cx="9525311" cy="616077"/>
            </a:xfrm>
            <a:prstGeom prst="rect">
              <a:avLst/>
            </a:prstGeom>
            <a:noFill/>
            <a:ln>
              <a:noFill/>
            </a:ln>
          </p:spPr>
          <p:txBody>
            <a:bodyPr wrap="none" lIns="0" tIns="0" rIns="0" bIns="0" anchor="t" anchorCtr="0">
              <a:spAutoFit/>
            </a:bodyPr>
            <a:lstStyle/>
            <a:p>
              <a:pPr algn="l"/>
              <a:r>
                <a:rPr lang="vi-VN" sz="3150" b="1" dirty="0">
                  <a:solidFill>
                    <a:schemeClr val="accent1"/>
                  </a:solidFill>
                  <a:latin typeface="+mn-lt"/>
                  <a:ea typeface="+mn-ea"/>
                  <a:cs typeface="+mn-cs"/>
                </a:rPr>
                <a:t>Bài tập thực hành: serial, CSV và Matplotlib</a:t>
              </a:r>
            </a:p>
          </p:txBody>
        </p:sp>
        <p:sp>
          <p:nvSpPr>
            <p:cNvPr id="4" name="Line 4"/>
            <p:cNvSpPr/>
            <p:nvPr/>
          </p:nvSpPr>
          <p:spPr>
            <a:xfrm>
              <a:off x="685800" y="1466850"/>
              <a:ext cx="10820400" cy="9525"/>
            </a:xfrm>
            <a:custGeom>
              <a:avLst/>
              <a:gdLst/>
              <a:ahLst/>
              <a:cxnLst/>
              <a:rect l="l" t="t" r="r" b="b"/>
              <a:pathLst>
                <a:path w="10820400" h="9525">
                  <a:moveTo>
                    <a:pt x="0" y="0"/>
                  </a:moveTo>
                  <a:lnTo>
                    <a:pt x="10820400" y="0"/>
                  </a:lnTo>
                </a:path>
              </a:pathLst>
            </a:custGeom>
            <a:noFill/>
            <a:ln w="14288">
              <a:solidFill>
                <a:schemeClr val="accent6"/>
              </a:solidFill>
            </a:ln>
          </p:spPr>
        </p:sp>
      </p:grpSp>
      <p:grpSp>
        <p:nvGrpSpPr>
          <p:cNvPr id="17" name="exercise-foundation"/>
          <p:cNvGrpSpPr/>
          <p:nvPr/>
        </p:nvGrpSpPr>
        <p:grpSpPr>
          <a:xfrm>
            <a:off x="685800" y="1924050"/>
            <a:ext cx="3361182" cy="3733800"/>
            <a:chOff x="685800" y="1924050"/>
            <a:chExt cx="3361182" cy="3733800"/>
          </a:xfrm>
        </p:grpSpPr>
        <p:sp>
          <p:nvSpPr>
            <p:cNvPr id="6" name="Rectangle 6"/>
            <p:cNvSpPr/>
            <p:nvPr/>
          </p:nvSpPr>
          <p:spPr>
            <a:xfrm>
              <a:off x="685800" y="1924050"/>
              <a:ext cx="3352800" cy="3733800"/>
            </a:xfrm>
            <a:prstGeom prst="roundRect">
              <a:avLst>
                <a:gd name="adj" fmla="val 1705"/>
              </a:avLst>
            </a:prstGeom>
            <a:solidFill>
              <a:schemeClr val="lt2"/>
            </a:solidFill>
            <a:ln>
              <a:noFill/>
            </a:ln>
          </p:spPr>
        </p:sp>
        <p:sp>
          <p:nvSpPr>
            <p:cNvPr id="7" name="TextBox 7"/>
            <p:cNvSpPr txBox="1"/>
            <p:nvPr/>
          </p:nvSpPr>
          <p:spPr>
            <a:xfrm>
              <a:off x="907923" y="2133600"/>
              <a:ext cx="1064392" cy="250317"/>
            </a:xfrm>
            <a:prstGeom prst="rect">
              <a:avLst/>
            </a:prstGeom>
            <a:noFill/>
            <a:ln>
              <a:noFill/>
            </a:ln>
          </p:spPr>
          <p:txBody>
            <a:bodyPr wrap="none" lIns="0" tIns="0" rIns="0" bIns="0" anchor="t" anchorCtr="0">
              <a:spAutoFit/>
            </a:bodyPr>
            <a:lstStyle/>
            <a:p>
              <a:pPr algn="l"/>
              <a:r>
                <a:rPr lang="vi-VN" sz="1280" b="1" dirty="0">
                  <a:solidFill>
                    <a:schemeClr val="accent3"/>
                  </a:solidFill>
                  <a:latin typeface="+mn-lt"/>
                  <a:ea typeface="+mn-ea"/>
                  <a:cs typeface="+mn-cs"/>
                </a:rPr>
                <a:t>01 · CƠ BẢN</a:t>
              </a:r>
            </a:p>
          </p:txBody>
        </p:sp>
        <p:sp>
          <p:nvSpPr>
            <p:cNvPr id="8" name="TextBox 8"/>
            <p:cNvSpPr txBox="1"/>
            <p:nvPr/>
          </p:nvSpPr>
          <p:spPr>
            <a:xfrm>
              <a:off x="904494" y="2425700"/>
              <a:ext cx="1519679" cy="381381"/>
            </a:xfrm>
            <a:prstGeom prst="rect">
              <a:avLst/>
            </a:prstGeom>
            <a:noFill/>
            <a:ln>
              <a:noFill/>
            </a:ln>
          </p:spPr>
          <p:txBody>
            <a:bodyPr wrap="none" lIns="0" tIns="0" rIns="0" bIns="0" anchor="t" anchorCtr="0">
              <a:spAutoFit/>
            </a:bodyPr>
            <a:lstStyle/>
            <a:p>
              <a:pPr algn="l"/>
              <a:r>
                <a:rPr lang="vi-VN" sz="1950" b="1" dirty="0">
                  <a:solidFill>
                    <a:schemeClr val="accent1"/>
                  </a:solidFill>
                  <a:latin typeface="+mn-lt"/>
                  <a:ea typeface="+mn-ea"/>
                  <a:cs typeface="+mn-cs"/>
                </a:rPr>
                <a:t>COM + SCPI</a:t>
              </a:r>
            </a:p>
          </p:txBody>
        </p:sp>
        <p:sp>
          <p:nvSpPr>
            <p:cNvPr id="9" name="Line 9"/>
            <p:cNvSpPr/>
            <p:nvPr/>
          </p:nvSpPr>
          <p:spPr>
            <a:xfrm>
              <a:off x="914400" y="2838450"/>
              <a:ext cx="2895600" cy="9525"/>
            </a:xfrm>
            <a:custGeom>
              <a:avLst/>
              <a:gdLst/>
              <a:ahLst/>
              <a:cxnLst/>
              <a:rect l="l" t="t" r="r" b="b"/>
              <a:pathLst>
                <a:path w="2895600" h="9525">
                  <a:moveTo>
                    <a:pt x="0" y="0"/>
                  </a:moveTo>
                  <a:lnTo>
                    <a:pt x="2895600" y="0"/>
                  </a:lnTo>
                </a:path>
              </a:pathLst>
            </a:custGeom>
            <a:noFill/>
            <a:ln w="9525">
              <a:solidFill>
                <a:schemeClr val="accent6"/>
              </a:solidFill>
            </a:ln>
          </p:spPr>
        </p:sp>
        <p:sp>
          <p:nvSpPr>
            <p:cNvPr id="10" name="TextBox 10"/>
            <p:cNvSpPr txBox="1"/>
            <p:nvPr/>
          </p:nvSpPr>
          <p:spPr>
            <a:xfrm>
              <a:off x="907542" y="3035300"/>
              <a:ext cx="2763440" cy="264033"/>
            </a:xfrm>
            <a:prstGeom prst="rect">
              <a:avLst/>
            </a:prstGeom>
            <a:noFill/>
            <a:ln>
              <a:noFill/>
            </a:ln>
          </p:spPr>
          <p:txBody>
            <a:bodyPr wrap="none" lIns="0" tIns="0" rIns="0" bIns="0" anchor="t" anchorCtr="0">
              <a:spAutoFit/>
            </a:bodyPr>
            <a:lstStyle/>
            <a:p>
              <a:pPr algn="l" marL="145732" indent="-145732">
                <a:buClr>
                  <a:schemeClr val="dk1"/>
                </a:buClr>
                <a:buSzTx/>
                <a:buFontTx/>
                <a:buChar char="•"/>
              </a:pPr>
              <a:r>
                <a:rPr lang="vi-VN" sz="1350" dirty="0">
                  <a:solidFill>
                    <a:schemeClr val="dk1"/>
                  </a:solidFill>
                  <a:latin typeface="+mn-lt"/>
                  <a:ea typeface="+mn-ea"/>
                  <a:cs typeface="+mn-cs"/>
                </a:rPr>
                <a:t>Xác định COM; thử *IDN? bằng</a:t>
              </a:r>
            </a:p>
          </p:txBody>
        </p:sp>
        <p:sp>
          <p:nvSpPr>
            <p:cNvPr id="11" name="TextBox 11"/>
            <p:cNvSpPr txBox="1"/>
            <p:nvPr/>
          </p:nvSpPr>
          <p:spPr>
            <a:xfrm>
              <a:off x="1098042" y="3302000"/>
              <a:ext cx="2489844" cy="264033"/>
            </a:xfrm>
            <a:prstGeom prst="rect">
              <a:avLst/>
            </a:prstGeom>
            <a:noFill/>
            <a:ln>
              <a:noFill/>
            </a:ln>
          </p:spPr>
          <p:txBody>
            <a:bodyPr wrap="none" lIns="0" tIns="0" rIns="0" bIns="0" anchor="t" anchorCtr="0">
              <a:spAutoFit/>
            </a:bodyPr>
            <a:lstStyle/>
            <a:p>
              <a:pPr algn="l"/>
              <a:r>
                <a:rPr lang="vi-VN" sz="1350" dirty="0">
                  <a:solidFill>
                    <a:schemeClr val="dk1"/>
                  </a:solidFill>
                  <a:latin typeface="+mn-lt"/>
                  <a:ea typeface="+mn-ea"/>
                  <a:cs typeface="+mn-cs"/>
                </a:rPr>
                <a:t>Hercules (9600 / 8N1 / CR).</a:t>
              </a:r>
            </a:p>
          </p:txBody>
        </p:sp>
        <p:sp>
          <p:nvSpPr>
            <p:cNvPr id="12" name="TextBox 12"/>
            <p:cNvSpPr txBox="1"/>
            <p:nvPr/>
          </p:nvSpPr>
          <p:spPr>
            <a:xfrm>
              <a:off x="907542" y="3702050"/>
              <a:ext cx="2682982" cy="264033"/>
            </a:xfrm>
            <a:prstGeom prst="rect">
              <a:avLst/>
            </a:prstGeom>
            <a:noFill/>
            <a:ln>
              <a:noFill/>
            </a:ln>
          </p:spPr>
          <p:txBody>
            <a:bodyPr wrap="none" lIns="0" tIns="0" rIns="0" bIns="0" anchor="t" anchorCtr="0">
              <a:spAutoFit/>
            </a:bodyPr>
            <a:lstStyle/>
            <a:p>
              <a:pPr algn="l" marL="145732" indent="-145732">
                <a:buClr>
                  <a:schemeClr val="dk1"/>
                </a:buClr>
                <a:buSzTx/>
                <a:buFontTx/>
                <a:buChar char="•"/>
              </a:pPr>
              <a:r>
                <a:rPr lang="vi-VN" sz="1350" dirty="0">
                  <a:solidFill>
                    <a:schemeClr val="dk1"/>
                  </a:solidFill>
                  <a:latin typeface="+mn-lt"/>
                  <a:ea typeface="+mn-ea"/>
                  <a:cs typeface="+mn-cs"/>
                </a:rPr>
                <a:t>Dùng hàm; phân biệt cấu hình</a:t>
              </a:r>
            </a:p>
          </p:txBody>
        </p:sp>
        <p:sp>
          <p:nvSpPr>
            <p:cNvPr id="13" name="TextBox 13"/>
            <p:cNvSpPr txBox="1"/>
            <p:nvPr/>
          </p:nvSpPr>
          <p:spPr>
            <a:xfrm>
              <a:off x="1098042" y="3968750"/>
              <a:ext cx="2948940" cy="264033"/>
            </a:xfrm>
            <a:prstGeom prst="rect">
              <a:avLst/>
            </a:prstGeom>
            <a:noFill/>
            <a:ln>
              <a:noFill/>
            </a:ln>
          </p:spPr>
          <p:txBody>
            <a:bodyPr wrap="none" lIns="0" tIns="0" rIns="0" bIns="0" anchor="t" anchorCtr="0">
              <a:spAutoFit/>
            </a:bodyPr>
            <a:lstStyle/>
            <a:p>
              <a:pPr algn="l"/>
              <a:r>
                <a:rPr lang="vi-VN" sz="1350" dirty="0">
                  <a:solidFill>
                    <a:schemeClr val="dk1"/>
                  </a:solidFill>
                  <a:latin typeface="+mn-lt"/>
                  <a:ea typeface="+mn-ea"/>
                  <a:cs typeface="+mn-cs"/>
                </a:rPr>
                <a:t>và truy vấn; xử lý timeout/FIFO.</a:t>
              </a:r>
            </a:p>
          </p:txBody>
        </p:sp>
        <p:sp>
          <p:nvSpPr>
            <p:cNvPr id="14" name="Rectangle 14"/>
            <p:cNvSpPr/>
            <p:nvPr/>
          </p:nvSpPr>
          <p:spPr>
            <a:xfrm>
              <a:off x="914400" y="4514850"/>
              <a:ext cx="2895600" cy="819150"/>
            </a:xfrm>
            <a:prstGeom prst="roundRect">
              <a:avLst>
                <a:gd name="adj" fmla="val 4651"/>
              </a:avLst>
            </a:prstGeom>
            <a:solidFill>
              <a:srgbClr val="FFFDF7"/>
            </a:solidFill>
            <a:ln>
              <a:noFill/>
            </a:ln>
          </p:spPr>
        </p:sp>
        <p:sp>
          <p:nvSpPr>
            <p:cNvPr id="15" name="TextBox 15"/>
            <p:cNvSpPr txBox="1"/>
            <p:nvPr/>
          </p:nvSpPr>
          <p:spPr>
            <a:xfrm>
              <a:off x="1060323" y="4667250"/>
              <a:ext cx="596024" cy="250317"/>
            </a:xfrm>
            <a:prstGeom prst="rect">
              <a:avLst/>
            </a:prstGeom>
            <a:noFill/>
            <a:ln>
              <a:noFill/>
            </a:ln>
          </p:spPr>
          <p:txBody>
            <a:bodyPr wrap="none" lIns="0" tIns="0" rIns="0" bIns="0" anchor="t" anchorCtr="0">
              <a:spAutoFit/>
            </a:bodyPr>
            <a:lstStyle/>
            <a:p>
              <a:pPr algn="l"/>
              <a:r>
                <a:rPr lang="vi-VN" sz="1280" b="1" dirty="0">
                  <a:solidFill>
                    <a:schemeClr val="accent1"/>
                  </a:solidFill>
                  <a:latin typeface="+mn-lt"/>
                  <a:ea typeface="+mn-ea"/>
                  <a:cs typeface="+mn-cs"/>
                </a:rPr>
                <a:t>ĐẦU RA</a:t>
              </a:r>
            </a:p>
          </p:txBody>
        </p:sp>
        <p:sp>
          <p:nvSpPr>
            <p:cNvPr id="16" name="TextBox 16"/>
            <p:cNvSpPr txBox="1"/>
            <p:nvPr/>
          </p:nvSpPr>
          <p:spPr>
            <a:xfrm>
              <a:off x="1060323" y="4953000"/>
              <a:ext cx="2746930" cy="250317"/>
            </a:xfrm>
            <a:prstGeom prst="rect">
              <a:avLst/>
            </a:prstGeom>
            <a:noFill/>
            <a:ln>
              <a:noFill/>
            </a:ln>
          </p:spPr>
          <p:txBody>
            <a:bodyPr wrap="none" lIns="0" tIns="0" rIns="0" bIns="0" anchor="t" anchorCtr="0">
              <a:spAutoFit/>
            </a:bodyPr>
            <a:lstStyle/>
            <a:p>
              <a:pPr algn="l"/>
              <a:r>
                <a:rPr lang="vi-VN" sz="1280" dirty="0">
                  <a:solidFill>
                    <a:schemeClr val="dk1"/>
                  </a:solidFill>
                  <a:latin typeface="+mn-lt"/>
                  <a:ea typeface="+mn-ea"/>
                  <a:cs typeface="+mn-cs"/>
                </a:rPr>
                <a:t>COM xác định + nhật ký phản hồi.</a:t>
              </a:r>
            </a:p>
          </p:txBody>
        </p:sp>
      </p:grpSp>
      <p:grpSp>
        <p:nvGrpSpPr>
          <p:cNvPr id="29" name="exercise-practice"/>
          <p:cNvGrpSpPr/>
          <p:nvPr/>
        </p:nvGrpSpPr>
        <p:grpSpPr>
          <a:xfrm>
            <a:off x="4419600" y="1924050"/>
            <a:ext cx="3352800" cy="3733800"/>
            <a:chOff x="4419600" y="1924050"/>
            <a:chExt cx="3352800" cy="3733800"/>
          </a:xfrm>
        </p:grpSpPr>
        <p:sp>
          <p:nvSpPr>
            <p:cNvPr id="18" name="Rectangle 18"/>
            <p:cNvSpPr/>
            <p:nvPr/>
          </p:nvSpPr>
          <p:spPr>
            <a:xfrm>
              <a:off x="4419600" y="1924050"/>
              <a:ext cx="3352800" cy="3733800"/>
            </a:xfrm>
            <a:prstGeom prst="roundRect">
              <a:avLst>
                <a:gd name="adj" fmla="val 1705"/>
              </a:avLst>
            </a:prstGeom>
            <a:solidFill>
              <a:schemeClr val="lt2"/>
            </a:solidFill>
            <a:ln>
              <a:noFill/>
            </a:ln>
          </p:spPr>
        </p:sp>
        <p:sp>
          <p:nvSpPr>
            <p:cNvPr id="19" name="TextBox 19"/>
            <p:cNvSpPr txBox="1"/>
            <p:nvPr/>
          </p:nvSpPr>
          <p:spPr>
            <a:xfrm>
              <a:off x="4641723" y="2133600"/>
              <a:ext cx="1341589" cy="250317"/>
            </a:xfrm>
            <a:prstGeom prst="rect">
              <a:avLst/>
            </a:prstGeom>
            <a:noFill/>
            <a:ln>
              <a:noFill/>
            </a:ln>
          </p:spPr>
          <p:txBody>
            <a:bodyPr wrap="none" lIns="0" tIns="0" rIns="0" bIns="0" anchor="t" anchorCtr="0">
              <a:spAutoFit/>
            </a:bodyPr>
            <a:lstStyle/>
            <a:p>
              <a:pPr algn="l"/>
              <a:r>
                <a:rPr lang="vi-VN" sz="1280" b="1" dirty="0">
                  <a:solidFill>
                    <a:schemeClr val="accent2"/>
                  </a:solidFill>
                  <a:latin typeface="+mn-lt"/>
                  <a:ea typeface="+mn-ea"/>
                  <a:cs typeface="+mn-cs"/>
                </a:rPr>
                <a:t>02 · THỰC HÀNH</a:t>
              </a:r>
            </a:p>
          </p:txBody>
        </p:sp>
        <p:sp>
          <p:nvSpPr>
            <p:cNvPr id="20" name="TextBox 20"/>
            <p:cNvSpPr txBox="1"/>
            <p:nvPr/>
          </p:nvSpPr>
          <p:spPr>
            <a:xfrm>
              <a:off x="4638294" y="2425700"/>
              <a:ext cx="1213881" cy="381381"/>
            </a:xfrm>
            <a:prstGeom prst="rect">
              <a:avLst/>
            </a:prstGeom>
            <a:noFill/>
            <a:ln>
              <a:noFill/>
            </a:ln>
          </p:spPr>
          <p:txBody>
            <a:bodyPr wrap="none" lIns="0" tIns="0" rIns="0" bIns="0" anchor="t" anchorCtr="0">
              <a:spAutoFit/>
            </a:bodyPr>
            <a:lstStyle/>
            <a:p>
              <a:pPr algn="l"/>
              <a:r>
                <a:rPr lang="vi-VN" sz="1950" b="1" dirty="0">
                  <a:solidFill>
                    <a:schemeClr val="accent1"/>
                  </a:solidFill>
                  <a:latin typeface="+mn-lt"/>
                  <a:ea typeface="+mn-ea"/>
                  <a:cs typeface="+mn-cs"/>
                </a:rPr>
                <a:t>ĐO + CSV</a:t>
              </a:r>
            </a:p>
          </p:txBody>
        </p:sp>
        <p:sp>
          <p:nvSpPr>
            <p:cNvPr id="21" name="Line 21"/>
            <p:cNvSpPr/>
            <p:nvPr/>
          </p:nvSpPr>
          <p:spPr>
            <a:xfrm>
              <a:off x="4648200" y="2838450"/>
              <a:ext cx="2895600" cy="9525"/>
            </a:xfrm>
            <a:custGeom>
              <a:avLst/>
              <a:gdLst/>
              <a:ahLst/>
              <a:cxnLst/>
              <a:rect l="l" t="t" r="r" b="b"/>
              <a:pathLst>
                <a:path w="2895600" h="9525">
                  <a:moveTo>
                    <a:pt x="0" y="0"/>
                  </a:moveTo>
                  <a:lnTo>
                    <a:pt x="2895600" y="0"/>
                  </a:lnTo>
                </a:path>
              </a:pathLst>
            </a:custGeom>
            <a:noFill/>
            <a:ln w="9525">
              <a:solidFill>
                <a:schemeClr val="accent6"/>
              </a:solidFill>
            </a:ln>
          </p:spPr>
        </p:sp>
        <p:sp>
          <p:nvSpPr>
            <p:cNvPr id="22" name="TextBox 22"/>
            <p:cNvSpPr txBox="1"/>
            <p:nvPr/>
          </p:nvSpPr>
          <p:spPr>
            <a:xfrm>
              <a:off x="4641342" y="3035300"/>
              <a:ext cx="2574638" cy="264033"/>
            </a:xfrm>
            <a:prstGeom prst="rect">
              <a:avLst/>
            </a:prstGeom>
            <a:noFill/>
            <a:ln>
              <a:noFill/>
            </a:ln>
          </p:spPr>
          <p:txBody>
            <a:bodyPr wrap="none" lIns="0" tIns="0" rIns="0" bIns="0" anchor="t" anchorCtr="0">
              <a:spAutoFit/>
            </a:bodyPr>
            <a:lstStyle/>
            <a:p>
              <a:pPr algn="l" marL="145732" indent="-145732">
                <a:buClr>
                  <a:schemeClr val="dk1"/>
                </a:buClr>
                <a:buSzTx/>
                <a:buFontTx/>
                <a:buChar char="•"/>
              </a:pPr>
              <a:r>
                <a:rPr lang="vi-VN" sz="1350" dirty="0">
                  <a:solidFill>
                    <a:schemeClr val="dk1"/>
                  </a:solidFill>
                  <a:latin typeface="+mn-lt"/>
                  <a:ea typeface="+mn-ea"/>
                  <a:cs typeface="+mn-cs"/>
                </a:rPr>
                <a:t>Thu 20 mẫu; loại bỏ timeout</a:t>
              </a:r>
            </a:p>
          </p:txBody>
        </p:sp>
        <p:sp>
          <p:nvSpPr>
            <p:cNvPr id="23" name="TextBox 23"/>
            <p:cNvSpPr txBox="1"/>
            <p:nvPr/>
          </p:nvSpPr>
          <p:spPr>
            <a:xfrm>
              <a:off x="4831842" y="3302000"/>
              <a:ext cx="2394471" cy="264033"/>
            </a:xfrm>
            <a:prstGeom prst="rect">
              <a:avLst/>
            </a:prstGeom>
            <a:noFill/>
            <a:ln>
              <a:noFill/>
            </a:ln>
          </p:spPr>
          <p:txBody>
            <a:bodyPr wrap="none" lIns="0" tIns="0" rIns="0" bIns="0" anchor="t" anchorCtr="0">
              <a:spAutoFit/>
            </a:bodyPr>
            <a:lstStyle/>
            <a:p>
              <a:pPr algn="l"/>
              <a:r>
                <a:rPr lang="vi-VN" sz="1350" dirty="0">
                  <a:solidFill>
                    <a:schemeClr val="dk1"/>
                  </a:solidFill>
                  <a:latin typeface="+mn-lt"/>
                  <a:ea typeface="+mn-ea"/>
                  <a:cs typeface="+mn-cs"/>
                </a:rPr>
                <a:t>hoặc phản hồi không hợp lệ.</a:t>
              </a:r>
            </a:p>
          </p:txBody>
        </p:sp>
        <p:sp>
          <p:nvSpPr>
            <p:cNvPr id="24" name="TextBox 24"/>
            <p:cNvSpPr txBox="1"/>
            <p:nvPr/>
          </p:nvSpPr>
          <p:spPr>
            <a:xfrm>
              <a:off x="4641342" y="3702050"/>
              <a:ext cx="2519603" cy="264033"/>
            </a:xfrm>
            <a:prstGeom prst="rect">
              <a:avLst/>
            </a:prstGeom>
            <a:noFill/>
            <a:ln>
              <a:noFill/>
            </a:ln>
          </p:spPr>
          <p:txBody>
            <a:bodyPr wrap="none" lIns="0" tIns="0" rIns="0" bIns="0" anchor="t" anchorCtr="0">
              <a:spAutoFit/>
            </a:bodyPr>
            <a:lstStyle/>
            <a:p>
              <a:pPr algn="l" marL="145732" indent="-145732">
                <a:buClr>
                  <a:schemeClr val="dk1"/>
                </a:buClr>
                <a:buSzTx/>
                <a:buFontTx/>
                <a:buChar char="•"/>
              </a:pPr>
              <a:r>
                <a:rPr lang="vi-VN" sz="1350" dirty="0">
                  <a:solidFill>
                    <a:schemeClr val="dk1"/>
                  </a:solidFill>
                  <a:latin typeface="+mn-lt"/>
                  <a:ea typeface="+mn-ea"/>
                  <a:cs typeface="+mn-cs"/>
                </a:rPr>
                <a:t>Ghi timestamp / function /</a:t>
              </a:r>
            </a:p>
          </p:txBody>
        </p:sp>
        <p:sp>
          <p:nvSpPr>
            <p:cNvPr id="25" name="TextBox 25"/>
            <p:cNvSpPr txBox="1"/>
            <p:nvPr/>
          </p:nvSpPr>
          <p:spPr>
            <a:xfrm>
              <a:off x="4831842" y="3968750"/>
              <a:ext cx="2878024" cy="264033"/>
            </a:xfrm>
            <a:prstGeom prst="rect">
              <a:avLst/>
            </a:prstGeom>
            <a:noFill/>
            <a:ln>
              <a:noFill/>
            </a:ln>
          </p:spPr>
          <p:txBody>
            <a:bodyPr wrap="none" lIns="0" tIns="0" rIns="0" bIns="0" anchor="t" anchorCtr="0">
              <a:spAutoFit/>
            </a:bodyPr>
            <a:lstStyle/>
            <a:p>
              <a:pPr algn="l"/>
              <a:r>
                <a:rPr lang="vi-VN" sz="1350" dirty="0">
                  <a:solidFill>
                    <a:schemeClr val="dk1"/>
                  </a:solidFill>
                  <a:latin typeface="+mn-lt"/>
                  <a:ea typeface="+mn-ea"/>
                  <a:cs typeface="+mn-cs"/>
                </a:rPr>
                <a:t>value; đọc CSV và vẽ đồ thị tĩnh.</a:t>
              </a:r>
            </a:p>
          </p:txBody>
        </p:sp>
        <p:sp>
          <p:nvSpPr>
            <p:cNvPr id="26" name="Rectangle 26"/>
            <p:cNvSpPr/>
            <p:nvPr/>
          </p:nvSpPr>
          <p:spPr>
            <a:xfrm>
              <a:off x="4648200" y="4514850"/>
              <a:ext cx="2895600" cy="819150"/>
            </a:xfrm>
            <a:prstGeom prst="roundRect">
              <a:avLst>
                <a:gd name="adj" fmla="val 4651"/>
              </a:avLst>
            </a:prstGeom>
            <a:solidFill>
              <a:srgbClr val="FFFDF7"/>
            </a:solidFill>
            <a:ln>
              <a:noFill/>
            </a:ln>
          </p:spPr>
        </p:sp>
        <p:sp>
          <p:nvSpPr>
            <p:cNvPr id="27" name="TextBox 27"/>
            <p:cNvSpPr txBox="1"/>
            <p:nvPr/>
          </p:nvSpPr>
          <p:spPr>
            <a:xfrm>
              <a:off x="4794123" y="4667250"/>
              <a:ext cx="596024" cy="250317"/>
            </a:xfrm>
            <a:prstGeom prst="rect">
              <a:avLst/>
            </a:prstGeom>
            <a:noFill/>
            <a:ln>
              <a:noFill/>
            </a:ln>
          </p:spPr>
          <p:txBody>
            <a:bodyPr wrap="none" lIns="0" tIns="0" rIns="0" bIns="0" anchor="t" anchorCtr="0">
              <a:spAutoFit/>
            </a:bodyPr>
            <a:lstStyle/>
            <a:p>
              <a:pPr algn="l"/>
              <a:r>
                <a:rPr lang="vi-VN" sz="1280" b="1" dirty="0">
                  <a:solidFill>
                    <a:schemeClr val="accent1"/>
                  </a:solidFill>
                  <a:latin typeface="+mn-lt"/>
                  <a:ea typeface="+mn-ea"/>
                  <a:cs typeface="+mn-cs"/>
                </a:rPr>
                <a:t>ĐẦU RA</a:t>
              </a:r>
            </a:p>
          </p:txBody>
        </p:sp>
        <p:sp>
          <p:nvSpPr>
            <p:cNvPr id="28" name="TextBox 28"/>
            <p:cNvSpPr txBox="1"/>
            <p:nvPr/>
          </p:nvSpPr>
          <p:spPr>
            <a:xfrm>
              <a:off x="4794123" y="4953000"/>
              <a:ext cx="2928305" cy="250317"/>
            </a:xfrm>
            <a:prstGeom prst="rect">
              <a:avLst/>
            </a:prstGeom>
            <a:noFill/>
            <a:ln>
              <a:noFill/>
            </a:ln>
          </p:spPr>
          <p:txBody>
            <a:bodyPr wrap="none" lIns="0" tIns="0" rIns="0" bIns="0" anchor="t" anchorCtr="0">
              <a:spAutoFit/>
            </a:bodyPr>
            <a:lstStyle/>
            <a:p>
              <a:pPr algn="l"/>
              <a:r>
                <a:rPr lang="vi-VN" sz="1280" dirty="0">
                  <a:solidFill>
                    <a:schemeClr val="dk1"/>
                  </a:solidFill>
                  <a:latin typeface="+mn-lt"/>
                  <a:ea typeface="+mn-ea"/>
                  <a:cs typeface="+mn-cs"/>
                </a:rPr>
                <a:t>CSV hợp lệ + đồ thị có nhãn, đơn vị.</a:t>
              </a:r>
            </a:p>
          </p:txBody>
        </p:sp>
      </p:grpSp>
      <p:grpSp>
        <p:nvGrpSpPr>
          <p:cNvPr id="41" name="exercise-extension"/>
          <p:cNvGrpSpPr/>
          <p:nvPr/>
        </p:nvGrpSpPr>
        <p:grpSpPr>
          <a:xfrm>
            <a:off x="8153400" y="1924050"/>
            <a:ext cx="3352800" cy="3733800"/>
            <a:chOff x="8153400" y="1924050"/>
            <a:chExt cx="3352800" cy="3733800"/>
          </a:xfrm>
        </p:grpSpPr>
        <p:sp>
          <p:nvSpPr>
            <p:cNvPr id="30" name="Rectangle 30"/>
            <p:cNvSpPr/>
            <p:nvPr/>
          </p:nvSpPr>
          <p:spPr>
            <a:xfrm>
              <a:off x="8153400" y="1924050"/>
              <a:ext cx="3352800" cy="3733800"/>
            </a:xfrm>
            <a:prstGeom prst="roundRect">
              <a:avLst>
                <a:gd name="adj" fmla="val 1705"/>
              </a:avLst>
            </a:prstGeom>
            <a:solidFill>
              <a:schemeClr val="lt2"/>
            </a:solidFill>
            <a:ln>
              <a:noFill/>
            </a:ln>
          </p:spPr>
        </p:sp>
        <p:sp>
          <p:nvSpPr>
            <p:cNvPr id="31" name="TextBox 31"/>
            <p:cNvSpPr txBox="1"/>
            <p:nvPr/>
          </p:nvSpPr>
          <p:spPr>
            <a:xfrm>
              <a:off x="8375523" y="2133600"/>
              <a:ext cx="1246004" cy="250317"/>
            </a:xfrm>
            <a:prstGeom prst="rect">
              <a:avLst/>
            </a:prstGeom>
            <a:noFill/>
            <a:ln>
              <a:noFill/>
            </a:ln>
          </p:spPr>
          <p:txBody>
            <a:bodyPr wrap="none" lIns="0" tIns="0" rIns="0" bIns="0" anchor="t" anchorCtr="0">
              <a:spAutoFit/>
            </a:bodyPr>
            <a:lstStyle/>
            <a:p>
              <a:pPr algn="l"/>
              <a:r>
                <a:rPr lang="vi-VN" sz="1280" b="1" dirty="0">
                  <a:solidFill>
                    <a:schemeClr val="accent3"/>
                  </a:solidFill>
                  <a:latin typeface="+mn-lt"/>
                  <a:ea typeface="+mn-ea"/>
                  <a:cs typeface="+mn-cs"/>
                </a:rPr>
                <a:t>03 · MỞ RỘNG</a:t>
              </a:r>
            </a:p>
          </p:txBody>
        </p:sp>
        <p:sp>
          <p:nvSpPr>
            <p:cNvPr id="32" name="TextBox 32"/>
            <p:cNvSpPr txBox="1"/>
            <p:nvPr/>
          </p:nvSpPr>
          <p:spPr>
            <a:xfrm>
              <a:off x="8372094" y="2425700"/>
              <a:ext cx="1374061" cy="381381"/>
            </a:xfrm>
            <a:prstGeom prst="rect">
              <a:avLst/>
            </a:prstGeom>
            <a:noFill/>
            <a:ln>
              <a:noFill/>
            </a:ln>
          </p:spPr>
          <p:txBody>
            <a:bodyPr wrap="none" lIns="0" tIns="0" rIns="0" bIns="0" anchor="t" anchorCtr="0">
              <a:spAutoFit/>
            </a:bodyPr>
            <a:lstStyle/>
            <a:p>
              <a:pPr algn="l"/>
              <a:r>
                <a:rPr lang="vi-VN" sz="1950" b="1" dirty="0">
                  <a:solidFill>
                    <a:schemeClr val="accent1"/>
                  </a:solidFill>
                  <a:latin typeface="+mn-lt"/>
                  <a:ea typeface="+mn-ea"/>
                  <a:cs typeface="+mn-cs"/>
                </a:rPr>
                <a:t>LIVE PLOT</a:t>
              </a:r>
            </a:p>
          </p:txBody>
        </p:sp>
        <p:sp>
          <p:nvSpPr>
            <p:cNvPr id="33" name="Line 33"/>
            <p:cNvSpPr/>
            <p:nvPr/>
          </p:nvSpPr>
          <p:spPr>
            <a:xfrm>
              <a:off x="8382000" y="2838450"/>
              <a:ext cx="2895600" cy="9525"/>
            </a:xfrm>
            <a:custGeom>
              <a:avLst/>
              <a:gdLst/>
              <a:ahLst/>
              <a:cxnLst/>
              <a:rect l="l" t="t" r="r" b="b"/>
              <a:pathLst>
                <a:path w="2895600" h="9525">
                  <a:moveTo>
                    <a:pt x="0" y="0"/>
                  </a:moveTo>
                  <a:lnTo>
                    <a:pt x="2895600" y="0"/>
                  </a:lnTo>
                </a:path>
              </a:pathLst>
            </a:custGeom>
            <a:noFill/>
            <a:ln w="9525">
              <a:solidFill>
                <a:schemeClr val="accent6"/>
              </a:solidFill>
            </a:ln>
          </p:spPr>
        </p:sp>
        <p:sp>
          <p:nvSpPr>
            <p:cNvPr id="34" name="TextBox 34"/>
            <p:cNvSpPr txBox="1"/>
            <p:nvPr/>
          </p:nvSpPr>
          <p:spPr>
            <a:xfrm>
              <a:off x="8375142" y="3035300"/>
              <a:ext cx="2939194" cy="264033"/>
            </a:xfrm>
            <a:prstGeom prst="rect">
              <a:avLst/>
            </a:prstGeom>
            <a:noFill/>
            <a:ln>
              <a:noFill/>
            </a:ln>
          </p:spPr>
          <p:txBody>
            <a:bodyPr wrap="none" lIns="0" tIns="0" rIns="0" bIns="0" anchor="t" anchorCtr="0">
              <a:spAutoFit/>
            </a:bodyPr>
            <a:lstStyle/>
            <a:p>
              <a:pPr algn="l" marL="145732" indent="-145732">
                <a:buClr>
                  <a:schemeClr val="dk1"/>
                </a:buClr>
                <a:buSzTx/>
                <a:buFontTx/>
                <a:buChar char="•"/>
              </a:pPr>
              <a:r>
                <a:rPr lang="vi-VN" sz="1350" dirty="0">
                  <a:solidFill>
                    <a:schemeClr val="dk1"/>
                  </a:solidFill>
                  <a:latin typeface="+mn-lt"/>
                  <a:ea typeface="+mn-ea"/>
                  <a:cs typeface="+mn-cs"/>
                </a:rPr>
                <a:t>Cập nhật biểu đồ với 10–20 mẫu;</a:t>
              </a:r>
            </a:p>
          </p:txBody>
        </p:sp>
        <p:sp>
          <p:nvSpPr>
            <p:cNvPr id="35" name="TextBox 35"/>
            <p:cNvSpPr txBox="1"/>
            <p:nvPr/>
          </p:nvSpPr>
          <p:spPr>
            <a:xfrm>
              <a:off x="8565642" y="3302000"/>
              <a:ext cx="2094605" cy="264033"/>
            </a:xfrm>
            <a:prstGeom prst="rect">
              <a:avLst/>
            </a:prstGeom>
            <a:noFill/>
            <a:ln>
              <a:noFill/>
            </a:ln>
          </p:spPr>
          <p:txBody>
            <a:bodyPr wrap="none" lIns="0" tIns="0" rIns="0" bIns="0" anchor="t" anchorCtr="0">
              <a:spAutoFit/>
            </a:bodyPr>
            <a:lstStyle/>
            <a:p>
              <a:pPr algn="l"/>
              <a:r>
                <a:rPr lang="vi-VN" sz="1350" dirty="0">
                  <a:solidFill>
                    <a:schemeClr val="dk1"/>
                  </a:solidFill>
                  <a:latin typeface="+mn-lt"/>
                  <a:ea typeface="+mn-ea"/>
                  <a:cs typeface="+mn-cs"/>
                </a:rPr>
                <a:t>xác định điều kiện dừng.</a:t>
              </a:r>
            </a:p>
          </p:txBody>
        </p:sp>
        <p:sp>
          <p:nvSpPr>
            <p:cNvPr id="36" name="TextBox 36"/>
            <p:cNvSpPr txBox="1"/>
            <p:nvPr/>
          </p:nvSpPr>
          <p:spPr>
            <a:xfrm>
              <a:off x="8375142" y="3702050"/>
              <a:ext cx="2701203" cy="264033"/>
            </a:xfrm>
            <a:prstGeom prst="rect">
              <a:avLst/>
            </a:prstGeom>
            <a:noFill/>
            <a:ln>
              <a:noFill/>
            </a:ln>
          </p:spPr>
          <p:txBody>
            <a:bodyPr wrap="none" lIns="0" tIns="0" rIns="0" bIns="0" anchor="t" anchorCtr="0">
              <a:spAutoFit/>
            </a:bodyPr>
            <a:lstStyle/>
            <a:p>
              <a:pPr algn="l" marL="145732" indent="-145732">
                <a:buClr>
                  <a:schemeClr val="dk1"/>
                </a:buClr>
                <a:buSzTx/>
                <a:buFontTx/>
                <a:buChar char="•"/>
              </a:pPr>
              <a:r>
                <a:rPr lang="vi-VN" sz="1350" dirty="0">
                  <a:solidFill>
                    <a:schemeClr val="dk1"/>
                  </a:solidFill>
                  <a:latin typeface="+mn-lt"/>
                  <a:ea typeface="+mn-ea"/>
                  <a:cs typeface="+mn-cs"/>
                </a:rPr>
                <a:t>Kiểm tra redraw, timeout và</a:t>
              </a:r>
            </a:p>
          </p:txBody>
        </p:sp>
        <p:sp>
          <p:nvSpPr>
            <p:cNvPr id="37" name="TextBox 37"/>
            <p:cNvSpPr txBox="1"/>
            <p:nvPr/>
          </p:nvSpPr>
          <p:spPr>
            <a:xfrm>
              <a:off x="8565642" y="3968750"/>
              <a:ext cx="1785652" cy="264033"/>
            </a:xfrm>
            <a:prstGeom prst="rect">
              <a:avLst/>
            </a:prstGeom>
            <a:noFill/>
            <a:ln>
              <a:noFill/>
            </a:ln>
          </p:spPr>
          <p:txBody>
            <a:bodyPr wrap="none" lIns="0" tIns="0" rIns="0" bIns="0" anchor="t" anchorCtr="0">
              <a:spAutoFit/>
            </a:bodyPr>
            <a:lstStyle/>
            <a:p>
              <a:pPr algn="l"/>
              <a:r>
                <a:rPr lang="vi-VN" sz="1350" dirty="0">
                  <a:solidFill>
                    <a:schemeClr val="dk1"/>
                  </a:solidFill>
                  <a:latin typeface="+mn-lt"/>
                  <a:ea typeface="+mn-ea"/>
                  <a:cs typeface="+mn-cs"/>
                </a:rPr>
                <a:t>cách loại bỏ mẫu lỗi.</a:t>
              </a:r>
            </a:p>
          </p:txBody>
        </p:sp>
        <p:sp>
          <p:nvSpPr>
            <p:cNvPr id="38" name="Rectangle 38"/>
            <p:cNvSpPr/>
            <p:nvPr/>
          </p:nvSpPr>
          <p:spPr>
            <a:xfrm>
              <a:off x="8382000" y="4514850"/>
              <a:ext cx="2895600" cy="819150"/>
            </a:xfrm>
            <a:prstGeom prst="roundRect">
              <a:avLst>
                <a:gd name="adj" fmla="val 4651"/>
              </a:avLst>
            </a:prstGeom>
            <a:solidFill>
              <a:srgbClr val="FFFDF7"/>
            </a:solidFill>
            <a:ln>
              <a:noFill/>
            </a:ln>
          </p:spPr>
        </p:sp>
        <p:sp>
          <p:nvSpPr>
            <p:cNvPr id="39" name="TextBox 39"/>
            <p:cNvSpPr txBox="1"/>
            <p:nvPr/>
          </p:nvSpPr>
          <p:spPr>
            <a:xfrm>
              <a:off x="8527923" y="4667250"/>
              <a:ext cx="596024" cy="250317"/>
            </a:xfrm>
            <a:prstGeom prst="rect">
              <a:avLst/>
            </a:prstGeom>
            <a:noFill/>
            <a:ln>
              <a:noFill/>
            </a:ln>
          </p:spPr>
          <p:txBody>
            <a:bodyPr wrap="none" lIns="0" tIns="0" rIns="0" bIns="0" anchor="t" anchorCtr="0">
              <a:spAutoFit/>
            </a:bodyPr>
            <a:lstStyle/>
            <a:p>
              <a:pPr algn="l"/>
              <a:r>
                <a:rPr lang="vi-VN" sz="1280" b="1" dirty="0">
                  <a:solidFill>
                    <a:schemeClr val="accent1"/>
                  </a:solidFill>
                  <a:latin typeface="+mn-lt"/>
                  <a:ea typeface="+mn-ea"/>
                  <a:cs typeface="+mn-cs"/>
                </a:rPr>
                <a:t>ĐẦU RA</a:t>
              </a:r>
            </a:p>
          </p:txBody>
        </p:sp>
        <p:sp>
          <p:nvSpPr>
            <p:cNvPr id="40" name="TextBox 40"/>
            <p:cNvSpPr txBox="1"/>
            <p:nvPr/>
          </p:nvSpPr>
          <p:spPr>
            <a:xfrm>
              <a:off x="8527923" y="4953000"/>
              <a:ext cx="2181319" cy="250317"/>
            </a:xfrm>
            <a:prstGeom prst="rect">
              <a:avLst/>
            </a:prstGeom>
            <a:noFill/>
            <a:ln>
              <a:noFill/>
            </a:ln>
          </p:spPr>
          <p:txBody>
            <a:bodyPr wrap="none" lIns="0" tIns="0" rIns="0" bIns="0" anchor="t" anchorCtr="0">
              <a:spAutoFit/>
            </a:bodyPr>
            <a:lstStyle/>
            <a:p>
              <a:pPr algn="l"/>
              <a:r>
                <a:rPr lang="vi-VN" sz="1280" dirty="0">
                  <a:solidFill>
                    <a:schemeClr val="dk1"/>
                  </a:solidFill>
                  <a:latin typeface="+mn-lt"/>
                  <a:ea typeface="+mn-ea"/>
                  <a:cs typeface="+mn-cs"/>
                </a:rPr>
                <a:t>Live plot và giải thích mã.</a:t>
              </a:r>
            </a:p>
          </p:txBody>
        </p:sp>
      </p:grpSp>
      <p:grpSp>
        <p:nvGrpSpPr>
          <p:cNvPr id="44" name="exercise-arrow-1"/>
          <p:cNvGrpSpPr/>
          <p:nvPr/>
        </p:nvGrpSpPr>
        <p:grpSpPr>
          <a:xfrm>
            <a:off x="4076700" y="3543300"/>
            <a:ext cx="304800" cy="325120"/>
            <a:chOff x="4076700" y="3543300"/>
            <a:chExt cx="304800" cy="325120"/>
          </a:xfrm>
        </p:grpSpPr>
        <p:sp>
          <p:nvSpPr>
            <p:cNvPr id="42" name="Ellipse 42"/>
            <p:cNvSpPr/>
            <p:nvPr/>
          </p:nvSpPr>
          <p:spPr>
            <a:xfrm>
              <a:off x="4076700" y="3543300"/>
              <a:ext cx="304800" cy="304800"/>
            </a:xfrm>
            <a:prstGeom prst="ellipse">
              <a:avLst/>
            </a:prstGeom>
            <a:solidFill>
              <a:schemeClr val="accent1"/>
            </a:solidFill>
            <a:ln>
              <a:noFill/>
            </a:ln>
          </p:spPr>
        </p:sp>
        <p:sp>
          <p:nvSpPr>
            <p:cNvPr id="43" name="TextBox 43"/>
            <p:cNvSpPr txBox="1"/>
            <p:nvPr/>
          </p:nvSpPr>
          <p:spPr>
            <a:xfrm>
              <a:off x="4163173" y="3575050"/>
              <a:ext cx="131855" cy="293370"/>
            </a:xfrm>
            <a:prstGeom prst="rect">
              <a:avLst/>
            </a:prstGeom>
            <a:noFill/>
            <a:ln>
              <a:noFill/>
            </a:ln>
          </p:spPr>
          <p:txBody>
            <a:bodyPr wrap="none" lIns="0" tIns="0" rIns="0" bIns="0" anchor="t" anchorCtr="0">
              <a:spAutoFit/>
            </a:bodyPr>
            <a:lstStyle/>
            <a:p>
              <a:pPr algn="ctr"/>
              <a:r>
                <a:rPr lang="vi-VN" sz="1500" b="1" dirty="0">
                  <a:solidFill>
                    <a:srgbClr val="FFFDF7"/>
                  </a:solidFill>
                  <a:latin typeface="+mn-lt"/>
                  <a:ea typeface="+mn-ea"/>
                  <a:cs typeface="+mn-cs"/>
                </a:rPr>
                <a:t>→</a:t>
              </a:r>
            </a:p>
          </p:txBody>
        </p:sp>
      </p:grpSp>
      <p:grpSp>
        <p:nvGrpSpPr>
          <p:cNvPr id="47" name="exercise-arrow-2"/>
          <p:cNvGrpSpPr/>
          <p:nvPr/>
        </p:nvGrpSpPr>
        <p:grpSpPr>
          <a:xfrm>
            <a:off x="7810500" y="3543300"/>
            <a:ext cx="304800" cy="325120"/>
            <a:chOff x="7810500" y="3543300"/>
            <a:chExt cx="304800" cy="325120"/>
          </a:xfrm>
        </p:grpSpPr>
        <p:sp>
          <p:nvSpPr>
            <p:cNvPr id="45" name="Ellipse 45"/>
            <p:cNvSpPr/>
            <p:nvPr/>
          </p:nvSpPr>
          <p:spPr>
            <a:xfrm>
              <a:off x="7810500" y="3543300"/>
              <a:ext cx="304800" cy="304800"/>
            </a:xfrm>
            <a:prstGeom prst="ellipse">
              <a:avLst/>
            </a:prstGeom>
            <a:solidFill>
              <a:schemeClr val="accent1"/>
            </a:solidFill>
            <a:ln>
              <a:noFill/>
            </a:ln>
          </p:spPr>
        </p:sp>
        <p:sp>
          <p:nvSpPr>
            <p:cNvPr id="46" name="TextBox 46"/>
            <p:cNvSpPr txBox="1"/>
            <p:nvPr/>
          </p:nvSpPr>
          <p:spPr>
            <a:xfrm>
              <a:off x="7896973" y="3575050"/>
              <a:ext cx="131855" cy="293370"/>
            </a:xfrm>
            <a:prstGeom prst="rect">
              <a:avLst/>
            </a:prstGeom>
            <a:noFill/>
            <a:ln>
              <a:noFill/>
            </a:ln>
          </p:spPr>
          <p:txBody>
            <a:bodyPr wrap="none" lIns="0" tIns="0" rIns="0" bIns="0" anchor="t" anchorCtr="0">
              <a:spAutoFit/>
            </a:bodyPr>
            <a:lstStyle/>
            <a:p>
              <a:pPr algn="ctr"/>
              <a:r>
                <a:rPr lang="vi-VN" sz="1500" b="1" dirty="0">
                  <a:solidFill>
                    <a:srgbClr val="FFFDF7"/>
                  </a:solidFill>
                  <a:latin typeface="+mn-lt"/>
                  <a:ea typeface="+mn-ea"/>
                  <a:cs typeface="+mn-cs"/>
                </a:rPr>
                <a:t>→</a:t>
              </a:r>
            </a:p>
          </p:txBody>
        </p:sp>
      </p:grpSp>
      <p:grpSp>
        <p:nvGrpSpPr>
          <p:cNvPr id="49" name="exercise-note"/>
          <p:cNvGrpSpPr/>
          <p:nvPr/>
        </p:nvGrpSpPr>
        <p:grpSpPr>
          <a:xfrm>
            <a:off x="679704" y="5829300"/>
            <a:ext cx="7337351" cy="234696"/>
            <a:chOff x="679704" y="5829300"/>
            <a:chExt cx="7337351" cy="234696"/>
          </a:xfrm>
        </p:grpSpPr>
        <p:sp>
          <p:nvSpPr>
            <p:cNvPr id="48" name="TextBox 48"/>
            <p:cNvSpPr txBox="1"/>
            <p:nvPr/>
          </p:nvSpPr>
          <p:spPr>
            <a:xfrm>
              <a:off x="679704" y="5829300"/>
              <a:ext cx="7337351" cy="234696"/>
            </a:xfrm>
            <a:prstGeom prst="rect">
              <a:avLst/>
            </a:prstGeom>
            <a:noFill/>
            <a:ln>
              <a:noFill/>
            </a:ln>
          </p:spPr>
          <p:txBody>
            <a:bodyPr wrap="none" lIns="0" tIns="0" rIns="0" bIns="0" anchor="t" anchorCtr="0">
              <a:spAutoFit/>
            </a:bodyPr>
            <a:lstStyle/>
            <a:p>
              <a:pPr algn="l"/>
              <a:r>
                <a:rPr lang="vi-VN" sz="1200" b="1" dirty="0">
                  <a:solidFill>
                    <a:schemeClr val="accent2"/>
                  </a:solidFill>
                  <a:latin typeface="+mn-lt"/>
                  <a:ea typeface="+mn-ea"/>
                  <a:cs typeface="+mn-cs"/>
                </a:rPr>
                <a:t>Ưu tiên độ chính xác dữ liệu và đơn vị; firmware đã được chuẩn bị, không thực hiện upload.</a:t>
              </a:r>
            </a:p>
          </p:txBody>
        </p:sp>
      </p:grpSp>
      <p:grpSp>
        <p:nvGrpSpPr>
          <p:cNvPr id="52" name="page-footer"/>
          <p:cNvGrpSpPr/>
          <p:nvPr/>
        </p:nvGrpSpPr>
        <p:grpSpPr>
          <a:xfrm>
            <a:off x="679704" y="6429375"/>
            <a:ext cx="10832592" cy="234696"/>
            <a:chOff x="679704" y="6429375"/>
            <a:chExt cx="10832592" cy="234696"/>
          </a:xfrm>
        </p:grpSpPr>
        <p:sp>
          <p:nvSpPr>
            <p:cNvPr id="50" name="TextBox 50"/>
            <p:cNvSpPr txBox="1"/>
            <p:nvPr/>
          </p:nvSpPr>
          <p:spPr>
            <a:xfrm>
              <a:off x="679704" y="6429375"/>
              <a:ext cx="3246730" cy="234696"/>
            </a:xfrm>
            <a:prstGeom prst="rect">
              <a:avLst/>
            </a:prstGeom>
            <a:noFill/>
            <a:ln>
              <a:noFill/>
            </a:ln>
          </p:spPr>
          <p:txBody>
            <a:bodyPr wrap="none" lIns="0" tIns="0" rIns="0" bIns="0" anchor="t" anchorCtr="0">
              <a:spAutoFit/>
            </a:bodyPr>
            <a:lstStyle/>
            <a:p>
              <a:pPr algn="l"/>
              <a:r>
                <a:rPr lang="vi-VN" sz="1200" dirty="0">
                  <a:solidFill>
                    <a:schemeClr val="accent5"/>
                  </a:solidFill>
                  <a:latin typeface="+mn-lt"/>
                  <a:ea typeface="+mn-ea"/>
                  <a:cs typeface="+mn-cs"/>
                </a:rPr>
                <a:t>BÀI TẬP · CƠ BẢN → THỰC HÀNH → MỞ RỘNG</a:t>
              </a:r>
            </a:p>
          </p:txBody>
        </p:sp>
        <p:sp>
          <p:nvSpPr>
            <p:cNvPr id="51" name="TextBox 51"/>
            <p:cNvSpPr txBox="1"/>
            <p:nvPr/>
          </p:nvSpPr>
          <p:spPr>
            <a:xfrm>
              <a:off x="10958932" y="6429375"/>
              <a:ext cx="553364" cy="234696"/>
            </a:xfrm>
            <a:prstGeom prst="rect">
              <a:avLst/>
            </a:prstGeom>
            <a:noFill/>
            <a:ln>
              <a:noFill/>
            </a:ln>
          </p:spPr>
          <p:txBody>
            <a:bodyPr wrap="none" lIns="0" tIns="0" rIns="0" bIns="0" anchor="t" anchorCtr="0">
              <a:spAutoFit/>
            </a:bodyPr>
            <a:lstStyle/>
            <a:p>
              <a:pPr algn="r"/>
              <a:r>
                <a:rPr lang="vi-VN" sz="1200" dirty="0">
                  <a:solidFill>
                    <a:schemeClr val="accent5"/>
                  </a:solidFill>
                  <a:latin typeface="+mn-lt"/>
                  <a:ea typeface="+mn-ea"/>
                  <a:cs typeface="+mn-cs"/>
                </a:rPr>
                <a:t>24 / 25</a:t>
              </a:r>
            </a:p>
          </p:txBody>
        </p:sp>
      </p:grpSp>
    </p:spTree>
  </p:cSld>
  <p:clrMapOvr>
    <a:masterClrMapping/>
  </p:clrMapOvr>
  <p:transition xmlns:p14="http://schemas.microsoft.com/office/powerpoint/2010/main" p14:dur="400">
    <p:fade/>
  </p:transition>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page-title"/>
          <p:cNvGrpSpPr/>
          <p:nvPr/>
        </p:nvGrpSpPr>
        <p:grpSpPr>
          <a:xfrm>
            <a:off x="669798" y="520700"/>
            <a:ext cx="10836402" cy="955675"/>
            <a:chOff x="669798" y="520700"/>
            <a:chExt cx="10836402" cy="955675"/>
          </a:xfrm>
        </p:grpSpPr>
        <p:sp>
          <p:nvSpPr>
            <p:cNvPr id="2" name="TextBox 2"/>
            <p:cNvSpPr txBox="1"/>
            <p:nvPr/>
          </p:nvSpPr>
          <p:spPr>
            <a:xfrm>
              <a:off x="678942" y="520700"/>
              <a:ext cx="1858587" cy="264033"/>
            </a:xfrm>
            <a:prstGeom prst="rect">
              <a:avLst/>
            </a:prstGeom>
            <a:noFill/>
            <a:ln>
              <a:noFill/>
            </a:ln>
          </p:spPr>
          <p:txBody>
            <a:bodyPr wrap="none" lIns="0" tIns="0" rIns="0" bIns="0" anchor="t" anchorCtr="0">
              <a:spAutoFit/>
            </a:bodyPr>
            <a:lstStyle/>
            <a:p>
              <a:pPr algn="l"/>
              <a:r>
                <a:rPr lang="vi-VN" sz="1350" b="1" dirty="0">
                  <a:solidFill>
                    <a:schemeClr val="accent3"/>
                  </a:solidFill>
                  <a:latin typeface="+mn-lt"/>
                  <a:ea typeface="+mn-ea"/>
                  <a:cs typeface="+mn-cs"/>
                </a:rPr>
                <a:t>07 · DỰ ÁN TÍCH HỢP</a:t>
              </a:r>
            </a:p>
          </p:txBody>
        </p:sp>
        <p:sp>
          <p:nvSpPr>
            <p:cNvPr id="3" name="TextBox 3"/>
            <p:cNvSpPr txBox="1"/>
            <p:nvPr/>
          </p:nvSpPr>
          <p:spPr>
            <a:xfrm>
              <a:off x="669798" y="838200"/>
              <a:ext cx="8997473" cy="616077"/>
            </a:xfrm>
            <a:prstGeom prst="rect">
              <a:avLst/>
            </a:prstGeom>
            <a:noFill/>
            <a:ln>
              <a:noFill/>
            </a:ln>
          </p:spPr>
          <p:txBody>
            <a:bodyPr wrap="none" lIns="0" tIns="0" rIns="0" bIns="0" anchor="t" anchorCtr="0">
              <a:spAutoFit/>
            </a:bodyPr>
            <a:lstStyle/>
            <a:p>
              <a:pPr algn="l"/>
              <a:r>
                <a:rPr lang="vi-VN" sz="3150" b="1" dirty="0">
                  <a:solidFill>
                    <a:schemeClr val="accent1"/>
                  </a:solidFill>
                  <a:latin typeface="+mn-lt"/>
                  <a:ea typeface="+mn-ea"/>
                  <a:cs typeface="+mn-cs"/>
                </a:rPr>
                <a:t>Thu thập, lưu trữ và trực quan hóa dữ liệu</a:t>
              </a:r>
            </a:p>
          </p:txBody>
        </p:sp>
        <p:sp>
          <p:nvSpPr>
            <p:cNvPr id="4" name="Line 4"/>
            <p:cNvSpPr/>
            <p:nvPr/>
          </p:nvSpPr>
          <p:spPr>
            <a:xfrm>
              <a:off x="685800" y="1466850"/>
              <a:ext cx="10820400" cy="9525"/>
            </a:xfrm>
            <a:custGeom>
              <a:avLst/>
              <a:gdLst/>
              <a:ahLst/>
              <a:cxnLst/>
              <a:rect l="l" t="t" r="r" b="b"/>
              <a:pathLst>
                <a:path w="10820400" h="9525">
                  <a:moveTo>
                    <a:pt x="0" y="0"/>
                  </a:moveTo>
                  <a:lnTo>
                    <a:pt x="10820400" y="0"/>
                  </a:lnTo>
                </a:path>
              </a:pathLst>
            </a:custGeom>
            <a:noFill/>
            <a:ln w="14288">
              <a:solidFill>
                <a:schemeClr val="accent6"/>
              </a:solidFill>
            </a:ln>
          </p:spPr>
        </p:sp>
      </p:grpSp>
      <p:grpSp>
        <p:nvGrpSpPr>
          <p:cNvPr id="38" name="project-flow"/>
          <p:cNvGrpSpPr/>
          <p:nvPr/>
        </p:nvGrpSpPr>
        <p:grpSpPr>
          <a:xfrm>
            <a:off x="678942" y="1911350"/>
            <a:ext cx="10490205" cy="1702753"/>
            <a:chOff x="678942" y="1911350"/>
            <a:chExt cx="10490205" cy="1702753"/>
          </a:xfrm>
        </p:grpSpPr>
        <p:sp>
          <p:nvSpPr>
            <p:cNvPr id="6" name="TextBox 6"/>
            <p:cNvSpPr txBox="1"/>
            <p:nvPr/>
          </p:nvSpPr>
          <p:spPr>
            <a:xfrm>
              <a:off x="678942" y="1911350"/>
              <a:ext cx="3794189" cy="264033"/>
            </a:xfrm>
            <a:prstGeom prst="rect">
              <a:avLst/>
            </a:prstGeom>
            <a:noFill/>
            <a:ln>
              <a:noFill/>
            </a:ln>
          </p:spPr>
          <p:txBody>
            <a:bodyPr wrap="none" lIns="0" tIns="0" rIns="0" bIns="0" anchor="t" anchorCtr="0">
              <a:spAutoFit/>
            </a:bodyPr>
            <a:lstStyle/>
            <a:p>
              <a:pPr algn="l"/>
              <a:r>
                <a:rPr lang="vi-VN" sz="1350" b="1" dirty="0">
                  <a:solidFill>
                    <a:schemeClr val="accent5"/>
                  </a:solidFill>
                  <a:latin typeface="+mn-lt"/>
                  <a:ea typeface="+mn-ea"/>
                  <a:cs typeface="+mn-cs"/>
                </a:rPr>
                <a:t>QUY TRÌNH CÓ THỂ TÁI LẬP VÀ KIỂM CHỨNG</a:t>
              </a:r>
            </a:p>
          </p:txBody>
        </p:sp>
        <p:sp>
          <p:nvSpPr>
            <p:cNvPr id="7" name="Line 7"/>
            <p:cNvSpPr/>
            <p:nvPr/>
          </p:nvSpPr>
          <p:spPr>
            <a:xfrm>
              <a:off x="1428750" y="2647950"/>
              <a:ext cx="9391650" cy="9525"/>
            </a:xfrm>
            <a:custGeom>
              <a:avLst/>
              <a:gdLst/>
              <a:ahLst/>
              <a:cxnLst/>
              <a:rect l="l" t="t" r="r" b="b"/>
              <a:pathLst>
                <a:path w="9391650" h="9525">
                  <a:moveTo>
                    <a:pt x="0" y="0"/>
                  </a:moveTo>
                  <a:lnTo>
                    <a:pt x="9391650" y="0"/>
                  </a:lnTo>
                </a:path>
              </a:pathLst>
            </a:custGeom>
            <a:noFill/>
            <a:ln w="19050">
              <a:solidFill>
                <a:schemeClr val="accent6"/>
              </a:solidFill>
            </a:ln>
          </p:spPr>
        </p:sp>
        <p:sp>
          <p:nvSpPr>
            <p:cNvPr id="8" name="Ellipse 8"/>
            <p:cNvSpPr/>
            <p:nvPr/>
          </p:nvSpPr>
          <p:spPr>
            <a:xfrm>
              <a:off x="1333500" y="2514600"/>
              <a:ext cx="266700" cy="266700"/>
            </a:xfrm>
            <a:prstGeom prst="ellipse">
              <a:avLst/>
            </a:prstGeom>
            <a:solidFill>
              <a:schemeClr val="accent1"/>
            </a:solidFill>
            <a:ln>
              <a:noFill/>
            </a:ln>
          </p:spPr>
        </p:sp>
        <p:sp>
          <p:nvSpPr>
            <p:cNvPr id="9" name="TextBox 9"/>
            <p:cNvSpPr txBox="1"/>
            <p:nvPr/>
          </p:nvSpPr>
          <p:spPr>
            <a:xfrm>
              <a:off x="1414108" y="2543175"/>
              <a:ext cx="105484" cy="234696"/>
            </a:xfrm>
            <a:prstGeom prst="rect">
              <a:avLst/>
            </a:prstGeom>
            <a:noFill/>
            <a:ln>
              <a:noFill/>
            </a:ln>
          </p:spPr>
          <p:txBody>
            <a:bodyPr wrap="none" lIns="0" tIns="0" rIns="0" bIns="0" anchor="t" anchorCtr="0">
              <a:spAutoFit/>
            </a:bodyPr>
            <a:lstStyle/>
            <a:p>
              <a:pPr algn="ctr"/>
              <a:r>
                <a:rPr lang="vi-VN" sz="1200" b="1" dirty="0">
                  <a:solidFill>
                    <a:srgbClr val="FFFDF7"/>
                  </a:solidFill>
                  <a:latin typeface="+mn-lt"/>
                  <a:ea typeface="+mn-ea"/>
                  <a:cs typeface="+mn-cs"/>
                </a:rPr>
                <a:t>1</a:t>
              </a:r>
            </a:p>
          </p:txBody>
        </p:sp>
        <p:sp>
          <p:nvSpPr>
            <p:cNvPr id="10" name="TextBox 10"/>
            <p:cNvSpPr txBox="1"/>
            <p:nvPr/>
          </p:nvSpPr>
          <p:spPr>
            <a:xfrm>
              <a:off x="774192" y="2882900"/>
              <a:ext cx="830298" cy="264033"/>
            </a:xfrm>
            <a:prstGeom prst="rect">
              <a:avLst/>
            </a:prstGeom>
            <a:noFill/>
            <a:ln>
              <a:noFill/>
            </a:ln>
          </p:spPr>
          <p:txBody>
            <a:bodyPr wrap="none" lIns="0" tIns="0" rIns="0" bIns="0" anchor="t" anchorCtr="0">
              <a:spAutoFit/>
            </a:bodyPr>
            <a:lstStyle/>
            <a:p>
              <a:pPr algn="l"/>
              <a:r>
                <a:rPr lang="vi-VN" sz="1350" b="1" dirty="0">
                  <a:solidFill>
                    <a:schemeClr val="accent1"/>
                  </a:solidFill>
                  <a:latin typeface="+mn-lt"/>
                  <a:ea typeface="+mn-ea"/>
                  <a:cs typeface="+mn-cs"/>
                </a:rPr>
                <a:t>CONNECT</a:t>
              </a:r>
            </a:p>
          </p:txBody>
        </p:sp>
        <p:sp>
          <p:nvSpPr>
            <p:cNvPr id="11" name="TextBox 11"/>
            <p:cNvSpPr txBox="1"/>
            <p:nvPr/>
          </p:nvSpPr>
          <p:spPr>
            <a:xfrm>
              <a:off x="775335" y="3175000"/>
              <a:ext cx="1317762" cy="220028"/>
            </a:xfrm>
            <a:prstGeom prst="rect">
              <a:avLst/>
            </a:prstGeom>
            <a:noFill/>
            <a:ln>
              <a:noFill/>
            </a:ln>
          </p:spPr>
          <p:txBody>
            <a:bodyPr wrap="none" lIns="0" tIns="0" rIns="0" bIns="0" anchor="t" anchorCtr="0">
              <a:spAutoFit/>
            </a:bodyPr>
            <a:lstStyle/>
            <a:p>
              <a:pPr algn="l"/>
              <a:r>
                <a:rPr lang="vi-VN" sz="1120" dirty="0">
                  <a:solidFill>
                    <a:schemeClr val="dk1"/>
                  </a:solidFill>
                  <a:latin typeface="+mn-lt"/>
                  <a:ea typeface="+mn-ea"/>
                  <a:cs typeface="+mn-cs"/>
                </a:rPr>
                <a:t>COM · 9600 · 8N1</a:t>
              </a:r>
            </a:p>
          </p:txBody>
        </p:sp>
        <p:sp>
          <p:nvSpPr>
            <p:cNvPr id="12" name="TextBox 12"/>
            <p:cNvSpPr txBox="1"/>
            <p:nvPr/>
          </p:nvSpPr>
          <p:spPr>
            <a:xfrm>
              <a:off x="775335" y="3394075"/>
              <a:ext cx="1124344" cy="220028"/>
            </a:xfrm>
            <a:prstGeom prst="rect">
              <a:avLst/>
            </a:prstGeom>
            <a:noFill/>
            <a:ln>
              <a:noFill/>
            </a:ln>
          </p:spPr>
          <p:txBody>
            <a:bodyPr wrap="none" lIns="0" tIns="0" rIns="0" bIns="0" anchor="t" anchorCtr="0">
              <a:spAutoFit/>
            </a:bodyPr>
            <a:lstStyle/>
            <a:p>
              <a:pPr algn="l"/>
              <a:r>
                <a:rPr lang="vi-VN" sz="1120" dirty="0">
                  <a:solidFill>
                    <a:schemeClr val="dk1"/>
                  </a:solidFill>
                  <a:latin typeface="+mn-lt"/>
                  <a:ea typeface="+mn-ea"/>
                  <a:cs typeface="+mn-cs"/>
                </a:rPr>
                <a:t>Flow NONE · CR</a:t>
              </a:r>
            </a:p>
          </p:txBody>
        </p:sp>
        <p:sp>
          <p:nvSpPr>
            <p:cNvPr id="13" name="Ellipse 13"/>
            <p:cNvSpPr/>
            <p:nvPr/>
          </p:nvSpPr>
          <p:spPr>
            <a:xfrm>
              <a:off x="3200400" y="2514600"/>
              <a:ext cx="266700" cy="266700"/>
            </a:xfrm>
            <a:prstGeom prst="ellipse">
              <a:avLst/>
            </a:prstGeom>
            <a:solidFill>
              <a:schemeClr val="accent1"/>
            </a:solidFill>
            <a:ln>
              <a:noFill/>
            </a:ln>
          </p:spPr>
        </p:sp>
        <p:sp>
          <p:nvSpPr>
            <p:cNvPr id="14" name="TextBox 14"/>
            <p:cNvSpPr txBox="1"/>
            <p:nvPr/>
          </p:nvSpPr>
          <p:spPr>
            <a:xfrm>
              <a:off x="3281008" y="2543175"/>
              <a:ext cx="105484" cy="234696"/>
            </a:xfrm>
            <a:prstGeom prst="rect">
              <a:avLst/>
            </a:prstGeom>
            <a:noFill/>
            <a:ln>
              <a:noFill/>
            </a:ln>
          </p:spPr>
          <p:txBody>
            <a:bodyPr wrap="none" lIns="0" tIns="0" rIns="0" bIns="0" anchor="t" anchorCtr="0">
              <a:spAutoFit/>
            </a:bodyPr>
            <a:lstStyle/>
            <a:p>
              <a:pPr algn="ctr"/>
              <a:r>
                <a:rPr lang="vi-VN" sz="1200" b="1" dirty="0">
                  <a:solidFill>
                    <a:srgbClr val="FFFDF7"/>
                  </a:solidFill>
                  <a:latin typeface="+mn-lt"/>
                  <a:ea typeface="+mn-ea"/>
                  <a:cs typeface="+mn-cs"/>
                </a:rPr>
                <a:t>2</a:t>
              </a:r>
            </a:p>
          </p:txBody>
        </p:sp>
        <p:sp>
          <p:nvSpPr>
            <p:cNvPr id="15" name="TextBox 15"/>
            <p:cNvSpPr txBox="1"/>
            <p:nvPr/>
          </p:nvSpPr>
          <p:spPr>
            <a:xfrm>
              <a:off x="2641092" y="2882900"/>
              <a:ext cx="800054" cy="264033"/>
            </a:xfrm>
            <a:prstGeom prst="rect">
              <a:avLst/>
            </a:prstGeom>
            <a:noFill/>
            <a:ln>
              <a:noFill/>
            </a:ln>
          </p:spPr>
          <p:txBody>
            <a:bodyPr wrap="none" lIns="0" tIns="0" rIns="0" bIns="0" anchor="t" anchorCtr="0">
              <a:spAutoFit/>
            </a:bodyPr>
            <a:lstStyle/>
            <a:p>
              <a:pPr algn="l"/>
              <a:r>
                <a:rPr lang="vi-VN" sz="1350" b="1" dirty="0">
                  <a:solidFill>
                    <a:schemeClr val="accent1"/>
                  </a:solidFill>
                  <a:latin typeface="+mn-lt"/>
                  <a:ea typeface="+mn-ea"/>
                  <a:cs typeface="+mn-cs"/>
                </a:rPr>
                <a:t>IDENTIFY</a:t>
              </a:r>
            </a:p>
          </p:txBody>
        </p:sp>
        <p:sp>
          <p:nvSpPr>
            <p:cNvPr id="16" name="TextBox 16"/>
            <p:cNvSpPr txBox="1"/>
            <p:nvPr/>
          </p:nvSpPr>
          <p:spPr>
            <a:xfrm>
              <a:off x="2642235" y="3175000"/>
              <a:ext cx="449529" cy="220028"/>
            </a:xfrm>
            <a:prstGeom prst="rect">
              <a:avLst/>
            </a:prstGeom>
            <a:noFill/>
            <a:ln>
              <a:noFill/>
            </a:ln>
          </p:spPr>
          <p:txBody>
            <a:bodyPr wrap="none" lIns="0" tIns="0" rIns="0" bIns="0" anchor="t" anchorCtr="0">
              <a:spAutoFit/>
            </a:bodyPr>
            <a:lstStyle/>
            <a:p>
              <a:pPr algn="l"/>
              <a:r>
                <a:rPr lang="vi-VN" sz="1120" dirty="0">
                  <a:solidFill>
                    <a:schemeClr val="dk1"/>
                  </a:solidFill>
                  <a:latin typeface="Consolas"/>
                  <a:ea typeface="Consolas"/>
                  <a:cs typeface="Consolas"/>
                </a:rPr>
                <a:t>*IDN?</a:t>
              </a:r>
            </a:p>
          </p:txBody>
        </p:sp>
        <p:sp>
          <p:nvSpPr>
            <p:cNvPr id="17" name="TextBox 17"/>
            <p:cNvSpPr txBox="1"/>
            <p:nvPr/>
          </p:nvSpPr>
          <p:spPr>
            <a:xfrm>
              <a:off x="2642235" y="3394075"/>
              <a:ext cx="1270396" cy="220028"/>
            </a:xfrm>
            <a:prstGeom prst="rect">
              <a:avLst/>
            </a:prstGeom>
            <a:noFill/>
            <a:ln>
              <a:noFill/>
            </a:ln>
          </p:spPr>
          <p:txBody>
            <a:bodyPr wrap="none" lIns="0" tIns="0" rIns="0" bIns="0" anchor="t" anchorCtr="0">
              <a:spAutoFit/>
            </a:bodyPr>
            <a:lstStyle/>
            <a:p>
              <a:pPr algn="l"/>
              <a:r>
                <a:rPr lang="vi-VN" sz="1120" dirty="0">
                  <a:solidFill>
                    <a:schemeClr val="dk1"/>
                  </a:solidFill>
                  <a:latin typeface="+mn-lt"/>
                  <a:ea typeface="+mn-ea"/>
                  <a:cs typeface="+mn-cs"/>
                </a:rPr>
                <a:t>xác nhận phản hồi</a:t>
              </a:r>
            </a:p>
          </p:txBody>
        </p:sp>
        <p:sp>
          <p:nvSpPr>
            <p:cNvPr id="18" name="Ellipse 18"/>
            <p:cNvSpPr/>
            <p:nvPr/>
          </p:nvSpPr>
          <p:spPr>
            <a:xfrm>
              <a:off x="5067300" y="2514600"/>
              <a:ext cx="266700" cy="266700"/>
            </a:xfrm>
            <a:prstGeom prst="ellipse">
              <a:avLst/>
            </a:prstGeom>
            <a:solidFill>
              <a:schemeClr val="accent1"/>
            </a:solidFill>
            <a:ln>
              <a:noFill/>
            </a:ln>
          </p:spPr>
        </p:sp>
        <p:sp>
          <p:nvSpPr>
            <p:cNvPr id="19" name="TextBox 19"/>
            <p:cNvSpPr txBox="1"/>
            <p:nvPr/>
          </p:nvSpPr>
          <p:spPr>
            <a:xfrm>
              <a:off x="5147908" y="2543175"/>
              <a:ext cx="105484" cy="234696"/>
            </a:xfrm>
            <a:prstGeom prst="rect">
              <a:avLst/>
            </a:prstGeom>
            <a:noFill/>
            <a:ln>
              <a:noFill/>
            </a:ln>
          </p:spPr>
          <p:txBody>
            <a:bodyPr wrap="none" lIns="0" tIns="0" rIns="0" bIns="0" anchor="t" anchorCtr="0">
              <a:spAutoFit/>
            </a:bodyPr>
            <a:lstStyle/>
            <a:p>
              <a:pPr algn="ctr"/>
              <a:r>
                <a:rPr lang="vi-VN" sz="1200" b="1" dirty="0">
                  <a:solidFill>
                    <a:srgbClr val="FFFDF7"/>
                  </a:solidFill>
                  <a:latin typeface="+mn-lt"/>
                  <a:ea typeface="+mn-ea"/>
                  <a:cs typeface="+mn-cs"/>
                </a:rPr>
                <a:t>3</a:t>
              </a:r>
            </a:p>
          </p:txBody>
        </p:sp>
        <p:sp>
          <p:nvSpPr>
            <p:cNvPr id="20" name="TextBox 20"/>
            <p:cNvSpPr txBox="1"/>
            <p:nvPr/>
          </p:nvSpPr>
          <p:spPr>
            <a:xfrm>
              <a:off x="4507992" y="2882900"/>
              <a:ext cx="1001679" cy="264033"/>
            </a:xfrm>
            <a:prstGeom prst="rect">
              <a:avLst/>
            </a:prstGeom>
            <a:noFill/>
            <a:ln>
              <a:noFill/>
            </a:ln>
          </p:spPr>
          <p:txBody>
            <a:bodyPr wrap="none" lIns="0" tIns="0" rIns="0" bIns="0" anchor="t" anchorCtr="0">
              <a:spAutoFit/>
            </a:bodyPr>
            <a:lstStyle/>
            <a:p>
              <a:pPr algn="l"/>
              <a:r>
                <a:rPr lang="vi-VN" sz="1350" b="1" dirty="0">
                  <a:solidFill>
                    <a:schemeClr val="accent1"/>
                  </a:solidFill>
                  <a:latin typeface="+mn-lt"/>
                  <a:ea typeface="+mn-ea"/>
                  <a:cs typeface="+mn-cs"/>
                </a:rPr>
                <a:t>CONFIGURE</a:t>
              </a:r>
            </a:p>
          </p:txBody>
        </p:sp>
        <p:sp>
          <p:nvSpPr>
            <p:cNvPr id="21" name="TextBox 21"/>
            <p:cNvSpPr txBox="1"/>
            <p:nvPr/>
          </p:nvSpPr>
          <p:spPr>
            <a:xfrm>
              <a:off x="4509135" y="3175000"/>
              <a:ext cx="1062868" cy="220028"/>
            </a:xfrm>
            <a:prstGeom prst="rect">
              <a:avLst/>
            </a:prstGeom>
            <a:noFill/>
            <a:ln>
              <a:noFill/>
            </a:ln>
          </p:spPr>
          <p:txBody>
            <a:bodyPr wrap="none" lIns="0" tIns="0" rIns="0" bIns="0" anchor="t" anchorCtr="0">
              <a:spAutoFit/>
            </a:bodyPr>
            <a:lstStyle/>
            <a:p>
              <a:pPr algn="l"/>
              <a:r>
                <a:rPr lang="vi-VN" sz="1120" dirty="0">
                  <a:solidFill>
                    <a:schemeClr val="dk1"/>
                  </a:solidFill>
                  <a:latin typeface="Consolas"/>
                  <a:ea typeface="Consolas"/>
                  <a:cs typeface="Consolas"/>
                </a:rPr>
                <a:t>CONF:VOLT:DC</a:t>
              </a:r>
            </a:p>
          </p:txBody>
        </p:sp>
        <p:sp>
          <p:nvSpPr>
            <p:cNvPr id="22" name="TextBox 22"/>
            <p:cNvSpPr txBox="1"/>
            <p:nvPr/>
          </p:nvSpPr>
          <p:spPr>
            <a:xfrm>
              <a:off x="4509135" y="3394075"/>
              <a:ext cx="1534820" cy="220028"/>
            </a:xfrm>
            <a:prstGeom prst="rect">
              <a:avLst/>
            </a:prstGeom>
            <a:noFill/>
            <a:ln>
              <a:noFill/>
            </a:ln>
          </p:spPr>
          <p:txBody>
            <a:bodyPr wrap="none" lIns="0" tIns="0" rIns="0" bIns="0" anchor="t" anchorCtr="0">
              <a:spAutoFit/>
            </a:bodyPr>
            <a:lstStyle/>
            <a:p>
              <a:pPr algn="l"/>
              <a:r>
                <a:rPr lang="vi-VN" sz="1120" dirty="0">
                  <a:solidFill>
                    <a:schemeClr val="dk1"/>
                  </a:solidFill>
                  <a:latin typeface="Consolas"/>
                  <a:ea typeface="Consolas"/>
                  <a:cs typeface="Consolas"/>
                </a:rPr>
                <a:t>→ CONF? · xác minh</a:t>
              </a:r>
            </a:p>
          </p:txBody>
        </p:sp>
        <p:sp>
          <p:nvSpPr>
            <p:cNvPr id="23" name="Ellipse 23"/>
            <p:cNvSpPr/>
            <p:nvPr/>
          </p:nvSpPr>
          <p:spPr>
            <a:xfrm>
              <a:off x="6934200" y="2514600"/>
              <a:ext cx="266700" cy="266700"/>
            </a:xfrm>
            <a:prstGeom prst="ellipse">
              <a:avLst/>
            </a:prstGeom>
            <a:solidFill>
              <a:schemeClr val="accent2"/>
            </a:solidFill>
            <a:ln>
              <a:noFill/>
            </a:ln>
          </p:spPr>
        </p:sp>
        <p:sp>
          <p:nvSpPr>
            <p:cNvPr id="24" name="TextBox 24"/>
            <p:cNvSpPr txBox="1"/>
            <p:nvPr/>
          </p:nvSpPr>
          <p:spPr>
            <a:xfrm>
              <a:off x="7014808" y="2543175"/>
              <a:ext cx="105484" cy="234696"/>
            </a:xfrm>
            <a:prstGeom prst="rect">
              <a:avLst/>
            </a:prstGeom>
            <a:noFill/>
            <a:ln>
              <a:noFill/>
            </a:ln>
          </p:spPr>
          <p:txBody>
            <a:bodyPr wrap="none" lIns="0" tIns="0" rIns="0" bIns="0" anchor="t" anchorCtr="0">
              <a:spAutoFit/>
            </a:bodyPr>
            <a:lstStyle/>
            <a:p>
              <a:pPr algn="ctr"/>
              <a:r>
                <a:rPr lang="vi-VN" sz="1200" b="1" dirty="0">
                  <a:solidFill>
                    <a:srgbClr val="FFFDF7"/>
                  </a:solidFill>
                  <a:latin typeface="+mn-lt"/>
                  <a:ea typeface="+mn-ea"/>
                  <a:cs typeface="+mn-cs"/>
                </a:rPr>
                <a:t>4</a:t>
              </a:r>
            </a:p>
          </p:txBody>
        </p:sp>
        <p:sp>
          <p:nvSpPr>
            <p:cNvPr id="25" name="TextBox 25"/>
            <p:cNvSpPr txBox="1"/>
            <p:nvPr/>
          </p:nvSpPr>
          <p:spPr>
            <a:xfrm>
              <a:off x="6374892" y="2882900"/>
              <a:ext cx="830298" cy="264033"/>
            </a:xfrm>
            <a:prstGeom prst="rect">
              <a:avLst/>
            </a:prstGeom>
            <a:noFill/>
            <a:ln>
              <a:noFill/>
            </a:ln>
          </p:spPr>
          <p:txBody>
            <a:bodyPr wrap="none" lIns="0" tIns="0" rIns="0" bIns="0" anchor="t" anchorCtr="0">
              <a:spAutoFit/>
            </a:bodyPr>
            <a:lstStyle/>
            <a:p>
              <a:pPr algn="l"/>
              <a:r>
                <a:rPr lang="vi-VN" sz="1350" b="1" dirty="0">
                  <a:solidFill>
                    <a:schemeClr val="accent1"/>
                  </a:solidFill>
                  <a:latin typeface="+mn-lt"/>
                  <a:ea typeface="+mn-ea"/>
                  <a:cs typeface="+mn-cs"/>
                </a:rPr>
                <a:t>MEASURE</a:t>
              </a:r>
            </a:p>
          </p:txBody>
        </p:sp>
        <p:sp>
          <p:nvSpPr>
            <p:cNvPr id="26" name="TextBox 26"/>
            <p:cNvSpPr txBox="1"/>
            <p:nvPr/>
          </p:nvSpPr>
          <p:spPr>
            <a:xfrm>
              <a:off x="6376035" y="3175000"/>
              <a:ext cx="449529" cy="220028"/>
            </a:xfrm>
            <a:prstGeom prst="rect">
              <a:avLst/>
            </a:prstGeom>
            <a:noFill/>
            <a:ln>
              <a:noFill/>
            </a:ln>
          </p:spPr>
          <p:txBody>
            <a:bodyPr wrap="none" lIns="0" tIns="0" rIns="0" bIns="0" anchor="t" anchorCtr="0">
              <a:spAutoFit/>
            </a:bodyPr>
            <a:lstStyle/>
            <a:p>
              <a:pPr algn="l"/>
              <a:r>
                <a:rPr lang="vi-VN" sz="1120" dirty="0">
                  <a:solidFill>
                    <a:schemeClr val="dk1"/>
                  </a:solidFill>
                  <a:latin typeface="Consolas"/>
                  <a:ea typeface="Consolas"/>
                  <a:cs typeface="Consolas"/>
                </a:rPr>
                <a:t>READ?</a:t>
              </a:r>
            </a:p>
          </p:txBody>
        </p:sp>
        <p:sp>
          <p:nvSpPr>
            <p:cNvPr id="27" name="TextBox 27"/>
            <p:cNvSpPr txBox="1"/>
            <p:nvPr/>
          </p:nvSpPr>
          <p:spPr>
            <a:xfrm>
              <a:off x="6376035" y="3394075"/>
              <a:ext cx="1066851" cy="220028"/>
            </a:xfrm>
            <a:prstGeom prst="rect">
              <a:avLst/>
            </a:prstGeom>
            <a:noFill/>
            <a:ln>
              <a:noFill/>
            </a:ln>
          </p:spPr>
          <p:txBody>
            <a:bodyPr wrap="none" lIns="0" tIns="0" rIns="0" bIns="0" anchor="t" anchorCtr="0">
              <a:spAutoFit/>
            </a:bodyPr>
            <a:lstStyle/>
            <a:p>
              <a:pPr algn="l"/>
              <a:r>
                <a:rPr lang="vi-VN" sz="1120" dirty="0">
                  <a:solidFill>
                    <a:schemeClr val="dk1"/>
                  </a:solidFill>
                  <a:latin typeface="+mn-lt"/>
                  <a:ea typeface="+mn-ea"/>
                  <a:cs typeface="+mn-cs"/>
                </a:rPr>
                <a:t>đơn lẻ hoặc lặp</a:t>
              </a:r>
            </a:p>
          </p:txBody>
        </p:sp>
        <p:sp>
          <p:nvSpPr>
            <p:cNvPr id="28" name="Ellipse 28"/>
            <p:cNvSpPr/>
            <p:nvPr/>
          </p:nvSpPr>
          <p:spPr>
            <a:xfrm>
              <a:off x="8801100" y="2514600"/>
              <a:ext cx="266700" cy="266700"/>
            </a:xfrm>
            <a:prstGeom prst="ellipse">
              <a:avLst/>
            </a:prstGeom>
            <a:solidFill>
              <a:schemeClr val="accent3"/>
            </a:solidFill>
            <a:ln>
              <a:noFill/>
            </a:ln>
          </p:spPr>
        </p:sp>
        <p:sp>
          <p:nvSpPr>
            <p:cNvPr id="29" name="TextBox 29"/>
            <p:cNvSpPr txBox="1"/>
            <p:nvPr/>
          </p:nvSpPr>
          <p:spPr>
            <a:xfrm>
              <a:off x="8881708" y="2543175"/>
              <a:ext cx="105484" cy="234696"/>
            </a:xfrm>
            <a:prstGeom prst="rect">
              <a:avLst/>
            </a:prstGeom>
            <a:noFill/>
            <a:ln>
              <a:noFill/>
            </a:ln>
          </p:spPr>
          <p:txBody>
            <a:bodyPr wrap="none" lIns="0" tIns="0" rIns="0" bIns="0" anchor="t" anchorCtr="0">
              <a:spAutoFit/>
            </a:bodyPr>
            <a:lstStyle/>
            <a:p>
              <a:pPr algn="ctr"/>
              <a:r>
                <a:rPr lang="vi-VN" sz="1200" b="1" dirty="0">
                  <a:solidFill>
                    <a:srgbClr val="FFFDF7"/>
                  </a:solidFill>
                  <a:latin typeface="+mn-lt"/>
                  <a:ea typeface="+mn-ea"/>
                  <a:cs typeface="+mn-cs"/>
                </a:rPr>
                <a:t>5</a:t>
              </a:r>
            </a:p>
          </p:txBody>
        </p:sp>
        <p:sp>
          <p:nvSpPr>
            <p:cNvPr id="30" name="TextBox 30"/>
            <p:cNvSpPr txBox="1"/>
            <p:nvPr/>
          </p:nvSpPr>
          <p:spPr>
            <a:xfrm>
              <a:off x="8241792" y="2882900"/>
              <a:ext cx="457291" cy="264033"/>
            </a:xfrm>
            <a:prstGeom prst="rect">
              <a:avLst/>
            </a:prstGeom>
            <a:noFill/>
            <a:ln>
              <a:noFill/>
            </a:ln>
          </p:spPr>
          <p:txBody>
            <a:bodyPr wrap="none" lIns="0" tIns="0" rIns="0" bIns="0" anchor="t" anchorCtr="0">
              <a:spAutoFit/>
            </a:bodyPr>
            <a:lstStyle/>
            <a:p>
              <a:pPr algn="l"/>
              <a:r>
                <a:rPr lang="vi-VN" sz="1350" b="1" dirty="0">
                  <a:solidFill>
                    <a:schemeClr val="accent1"/>
                  </a:solidFill>
                  <a:latin typeface="+mn-lt"/>
                  <a:ea typeface="+mn-ea"/>
                  <a:cs typeface="+mn-cs"/>
                </a:rPr>
                <a:t>SAVE</a:t>
              </a:r>
            </a:p>
          </p:txBody>
        </p:sp>
        <p:sp>
          <p:nvSpPr>
            <p:cNvPr id="31" name="TextBox 31"/>
            <p:cNvSpPr txBox="1"/>
            <p:nvPr/>
          </p:nvSpPr>
          <p:spPr>
            <a:xfrm>
              <a:off x="8242935" y="3175000"/>
              <a:ext cx="1669948" cy="220028"/>
            </a:xfrm>
            <a:prstGeom prst="rect">
              <a:avLst/>
            </a:prstGeom>
            <a:noFill/>
            <a:ln>
              <a:noFill/>
            </a:ln>
          </p:spPr>
          <p:txBody>
            <a:bodyPr wrap="none" lIns="0" tIns="0" rIns="0" bIns="0" anchor="t" anchorCtr="0">
              <a:spAutoFit/>
            </a:bodyPr>
            <a:lstStyle/>
            <a:p>
              <a:pPr algn="l"/>
              <a:r>
                <a:rPr lang="vi-VN" sz="1120" dirty="0">
                  <a:solidFill>
                    <a:schemeClr val="dk1"/>
                  </a:solidFill>
                  <a:latin typeface="Consolas"/>
                  <a:ea typeface="Consolas"/>
                  <a:cs typeface="Consolas"/>
                </a:rPr>
                <a:t>timestamp · function</a:t>
              </a:r>
            </a:p>
          </p:txBody>
        </p:sp>
        <p:sp>
          <p:nvSpPr>
            <p:cNvPr id="32" name="TextBox 32"/>
            <p:cNvSpPr txBox="1"/>
            <p:nvPr/>
          </p:nvSpPr>
          <p:spPr>
            <a:xfrm>
              <a:off x="8242935" y="3394075"/>
              <a:ext cx="1099442" cy="220028"/>
            </a:xfrm>
            <a:prstGeom prst="rect">
              <a:avLst/>
            </a:prstGeom>
            <a:noFill/>
            <a:ln>
              <a:noFill/>
            </a:ln>
          </p:spPr>
          <p:txBody>
            <a:bodyPr wrap="none" lIns="0" tIns="0" rIns="0" bIns="0" anchor="t" anchorCtr="0">
              <a:spAutoFit/>
            </a:bodyPr>
            <a:lstStyle/>
            <a:p>
              <a:pPr algn="l" marL="156464" indent="-156464">
                <a:buClr>
                  <a:schemeClr val="dk1"/>
                </a:buClr>
                <a:buSzTx/>
                <a:buFontTx/>
                <a:buChar char="•"/>
              </a:pPr>
              <a:r>
                <a:rPr lang="vi-VN" sz="1120" dirty="0">
                  <a:solidFill>
                    <a:schemeClr val="dk1"/>
                  </a:solidFill>
                  <a:latin typeface="Consolas"/>
                  <a:ea typeface="Consolas"/>
                  <a:cs typeface="Consolas"/>
                </a:rPr>
                <a:t>value → CSV</a:t>
              </a:r>
            </a:p>
          </p:txBody>
        </p:sp>
        <p:sp>
          <p:nvSpPr>
            <p:cNvPr id="33" name="Ellipse 33"/>
            <p:cNvSpPr/>
            <p:nvPr/>
          </p:nvSpPr>
          <p:spPr>
            <a:xfrm>
              <a:off x="10668000" y="2514600"/>
              <a:ext cx="266700" cy="266700"/>
            </a:xfrm>
            <a:prstGeom prst="ellipse">
              <a:avLst/>
            </a:prstGeom>
            <a:solidFill>
              <a:schemeClr val="accent3"/>
            </a:solidFill>
            <a:ln>
              <a:noFill/>
            </a:ln>
          </p:spPr>
        </p:sp>
        <p:sp>
          <p:nvSpPr>
            <p:cNvPr id="34" name="TextBox 34"/>
            <p:cNvSpPr txBox="1"/>
            <p:nvPr/>
          </p:nvSpPr>
          <p:spPr>
            <a:xfrm>
              <a:off x="10748608" y="2543175"/>
              <a:ext cx="105484" cy="234696"/>
            </a:xfrm>
            <a:prstGeom prst="rect">
              <a:avLst/>
            </a:prstGeom>
            <a:noFill/>
            <a:ln>
              <a:noFill/>
            </a:ln>
          </p:spPr>
          <p:txBody>
            <a:bodyPr wrap="none" lIns="0" tIns="0" rIns="0" bIns="0" anchor="t" anchorCtr="0">
              <a:spAutoFit/>
            </a:bodyPr>
            <a:lstStyle/>
            <a:p>
              <a:pPr algn="ctr"/>
              <a:r>
                <a:rPr lang="vi-VN" sz="1200" b="1" dirty="0">
                  <a:solidFill>
                    <a:srgbClr val="FFFDF7"/>
                  </a:solidFill>
                  <a:latin typeface="+mn-lt"/>
                  <a:ea typeface="+mn-ea"/>
                  <a:cs typeface="+mn-cs"/>
                </a:rPr>
                <a:t>6</a:t>
              </a:r>
            </a:p>
          </p:txBody>
        </p:sp>
        <p:sp>
          <p:nvSpPr>
            <p:cNvPr id="35" name="TextBox 35"/>
            <p:cNvSpPr txBox="1"/>
            <p:nvPr/>
          </p:nvSpPr>
          <p:spPr>
            <a:xfrm>
              <a:off x="10108692" y="2882900"/>
              <a:ext cx="497616" cy="264033"/>
            </a:xfrm>
            <a:prstGeom prst="rect">
              <a:avLst/>
            </a:prstGeom>
            <a:noFill/>
            <a:ln>
              <a:noFill/>
            </a:ln>
          </p:spPr>
          <p:txBody>
            <a:bodyPr wrap="none" lIns="0" tIns="0" rIns="0" bIns="0" anchor="t" anchorCtr="0">
              <a:spAutoFit/>
            </a:bodyPr>
            <a:lstStyle/>
            <a:p>
              <a:pPr algn="l"/>
              <a:r>
                <a:rPr lang="vi-VN" sz="1350" b="1" dirty="0">
                  <a:solidFill>
                    <a:schemeClr val="accent1"/>
                  </a:solidFill>
                  <a:latin typeface="+mn-lt"/>
                  <a:ea typeface="+mn-ea"/>
                  <a:cs typeface="+mn-cs"/>
                </a:rPr>
                <a:t>PLOT</a:t>
              </a:r>
            </a:p>
          </p:txBody>
        </p:sp>
        <p:sp>
          <p:nvSpPr>
            <p:cNvPr id="36" name="TextBox 36"/>
            <p:cNvSpPr txBox="1"/>
            <p:nvPr/>
          </p:nvSpPr>
          <p:spPr>
            <a:xfrm>
              <a:off x="10109835" y="3175000"/>
              <a:ext cx="910102" cy="220028"/>
            </a:xfrm>
            <a:prstGeom prst="rect">
              <a:avLst/>
            </a:prstGeom>
            <a:noFill/>
            <a:ln>
              <a:noFill/>
            </a:ln>
          </p:spPr>
          <p:txBody>
            <a:bodyPr wrap="none" lIns="0" tIns="0" rIns="0" bIns="0" anchor="t" anchorCtr="0">
              <a:spAutoFit/>
            </a:bodyPr>
            <a:lstStyle/>
            <a:p>
              <a:pPr algn="l"/>
              <a:r>
                <a:rPr lang="vi-VN" sz="1120" dirty="0">
                  <a:solidFill>
                    <a:schemeClr val="dk1"/>
                  </a:solidFill>
                  <a:latin typeface="+mn-lt"/>
                  <a:ea typeface="+mn-ea"/>
                  <a:cs typeface="+mn-cs"/>
                </a:rPr>
                <a:t>CSV → static</a:t>
              </a:r>
            </a:p>
          </p:txBody>
        </p:sp>
        <p:sp>
          <p:nvSpPr>
            <p:cNvPr id="37" name="TextBox 37"/>
            <p:cNvSpPr txBox="1"/>
            <p:nvPr/>
          </p:nvSpPr>
          <p:spPr>
            <a:xfrm>
              <a:off x="10109835" y="3394075"/>
              <a:ext cx="1059312" cy="220028"/>
            </a:xfrm>
            <a:prstGeom prst="rect">
              <a:avLst/>
            </a:prstGeom>
            <a:noFill/>
            <a:ln>
              <a:noFill/>
            </a:ln>
          </p:spPr>
          <p:txBody>
            <a:bodyPr wrap="none" lIns="0" tIns="0" rIns="0" bIns="0" anchor="t" anchorCtr="0">
              <a:spAutoFit/>
            </a:bodyPr>
            <a:lstStyle/>
            <a:p>
              <a:pPr algn="l"/>
              <a:r>
                <a:rPr lang="vi-VN" sz="1120" dirty="0">
                  <a:solidFill>
                    <a:schemeClr val="dk1"/>
                  </a:solidFill>
                  <a:latin typeface="+mn-lt"/>
                  <a:ea typeface="+mn-ea"/>
                  <a:cs typeface="+mn-cs"/>
                </a:rPr>
                <a:t>live là mở rộng</a:t>
              </a:r>
            </a:p>
          </p:txBody>
        </p:sp>
      </p:grpSp>
      <p:grpSp>
        <p:nvGrpSpPr>
          <p:cNvPr id="45" name="project-deliverables"/>
          <p:cNvGrpSpPr/>
          <p:nvPr/>
        </p:nvGrpSpPr>
        <p:grpSpPr>
          <a:xfrm>
            <a:off x="678942" y="4064000"/>
            <a:ext cx="4959858" cy="1635633"/>
            <a:chOff x="678942" y="4064000"/>
            <a:chExt cx="4959858" cy="1635633"/>
          </a:xfrm>
        </p:grpSpPr>
        <p:sp>
          <p:nvSpPr>
            <p:cNvPr id="39" name="TextBox 39"/>
            <p:cNvSpPr txBox="1"/>
            <p:nvPr/>
          </p:nvSpPr>
          <p:spPr>
            <a:xfrm>
              <a:off x="678942" y="4064000"/>
              <a:ext cx="1777937" cy="264033"/>
            </a:xfrm>
            <a:prstGeom prst="rect">
              <a:avLst/>
            </a:prstGeom>
            <a:noFill/>
            <a:ln>
              <a:noFill/>
            </a:ln>
          </p:spPr>
          <p:txBody>
            <a:bodyPr wrap="none" lIns="0" tIns="0" rIns="0" bIns="0" anchor="t" anchorCtr="0">
              <a:spAutoFit/>
            </a:bodyPr>
            <a:lstStyle/>
            <a:p>
              <a:pPr algn="l"/>
              <a:r>
                <a:rPr lang="vi-VN" sz="1350" b="1" dirty="0">
                  <a:solidFill>
                    <a:schemeClr val="accent5"/>
                  </a:solidFill>
                  <a:latin typeface="+mn-lt"/>
                  <a:ea typeface="+mn-ea"/>
                  <a:cs typeface="+mn-cs"/>
                </a:rPr>
                <a:t>SẢN PHẨM BÀN GIAO</a:t>
              </a:r>
            </a:p>
          </p:txBody>
        </p:sp>
        <p:sp>
          <p:nvSpPr>
            <p:cNvPr id="40" name="Line 40"/>
            <p:cNvSpPr/>
            <p:nvPr/>
          </p:nvSpPr>
          <p:spPr>
            <a:xfrm>
              <a:off x="685800" y="4362450"/>
              <a:ext cx="4953000" cy="9525"/>
            </a:xfrm>
            <a:custGeom>
              <a:avLst/>
              <a:gdLst/>
              <a:ahLst/>
              <a:cxnLst/>
              <a:rect l="l" t="t" r="r" b="b"/>
              <a:pathLst>
                <a:path w="4953000" h="9525">
                  <a:moveTo>
                    <a:pt x="0" y="0"/>
                  </a:moveTo>
                  <a:lnTo>
                    <a:pt x="4953000" y="0"/>
                  </a:lnTo>
                </a:path>
              </a:pathLst>
            </a:custGeom>
            <a:noFill/>
            <a:ln w="19050">
              <a:solidFill>
                <a:schemeClr val="accent1"/>
              </a:solidFill>
            </a:ln>
          </p:spPr>
        </p:sp>
        <p:sp>
          <p:nvSpPr>
            <p:cNvPr id="41" name="TextBox 41"/>
            <p:cNvSpPr txBox="1"/>
            <p:nvPr/>
          </p:nvSpPr>
          <p:spPr>
            <a:xfrm>
              <a:off x="678942" y="4521200"/>
              <a:ext cx="3856511" cy="264033"/>
            </a:xfrm>
            <a:prstGeom prst="rect">
              <a:avLst/>
            </a:prstGeom>
            <a:noFill/>
            <a:ln>
              <a:noFill/>
            </a:ln>
          </p:spPr>
          <p:txBody>
            <a:bodyPr wrap="none" lIns="0" tIns="0" rIns="0" bIns="0" anchor="t" anchorCtr="0">
              <a:spAutoFit/>
            </a:bodyPr>
            <a:lstStyle/>
            <a:p>
              <a:pPr algn="l" marL="145732" indent="-145732">
                <a:buClr>
                  <a:schemeClr val="dk1"/>
                </a:buClr>
                <a:buSzTx/>
                <a:buFontTx/>
                <a:buChar char="•"/>
              </a:pPr>
              <a:r>
                <a:rPr lang="vi-VN" sz="1350" dirty="0">
                  <a:solidFill>
                    <a:schemeClr val="dk1"/>
                  </a:solidFill>
                  <a:latin typeface="+mn-lt"/>
                  <a:ea typeface="+mn-ea"/>
                  <a:cs typeface="+mn-cs"/>
                </a:rPr>
                <a:t>Mã nguồn và hướng dẫn chạy trong VS Code</a:t>
              </a:r>
            </a:p>
          </p:txBody>
        </p:sp>
        <p:sp>
          <p:nvSpPr>
            <p:cNvPr id="42" name="TextBox 42"/>
            <p:cNvSpPr txBox="1"/>
            <p:nvPr/>
          </p:nvSpPr>
          <p:spPr>
            <a:xfrm>
              <a:off x="678942" y="4826000"/>
              <a:ext cx="3468838" cy="264033"/>
            </a:xfrm>
            <a:prstGeom prst="rect">
              <a:avLst/>
            </a:prstGeom>
            <a:noFill/>
            <a:ln>
              <a:noFill/>
            </a:ln>
          </p:spPr>
          <p:txBody>
            <a:bodyPr wrap="none" lIns="0" tIns="0" rIns="0" bIns="0" anchor="t" anchorCtr="0">
              <a:spAutoFit/>
            </a:bodyPr>
            <a:lstStyle/>
            <a:p>
              <a:pPr algn="l" marL="145732" indent="-145732">
                <a:buClr>
                  <a:schemeClr val="dk1"/>
                </a:buClr>
                <a:buSzTx/>
                <a:buFontTx/>
                <a:buChar char="•"/>
              </a:pPr>
              <a:r>
                <a:rPr lang="vi-VN" sz="1350" dirty="0">
                  <a:solidFill>
                    <a:schemeClr val="dk1"/>
                  </a:solidFill>
                  <a:latin typeface="+mn-lt"/>
                  <a:ea typeface="+mn-ea"/>
                  <a:cs typeface="+mn-cs"/>
                </a:rPr>
                <a:t>CSV mẫu: timestamp, function, value</a:t>
              </a:r>
            </a:p>
          </p:txBody>
        </p:sp>
        <p:sp>
          <p:nvSpPr>
            <p:cNvPr id="43" name="TextBox 43"/>
            <p:cNvSpPr txBox="1"/>
            <p:nvPr/>
          </p:nvSpPr>
          <p:spPr>
            <a:xfrm>
              <a:off x="678942" y="5130800"/>
              <a:ext cx="4118621" cy="264033"/>
            </a:xfrm>
            <a:prstGeom prst="rect">
              <a:avLst/>
            </a:prstGeom>
            <a:noFill/>
            <a:ln>
              <a:noFill/>
            </a:ln>
          </p:spPr>
          <p:txBody>
            <a:bodyPr wrap="none" lIns="0" tIns="0" rIns="0" bIns="0" anchor="t" anchorCtr="0">
              <a:spAutoFit/>
            </a:bodyPr>
            <a:lstStyle/>
            <a:p>
              <a:pPr algn="l" marL="145732" indent="-145732">
                <a:buClr>
                  <a:schemeClr val="dk1"/>
                </a:buClr>
                <a:buSzTx/>
                <a:buFontTx/>
                <a:buChar char="•"/>
              </a:pPr>
              <a:r>
                <a:rPr lang="vi-VN" sz="1350" dirty="0">
                  <a:solidFill>
                    <a:schemeClr val="dk1"/>
                  </a:solidFill>
                  <a:latin typeface="+mn-lt"/>
                  <a:ea typeface="+mn-ea"/>
                  <a:cs typeface="+mn-cs"/>
                </a:rPr>
                <a:t>Đồ thị tĩnh; biểu đồ trực tiếp là phần mở rộng</a:t>
              </a:r>
            </a:p>
          </p:txBody>
        </p:sp>
        <p:sp>
          <p:nvSpPr>
            <p:cNvPr id="44" name="TextBox 44"/>
            <p:cNvSpPr txBox="1"/>
            <p:nvPr/>
          </p:nvSpPr>
          <p:spPr>
            <a:xfrm>
              <a:off x="678942" y="5435600"/>
              <a:ext cx="3609456" cy="264033"/>
            </a:xfrm>
            <a:prstGeom prst="rect">
              <a:avLst/>
            </a:prstGeom>
            <a:noFill/>
            <a:ln>
              <a:noFill/>
            </a:ln>
          </p:spPr>
          <p:txBody>
            <a:bodyPr wrap="none" lIns="0" tIns="0" rIns="0" bIns="0" anchor="t" anchorCtr="0">
              <a:spAutoFit/>
            </a:bodyPr>
            <a:lstStyle/>
            <a:p>
              <a:pPr algn="l" marL="145732" indent="-145732">
                <a:buClr>
                  <a:schemeClr val="dk1"/>
                </a:buClr>
                <a:buSzTx/>
                <a:buFontTx/>
                <a:buChar char="•"/>
              </a:pPr>
              <a:r>
                <a:rPr lang="vi-VN" sz="1350" dirty="0">
                  <a:solidFill>
                    <a:schemeClr val="dk1"/>
                  </a:solidFill>
                  <a:latin typeface="+mn-lt"/>
                  <a:ea typeface="+mn-ea"/>
                  <a:cs typeface="+mn-cs"/>
                </a:rPr>
                <a:t>Minh họa và giải thích cách xử lý mẫu lỗi</a:t>
              </a:r>
            </a:p>
          </p:txBody>
        </p:sp>
      </p:grpSp>
      <p:grpSp>
        <p:nvGrpSpPr>
          <p:cNvPr id="56" name="project-team-roles"/>
          <p:cNvGrpSpPr/>
          <p:nvPr/>
        </p:nvGrpSpPr>
        <p:grpSpPr>
          <a:xfrm>
            <a:off x="6165342" y="4064000"/>
            <a:ext cx="5612263" cy="1807083"/>
            <a:chOff x="6165342" y="4064000"/>
            <a:chExt cx="5612263" cy="1807083"/>
          </a:xfrm>
        </p:grpSpPr>
        <p:sp>
          <p:nvSpPr>
            <p:cNvPr id="46" name="TextBox 46"/>
            <p:cNvSpPr txBox="1"/>
            <p:nvPr/>
          </p:nvSpPr>
          <p:spPr>
            <a:xfrm>
              <a:off x="6165342" y="4064000"/>
              <a:ext cx="1888830" cy="264033"/>
            </a:xfrm>
            <a:prstGeom prst="rect">
              <a:avLst/>
            </a:prstGeom>
            <a:noFill/>
            <a:ln>
              <a:noFill/>
            </a:ln>
          </p:spPr>
          <p:txBody>
            <a:bodyPr wrap="none" lIns="0" tIns="0" rIns="0" bIns="0" anchor="t" anchorCtr="0">
              <a:spAutoFit/>
            </a:bodyPr>
            <a:lstStyle/>
            <a:p>
              <a:pPr algn="l"/>
              <a:r>
                <a:rPr lang="vi-VN" sz="1350" b="1" dirty="0">
                  <a:solidFill>
                    <a:schemeClr val="accent5"/>
                  </a:solidFill>
                  <a:latin typeface="+mn-lt"/>
                  <a:ea typeface="+mn-ea"/>
                  <a:cs typeface="+mn-cs"/>
                </a:rPr>
                <a:t>PHÂN VAI THAM KHẢO</a:t>
              </a:r>
            </a:p>
          </p:txBody>
        </p:sp>
        <p:sp>
          <p:nvSpPr>
            <p:cNvPr id="47" name="Line 47"/>
            <p:cNvSpPr/>
            <p:nvPr/>
          </p:nvSpPr>
          <p:spPr>
            <a:xfrm>
              <a:off x="6172200" y="4362450"/>
              <a:ext cx="5334000" cy="9525"/>
            </a:xfrm>
            <a:custGeom>
              <a:avLst/>
              <a:gdLst/>
              <a:ahLst/>
              <a:cxnLst/>
              <a:rect l="l" t="t" r="r" b="b"/>
              <a:pathLst>
                <a:path w="5334000" h="9525">
                  <a:moveTo>
                    <a:pt x="0" y="0"/>
                  </a:moveTo>
                  <a:lnTo>
                    <a:pt x="5334000" y="0"/>
                  </a:lnTo>
                </a:path>
              </a:pathLst>
            </a:custGeom>
            <a:noFill/>
            <a:ln w="19050">
              <a:solidFill>
                <a:schemeClr val="accent1"/>
              </a:solidFill>
            </a:ln>
          </p:spPr>
        </p:sp>
        <p:sp>
          <p:nvSpPr>
            <p:cNvPr id="48" name="TextBox 48"/>
            <p:cNvSpPr txBox="1"/>
            <p:nvPr/>
          </p:nvSpPr>
          <p:spPr>
            <a:xfrm>
              <a:off x="6165342" y="4521200"/>
              <a:ext cx="1612946" cy="264033"/>
            </a:xfrm>
            <a:prstGeom prst="rect">
              <a:avLst/>
            </a:prstGeom>
            <a:noFill/>
            <a:ln>
              <a:noFill/>
            </a:ln>
          </p:spPr>
          <p:txBody>
            <a:bodyPr wrap="none" lIns="0" tIns="0" rIns="0" bIns="0" anchor="t" anchorCtr="0">
              <a:spAutoFit/>
            </a:bodyPr>
            <a:lstStyle/>
            <a:p>
              <a:pPr algn="l"/>
              <a:r>
                <a:rPr lang="vi-VN" sz="1350" b="1" dirty="0">
                  <a:solidFill>
                    <a:schemeClr val="accent1"/>
                  </a:solidFill>
                  <a:latin typeface="+mn-lt"/>
                  <a:ea typeface="+mn-ea"/>
                  <a:cs typeface="+mn-cs"/>
                </a:rPr>
                <a:t>01 · Serial / SCPI</a:t>
              </a:r>
            </a:p>
          </p:txBody>
        </p:sp>
        <p:sp>
          <p:nvSpPr>
            <p:cNvPr id="49" name="TextBox 49"/>
            <p:cNvSpPr txBox="1"/>
            <p:nvPr/>
          </p:nvSpPr>
          <p:spPr>
            <a:xfrm>
              <a:off x="8756142" y="4521200"/>
              <a:ext cx="2161279" cy="264033"/>
            </a:xfrm>
            <a:prstGeom prst="rect">
              <a:avLst/>
            </a:prstGeom>
            <a:noFill/>
            <a:ln>
              <a:noFill/>
            </a:ln>
          </p:spPr>
          <p:txBody>
            <a:bodyPr wrap="none" lIns="0" tIns="0" rIns="0" bIns="0" anchor="t" anchorCtr="0">
              <a:spAutoFit/>
            </a:bodyPr>
            <a:lstStyle/>
            <a:p>
              <a:pPr algn="l"/>
              <a:r>
                <a:rPr lang="vi-VN" sz="1350" dirty="0">
                  <a:solidFill>
                    <a:schemeClr val="dk1"/>
                  </a:solidFill>
                  <a:latin typeface="+mn-lt"/>
                  <a:ea typeface="+mn-ea"/>
                  <a:cs typeface="+mn-cs"/>
                </a:rPr>
                <a:t>COM, truy vấn, timeout</a:t>
              </a:r>
            </a:p>
          </p:txBody>
        </p:sp>
        <p:sp>
          <p:nvSpPr>
            <p:cNvPr id="50" name="TextBox 50"/>
            <p:cNvSpPr txBox="1"/>
            <p:nvPr/>
          </p:nvSpPr>
          <p:spPr>
            <a:xfrm>
              <a:off x="6165342" y="4883150"/>
              <a:ext cx="1598274" cy="264033"/>
            </a:xfrm>
            <a:prstGeom prst="rect">
              <a:avLst/>
            </a:prstGeom>
            <a:noFill/>
            <a:ln>
              <a:noFill/>
            </a:ln>
          </p:spPr>
          <p:txBody>
            <a:bodyPr wrap="none" lIns="0" tIns="0" rIns="0" bIns="0" anchor="t" anchorCtr="0">
              <a:spAutoFit/>
            </a:bodyPr>
            <a:lstStyle/>
            <a:p>
              <a:pPr algn="l"/>
              <a:r>
                <a:rPr lang="vi-VN" sz="1350" b="1" dirty="0">
                  <a:solidFill>
                    <a:schemeClr val="accent1"/>
                  </a:solidFill>
                  <a:latin typeface="+mn-lt"/>
                  <a:ea typeface="+mn-ea"/>
                  <a:cs typeface="+mn-cs"/>
                </a:rPr>
                <a:t>02 · CSV / dữ liệu</a:t>
              </a:r>
            </a:p>
          </p:txBody>
        </p:sp>
        <p:sp>
          <p:nvSpPr>
            <p:cNvPr id="51" name="TextBox 51"/>
            <p:cNvSpPr txBox="1"/>
            <p:nvPr/>
          </p:nvSpPr>
          <p:spPr>
            <a:xfrm>
              <a:off x="8756142" y="4883150"/>
              <a:ext cx="2149126" cy="264033"/>
            </a:xfrm>
            <a:prstGeom prst="rect">
              <a:avLst/>
            </a:prstGeom>
            <a:noFill/>
            <a:ln>
              <a:noFill/>
            </a:ln>
          </p:spPr>
          <p:txBody>
            <a:bodyPr wrap="none" lIns="0" tIns="0" rIns="0" bIns="0" anchor="t" anchorCtr="0">
              <a:spAutoFit/>
            </a:bodyPr>
            <a:lstStyle/>
            <a:p>
              <a:pPr algn="l"/>
              <a:r>
                <a:rPr lang="vi-VN" sz="1350" dirty="0">
                  <a:solidFill>
                    <a:schemeClr val="dk1"/>
                  </a:solidFill>
                  <a:latin typeface="+mn-lt"/>
                  <a:ea typeface="+mn-ea"/>
                  <a:cs typeface="+mn-cs"/>
                </a:rPr>
                <a:t>header, timestamp, tệp</a:t>
              </a:r>
            </a:p>
          </p:txBody>
        </p:sp>
        <p:sp>
          <p:nvSpPr>
            <p:cNvPr id="52" name="TextBox 52"/>
            <p:cNvSpPr txBox="1"/>
            <p:nvPr/>
          </p:nvSpPr>
          <p:spPr>
            <a:xfrm>
              <a:off x="6165342" y="5245100"/>
              <a:ext cx="1395425" cy="264033"/>
            </a:xfrm>
            <a:prstGeom prst="rect">
              <a:avLst/>
            </a:prstGeom>
            <a:noFill/>
            <a:ln>
              <a:noFill/>
            </a:ln>
          </p:spPr>
          <p:txBody>
            <a:bodyPr wrap="none" lIns="0" tIns="0" rIns="0" bIns="0" anchor="t" anchorCtr="0">
              <a:spAutoFit/>
            </a:bodyPr>
            <a:lstStyle/>
            <a:p>
              <a:pPr algn="l"/>
              <a:r>
                <a:rPr lang="vi-VN" sz="1350" b="1" dirty="0">
                  <a:solidFill>
                    <a:schemeClr val="accent1"/>
                  </a:solidFill>
                  <a:latin typeface="+mn-lt"/>
                  <a:ea typeface="+mn-ea"/>
                  <a:cs typeface="+mn-cs"/>
                </a:rPr>
                <a:t>03 · Matplotlib</a:t>
              </a:r>
            </a:p>
          </p:txBody>
        </p:sp>
        <p:sp>
          <p:nvSpPr>
            <p:cNvPr id="53" name="TextBox 53"/>
            <p:cNvSpPr txBox="1"/>
            <p:nvPr/>
          </p:nvSpPr>
          <p:spPr>
            <a:xfrm>
              <a:off x="8756142" y="5245100"/>
              <a:ext cx="1985562" cy="264033"/>
            </a:xfrm>
            <a:prstGeom prst="rect">
              <a:avLst/>
            </a:prstGeom>
            <a:noFill/>
            <a:ln>
              <a:noFill/>
            </a:ln>
          </p:spPr>
          <p:txBody>
            <a:bodyPr wrap="none" lIns="0" tIns="0" rIns="0" bIns="0" anchor="t" anchorCtr="0">
              <a:spAutoFit/>
            </a:bodyPr>
            <a:lstStyle/>
            <a:p>
              <a:pPr algn="l"/>
              <a:r>
                <a:rPr lang="vi-VN" sz="1350" dirty="0">
                  <a:solidFill>
                    <a:schemeClr val="dk1"/>
                  </a:solidFill>
                  <a:latin typeface="+mn-lt"/>
                  <a:ea typeface="+mn-ea"/>
                  <a:cs typeface="+mn-cs"/>
                </a:rPr>
                <a:t>trục, đơn vị, cập nhật</a:t>
              </a:r>
            </a:p>
          </p:txBody>
        </p:sp>
        <p:sp>
          <p:nvSpPr>
            <p:cNvPr id="54" name="TextBox 54"/>
            <p:cNvSpPr txBox="1"/>
            <p:nvPr/>
          </p:nvSpPr>
          <p:spPr>
            <a:xfrm>
              <a:off x="6165342" y="5607050"/>
              <a:ext cx="2141083" cy="264033"/>
            </a:xfrm>
            <a:prstGeom prst="rect">
              <a:avLst/>
            </a:prstGeom>
            <a:noFill/>
            <a:ln>
              <a:noFill/>
            </a:ln>
          </p:spPr>
          <p:txBody>
            <a:bodyPr wrap="none" lIns="0" tIns="0" rIns="0" bIns="0" anchor="t" anchorCtr="0">
              <a:spAutoFit/>
            </a:bodyPr>
            <a:lstStyle/>
            <a:p>
              <a:pPr algn="l"/>
              <a:r>
                <a:rPr lang="vi-VN" sz="1350" b="1" dirty="0">
                  <a:solidFill>
                    <a:schemeClr val="accent1"/>
                  </a:solidFill>
                  <a:latin typeface="+mn-lt"/>
                  <a:ea typeface="+mn-ea"/>
                  <a:cs typeface="+mn-cs"/>
                </a:rPr>
                <a:t>04 · Kiểm thử / báo cáo</a:t>
              </a:r>
            </a:p>
          </p:txBody>
        </p:sp>
        <p:sp>
          <p:nvSpPr>
            <p:cNvPr id="55" name="TextBox 55"/>
            <p:cNvSpPr txBox="1"/>
            <p:nvPr/>
          </p:nvSpPr>
          <p:spPr>
            <a:xfrm>
              <a:off x="8756142" y="5607050"/>
              <a:ext cx="3021463" cy="264033"/>
            </a:xfrm>
            <a:prstGeom prst="rect">
              <a:avLst/>
            </a:prstGeom>
            <a:noFill/>
            <a:ln>
              <a:noFill/>
            </a:ln>
          </p:spPr>
          <p:txBody>
            <a:bodyPr wrap="none" lIns="0" tIns="0" rIns="0" bIns="0" anchor="t" anchorCtr="0">
              <a:spAutoFit/>
            </a:bodyPr>
            <a:lstStyle/>
            <a:p>
              <a:pPr algn="l"/>
              <a:r>
                <a:rPr lang="vi-VN" sz="1350" dirty="0">
                  <a:solidFill>
                    <a:schemeClr val="dk1"/>
                  </a:solidFill>
                  <a:latin typeface="+mn-lt"/>
                  <a:ea typeface="+mn-ea"/>
                  <a:cs typeface="+mn-cs"/>
                </a:rPr>
                <a:t>tái lập quy trình, ghi nhận giới hạn</a:t>
              </a:r>
            </a:p>
          </p:txBody>
        </p:sp>
      </p:grpSp>
      <p:grpSp>
        <p:nvGrpSpPr>
          <p:cNvPr id="59" name="project-close"/>
          <p:cNvGrpSpPr/>
          <p:nvPr/>
        </p:nvGrpSpPr>
        <p:grpSpPr>
          <a:xfrm>
            <a:off x="679704" y="5943600"/>
            <a:ext cx="8295713" cy="425196"/>
            <a:chOff x="679704" y="5943600"/>
            <a:chExt cx="8295713" cy="425196"/>
          </a:xfrm>
        </p:grpSpPr>
        <p:sp>
          <p:nvSpPr>
            <p:cNvPr id="57" name="TextBox 57"/>
            <p:cNvSpPr txBox="1"/>
            <p:nvPr/>
          </p:nvSpPr>
          <p:spPr>
            <a:xfrm>
              <a:off x="679704" y="5943600"/>
              <a:ext cx="5972774" cy="234696"/>
            </a:xfrm>
            <a:prstGeom prst="rect">
              <a:avLst/>
            </a:prstGeom>
            <a:noFill/>
            <a:ln>
              <a:noFill/>
            </a:ln>
          </p:spPr>
          <p:txBody>
            <a:bodyPr wrap="none" lIns="0" tIns="0" rIns="0" bIns="0" anchor="t" anchorCtr="0">
              <a:spAutoFit/>
            </a:bodyPr>
            <a:lstStyle/>
            <a:p>
              <a:pPr algn="l"/>
              <a:r>
                <a:rPr lang="vi-VN" sz="1200" b="1" dirty="0">
                  <a:solidFill>
                    <a:schemeClr val="accent2"/>
                  </a:solidFill>
                  <a:latin typeface="+mn-lt"/>
                  <a:ea typeface="+mn-ea"/>
                  <a:cs typeface="+mn-cs"/>
                </a:rPr>
                <a:t>Quy trình: kết nối → nhận dạng → cấu hình/xác minh → đo → lưu → biểu diễn.</a:t>
              </a:r>
            </a:p>
          </p:txBody>
        </p:sp>
        <p:sp>
          <p:nvSpPr>
            <p:cNvPr id="58" name="TextBox 58"/>
            <p:cNvSpPr txBox="1"/>
            <p:nvPr/>
          </p:nvSpPr>
          <p:spPr>
            <a:xfrm>
              <a:off x="679704" y="6134100"/>
              <a:ext cx="8295713" cy="234696"/>
            </a:xfrm>
            <a:prstGeom prst="rect">
              <a:avLst/>
            </a:prstGeom>
            <a:noFill/>
            <a:ln>
              <a:noFill/>
            </a:ln>
          </p:spPr>
          <p:txBody>
            <a:bodyPr wrap="none" lIns="0" tIns="0" rIns="0" bIns="0" anchor="t" anchorCtr="0">
              <a:spAutoFit/>
            </a:bodyPr>
            <a:lstStyle/>
            <a:p>
              <a:pPr algn="l"/>
              <a:r>
                <a:rPr lang="vi-VN" sz="1200" b="1" dirty="0">
                  <a:solidFill>
                    <a:schemeClr val="accent2"/>
                  </a:solidFill>
                  <a:latin typeface="+mn-lt"/>
                  <a:ea typeface="+mn-ea"/>
                  <a:cs typeface="+mn-cs"/>
                </a:rPr>
                <a:t>Nêu giới hạn của chương trình mô phỏng và dữ liệu minh họa; firmware đã được chuẩn bị, không upload.</a:t>
              </a:r>
            </a:p>
          </p:txBody>
        </p:sp>
      </p:grpSp>
      <p:grpSp>
        <p:nvGrpSpPr>
          <p:cNvPr id="62" name="page-footer"/>
          <p:cNvGrpSpPr/>
          <p:nvPr/>
        </p:nvGrpSpPr>
        <p:grpSpPr>
          <a:xfrm>
            <a:off x="679704" y="6429375"/>
            <a:ext cx="10832592" cy="234696"/>
            <a:chOff x="679704" y="6429375"/>
            <a:chExt cx="10832592" cy="234696"/>
          </a:xfrm>
        </p:grpSpPr>
        <p:sp>
          <p:nvSpPr>
            <p:cNvPr id="60" name="TextBox 60"/>
            <p:cNvSpPr txBox="1"/>
            <p:nvPr/>
          </p:nvSpPr>
          <p:spPr>
            <a:xfrm>
              <a:off x="679704" y="6429375"/>
              <a:ext cx="3622243" cy="234696"/>
            </a:xfrm>
            <a:prstGeom prst="rect">
              <a:avLst/>
            </a:prstGeom>
            <a:noFill/>
            <a:ln>
              <a:noFill/>
            </a:ln>
          </p:spPr>
          <p:txBody>
            <a:bodyPr wrap="none" lIns="0" tIns="0" rIns="0" bIns="0" anchor="t" anchorCtr="0">
              <a:spAutoFit/>
            </a:bodyPr>
            <a:lstStyle/>
            <a:p>
              <a:pPr algn="l"/>
              <a:r>
                <a:rPr lang="vi-VN" sz="1200" dirty="0">
                  <a:solidFill>
                    <a:schemeClr val="accent5"/>
                  </a:solidFill>
                  <a:latin typeface="+mn-lt"/>
                  <a:ea typeface="+mn-ea"/>
                  <a:cs typeface="+mn-cs"/>
                </a:rPr>
                <a:t>DỰ ÁN TÍCH HỢP · CÓ THỂ TÁI LẬP VÀ GIẢI THÍCH</a:t>
              </a:r>
            </a:p>
          </p:txBody>
        </p:sp>
        <p:sp>
          <p:nvSpPr>
            <p:cNvPr id="61" name="TextBox 61"/>
            <p:cNvSpPr txBox="1"/>
            <p:nvPr/>
          </p:nvSpPr>
          <p:spPr>
            <a:xfrm>
              <a:off x="10958932" y="6429375"/>
              <a:ext cx="553364" cy="234696"/>
            </a:xfrm>
            <a:prstGeom prst="rect">
              <a:avLst/>
            </a:prstGeom>
            <a:noFill/>
            <a:ln>
              <a:noFill/>
            </a:ln>
          </p:spPr>
          <p:txBody>
            <a:bodyPr wrap="none" lIns="0" tIns="0" rIns="0" bIns="0" anchor="t" anchorCtr="0">
              <a:spAutoFit/>
            </a:bodyPr>
            <a:lstStyle/>
            <a:p>
              <a:pPr algn="r"/>
              <a:r>
                <a:rPr lang="vi-VN" sz="1200" dirty="0">
                  <a:solidFill>
                    <a:schemeClr val="accent5"/>
                  </a:solidFill>
                  <a:latin typeface="+mn-lt"/>
                  <a:ea typeface="+mn-ea"/>
                  <a:cs typeface="+mn-cs"/>
                </a:rPr>
                <a:t>25 / 25</a:t>
              </a:r>
            </a:p>
          </p:txBody>
        </p:sp>
      </p:gr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buoi-2-pyserial-keithley2000">
  <a:themeElements>
    <a:clrScheme name="buoi-2-pyserial-keithley2000">
      <a:dk1>
        <a:srgbClr val="20252A"/>
      </a:dk1>
      <a:lt1>
        <a:srgbClr val="F7F3EA"/>
      </a:lt1>
      <a:dk2>
        <a:srgbClr val="1F497D"/>
      </a:dk2>
      <a:lt2>
        <a:srgbClr val="EEE7D9"/>
      </a:lt2>
      <a:accent1>
        <a:srgbClr val="284B63"/>
      </a:accent1>
      <a:accent2>
        <a:srgbClr val="C65D3D"/>
      </a:accent2>
      <a:accent3>
        <a:srgbClr val="6C8B74"/>
      </a:accent3>
      <a:accent4>
        <a:srgbClr val="284B63"/>
      </a:accent4>
      <a:accent5>
        <a:srgbClr val="60686B"/>
      </a:accent5>
      <a:accent6>
        <a:srgbClr val="D0C9BE"/>
      </a:accent6>
      <a:hlink>
        <a:srgbClr val="C65D3D"/>
      </a:hlink>
      <a:folHlink>
        <a:srgbClr val="6C8B74"/>
      </a:folHlink>
    </a:clrScheme>
    <a:fontScheme name="buoi-2-pyserial-keithley2000">
      <a:majorFont>
        <a:latin typeface="Be Vietnam Pro"/>
        <a:ea typeface="Microsoft YaHei"/>
        <a:cs typeface="Be Vietnam Pro"/>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Be Vietnam Pro"/>
        <a:ea typeface="Microsoft YaHei"/>
        <a:cs typeface="Be Vietnam Pro"/>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uoi-2-pyserial-keithley200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buoi-2-pyserial-keithley2000">
  <a:themeElements>
    <a:clrScheme name="buoi-2-pyserial-keithley2000">
      <a:dk1>
        <a:srgbClr val="20252A"/>
      </a:dk1>
      <a:lt1>
        <a:srgbClr val="F7F3EA"/>
      </a:lt1>
      <a:dk2>
        <a:srgbClr val="1F497D"/>
      </a:dk2>
      <a:lt2>
        <a:srgbClr val="EEE7D9"/>
      </a:lt2>
      <a:accent1>
        <a:srgbClr val="284B63"/>
      </a:accent1>
      <a:accent2>
        <a:srgbClr val="C65D3D"/>
      </a:accent2>
      <a:accent3>
        <a:srgbClr val="6C8B74"/>
      </a:accent3>
      <a:accent4>
        <a:srgbClr val="284B63"/>
      </a:accent4>
      <a:accent5>
        <a:srgbClr val="60686B"/>
      </a:accent5>
      <a:accent6>
        <a:srgbClr val="D0C9BE"/>
      </a:accent6>
      <a:hlink>
        <a:srgbClr val="C65D3D"/>
      </a:hlink>
      <a:folHlink>
        <a:srgbClr val="6C8B74"/>
      </a:folHlink>
    </a:clrScheme>
    <a:fontScheme name="buoi-2-pyserial-keithley2000">
      <a:majorFont>
        <a:latin typeface="Be Vietnam Pro"/>
        <a:ea typeface="Microsoft YaHei"/>
        <a:cs typeface="Be Vietnam Pro"/>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Be Vietnam Pro"/>
        <a:ea typeface="Microsoft YaHei"/>
        <a:cs typeface="Be Vietnam Pro"/>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uoi-2-pyserial-keithley200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25</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vi-VN</dc:language>
  <cp:lastModifiedBy/>
  <cp:revision>1</cp:revision>
  <dcterms:created xsi:type="dcterms:W3CDTF">2026-10-13T23:51:45Z</dcterms:created>
  <dcterms:modified xsi:type="dcterms:W3CDTF">2026-10-13T23:51:45Z</dcterms:modified>
  <cp:category/>
  <cp:contentStatus/>
</cp:coreProperties>
</file>